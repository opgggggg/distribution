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0352" y="530352"/>
            <a:ext cx="11131265" cy="5797296"/>
          </a:xfrm>
          <a:prstGeom prst="rect">
            <a:avLst/>
          </a:prstGeom>
          <a:noFill/>
          <a:ln w="9525">
            <a:solidFill>
              <a:srgbClr val="C4B4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6128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00" b="1" i="0" spc="240">
                <a:solidFill>
                  <a:srgbClr val="8A6A3D"/>
                </a:solidFill>
                <a:latin typeface="Arial"/>
              </a:rPr>
              <a:t>作品选 · 2023–2026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400" b="0" i="0">
                <a:solidFill>
                  <a:srgbClr val="1A1A1A"/>
                </a:solidFill>
                <a:latin typeface="Times New Roman"/>
              </a:rPr>
              <a:t>作品集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5F5F5F"/>
                </a:solidFill>
                <a:latin typeface="Arial"/>
              </a:rPr>
              <a:t>六个项目，各自解决什么问题，以及我在其中具体做了什么。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80">
                <a:solidFill>
                  <a:srgbClr val="818181"/>
                </a:solidFill>
                <a:latin typeface="Arial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关于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我做什么，接什么样的活。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作品选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六个项目，由近到远。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流程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一个项目从接洽到交接怎么跑。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细看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一个项目，从头跟到尾。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结果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客户那边的数字发生了什么变化。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56" b="1" i="0">
                <a:solidFill>
                  <a:srgbClr val="8A6A3D"/>
                </a:solidFill>
                <a:latin typeface="Times New Roman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50" b="1" i="0">
                <a:solidFill>
                  <a:srgbClr val="1A1A1A"/>
                </a:solidFill>
                <a:latin typeface="Times New Roman"/>
              </a:rPr>
              <a:t>联系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怎么开始聊。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800" b="1" i="0">
                <a:solidFill>
                  <a:srgbClr val="8A6A3D"/>
                </a:solidFill>
                <a:latin typeface="Times New Roman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600" b="0" i="0">
                <a:solidFill>
                  <a:srgbClr val="1A1A1A"/>
                </a:solidFill>
                <a:latin typeface="Times New Roman"/>
              </a:rPr>
              <a:t>作品选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6A6A6A"/>
                </a:solidFill>
                <a:latin typeface="Arial"/>
              </a:rPr>
              <a:t>六个项目。需求、角色、结果。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关于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我做什么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A1A1A"/>
                </a:solidFill>
                <a:latin typeface="Arial"/>
              </a:rPr>
              <a:t>用第一人称写两三句，让陌生人看完就能行动。点明专业方向、服务的客户类型，以及你为问题的哪一部分负责。形容词可以省掉，作品在下一页。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方向：你真正被雇来做的事。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客户：你合作的组织类型。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范围：从哪里开始，到哪里交接。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50" b="1">
                <a:solidFill>
                  <a:srgbClr val="8A6A3D"/>
                </a:solidFill>
                <a:latin typeface="Arial"/>
              </a:rPr>
              <a:t>—  </a:t>
            </a:r>
            <a:r>
              <a:rPr sz="1250">
                <a:solidFill>
                  <a:srgbClr val="6E6E6E"/>
                </a:solidFill>
                <a:latin typeface="Arial"/>
              </a:rPr>
              <a:t>档期：目前排到什么时候。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怎么做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三个阶段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8A6A3D"/>
                </a:solidFill>
                <a:latin typeface="Times New Roman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界定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E6E6E"/>
                </a:solidFill>
                <a:latin typeface="Arial"/>
              </a:rPr>
              <a:t>一周。把问题搞清楚到能报价的程度。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CAB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8A6A3D"/>
                </a:solidFill>
                <a:latin typeface="Times New Roman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制作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E6E6E"/>
                </a:solidFill>
                <a:latin typeface="Arial"/>
              </a:rPr>
              <a:t>四到八周。每周评审，不留一手。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CAB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8A6A3D"/>
                </a:solidFill>
                <a:latin typeface="Times New Roman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50" b="1" i="0">
                <a:solidFill>
                  <a:srgbClr val="1A1A1A"/>
                </a:solidFill>
                <a:latin typeface="Times New Roman"/>
              </a:rPr>
              <a:t>交接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E6E6E"/>
                </a:solidFill>
                <a:latin typeface="Arial"/>
              </a:rPr>
              <a:t>一周。文件、说明文档，加一次讲解。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过往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一些数字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8A6A3D"/>
                </a:solidFill>
                <a:latin typeface="Times New Roman"/>
              </a:rPr>
              <a:t>42 个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项目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自 2019 年起，横跨六个行业。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A1A1A"/>
                </a:solidFill>
                <a:latin typeface="Times New Roman"/>
              </a:rPr>
              <a:t>8 家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长期客户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合作两次以上。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A1A1A"/>
                </a:solidFill>
                <a:latin typeface="Times New Roman"/>
              </a:rPr>
              <a:t>6 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典型周期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从界定到交接。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A1A1A"/>
                </a:solidFill>
                <a:latin typeface="Times New Roman"/>
              </a:rPr>
              <a:t>100%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50" b="1" i="0">
                <a:solidFill>
                  <a:srgbClr val="1A1A1A"/>
                </a:solidFill>
                <a:latin typeface="Times New Roman"/>
              </a:rPr>
              <a:t>完成率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没有半途弃掉的项目。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EF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数字只有能被核实才有意义。只写客户找参考人一问就能验证的那些。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800" b="1" i="0">
                <a:solidFill>
                  <a:srgbClr val="8A6A3D"/>
                </a:solidFill>
                <a:latin typeface="Times New Roman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600" b="0" i="0">
                <a:solidFill>
                  <a:srgbClr val="1A1A1A"/>
                </a:solidFill>
                <a:latin typeface="Times New Roman"/>
              </a:rPr>
              <a:t>细看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6A6A6A"/>
                </a:solidFill>
                <a:latin typeface="Arial"/>
              </a:rPr>
              <a:t>一个项目，从第一张草图到交付。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一个项目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从需求到交付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第 1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需求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访谈、限制条件、成功标准落到纸上。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第 2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方向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三个方案，一个推荐。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第 4 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制作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选定方向，每周公开推进。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第 6 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测试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真实用户，真实内容。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8A6A3D"/>
                </a:solidFill>
                <a:latin typeface="Arial"/>
              </a:rPr>
              <a:t>第 7 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 i="0">
                <a:solidFill>
                  <a:srgbClr val="1A1A1A"/>
                </a:solidFill>
                <a:latin typeface="Times New Roman"/>
              </a:rPr>
              <a:t>交接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素材、文档，一次培训。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作品选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六个项目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客户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FFF"/>
                </a:solidFill>
                <a:latin typeface="Arial"/>
              </a:rPr>
              <a:t>年份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品牌与网站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独立画廊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主创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产品摄影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家具品牌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摄影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展陈平面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城市博物馆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CD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年度报告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地区公益组织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艺术指导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E6E"/>
                </a:solidFill>
                <a:latin typeface="Arial"/>
              </a:rP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64008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8A6A3D"/>
                </a:solidFill>
                <a:latin typeface="Arial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A1A1A"/>
                </a:solidFill>
                <a:latin typeface="Times New Roman"/>
              </a:rPr>
              <a:t>一张图，一个观点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AFAF8"/>
          </a:solidFill>
          <a:ln w="9525">
            <a:solidFill>
              <a:srgbClr val="DCDC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B39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898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8181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60">
                <a:solidFill>
                  <a:srgbClr val="6E6E6E"/>
                </a:solidFill>
                <a:latin typeface="Arial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50" b="0" i="0">
                <a:solidFill>
                  <a:srgbClr val="1A1A1A"/>
                </a:solidFill>
                <a:latin typeface="Times New Roman"/>
              </a:rPr>
              <a:t>让作品自己说话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250" b="0" i="0">
                <a:solidFill>
                  <a:srgbClr val="6E6E6E"/>
                </a:solidFill>
                <a:latin typeface="Arial"/>
              </a:rPr>
              <a:t>一页一图，能放多大就放多大，配一句说明：这是什么、你做了什么。别急着解释概念——如果一张图需要一段话才立得住，那就换一张。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6E6E6E"/>
                </a:solidFill>
                <a:latin typeface="Arial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800" b="1" i="0">
                <a:solidFill>
                  <a:srgbClr val="8A6A3D"/>
                </a:solidFill>
                <a:latin typeface="Times New Roman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600" b="0" i="0">
                <a:solidFill>
                  <a:srgbClr val="1A1A1A"/>
                </a:solidFill>
                <a:latin typeface="Times New Roman"/>
              </a:rPr>
              <a:t>怎么合作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6A6A6A"/>
                </a:solidFill>
                <a:latin typeface="Arial"/>
              </a:rPr>
              <a:t>流程、周期，以及我需要你提供什么。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A78F6E"/>
                </a:solidFill>
                <a:latin typeface="Times New Roman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800" b="0" i="1">
                <a:solidFill>
                  <a:srgbClr val="1A1A1A"/>
                </a:solidFill>
                <a:latin typeface="Times New Roman"/>
              </a:rPr>
              <a:t>他们给了三个方向，并且直接告诉我们该选哪个、为什么。这就是全部的工作。</a:t>
            </a:r>
          </a:p>
          <a:p>
            <a:pPr>
              <a:lnSpc>
                <a:spcPct val="115000"/>
              </a:lnSpc>
            </a:pPr>
            <a:r>
              <a:rPr sz="1000" b="1" i="0" spc="180">
                <a:solidFill>
                  <a:srgbClr val="6E6E6E"/>
                </a:solidFill>
                <a:latin typeface="Arial"/>
              </a:rPr>
              <a:t>画廊总监 ·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384048"/>
            <a:ext cx="11423873" cy="6089904"/>
          </a:xfrm>
          <a:prstGeom prst="rect">
            <a:avLst/>
          </a:prstGeom>
          <a:noFill/>
          <a:ln w="12700">
            <a:solidFill>
              <a:srgbClr val="8A6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600" b="0" i="0">
                <a:solidFill>
                  <a:srgbClr val="1A1A1A"/>
                </a:solidFill>
                <a:latin typeface="Times New Roman"/>
              </a:rPr>
              <a:t>聊聊看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5F5F5F"/>
                </a:solidFill>
                <a:latin typeface="Arial"/>
              </a:rPr>
              <a:t>告诉我项目是什么、什么时候要完成，以及你们已经试过什么。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818181"/>
                </a:solidFill>
                <a:latin typeface="Arial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8A6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FFFFFF"/>
      </a:dk2>
      <a:lt2>
        <a:srgbClr val="FAFAF8"/>
      </a:lt2>
      <a:accent1>
        <a:srgbClr val="8A6A3D"/>
      </a:accent1>
      <a:accent2>
        <a:srgbClr val="B39E81"/>
      </a:accent2>
      <a:accent3>
        <a:srgbClr val="1A1A1A"/>
      </a:accent3>
      <a:accent4>
        <a:srgbClr val="6E6E6E"/>
      </a:accent4>
      <a:accent5>
        <a:srgbClr val="A3A3A3"/>
      </a:accent5>
      <a:accent6>
        <a:srgbClr val="DCDCD8"/>
      </a:accent6>
      <a:hlink>
        <a:srgbClr val="8A6A3D"/>
      </a:hlink>
      <a:folHlink>
        <a:srgbClr val="6E6E6E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Passepartout — CubeOffice template</dc:title>
  <dc:subject>Portfolio</dc:subject>
  <dc:creator>CubeOffice</dc:creator>
  <cp:keywords>CubeOffice, template, portfolio,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Portfolio</cp:category>
</cp:coreProperties>
</file>