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68680"/>
            <a:ext cx="192024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41248" y="1024127"/>
            <a:ext cx="1536192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1248" y="1179576"/>
            <a:ext cx="1152144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41248" y="1335024"/>
            <a:ext cx="768096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ight Triangle 5"/>
          <p:cNvSpPr/>
          <p:nvPr/>
        </p:nvSpPr>
        <p:spPr>
          <a:xfrm>
            <a:off x="8900129" y="4572000"/>
            <a:ext cx="3291840" cy="2286000"/>
          </a:xfrm>
          <a:prstGeom prst="rtTriangle">
            <a:avLst/>
          </a:prstGeom>
          <a:solidFill>
            <a:srgbClr val="E2C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B4762A"/>
                </a:solidFill>
                <a:latin typeface="Trebuchet MS"/>
              </a:rPr>
              <a:t>商业计划 · 2026 财年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一份站得住的计划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我们要进入的市场、要卖的产品，以及走到那一步需要多少钱。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Trebuchet MS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市场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今天在买的是谁，这件事变化有多快。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切口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在别人动手之前，我们能够拿下的那块空缺。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产品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先做什么，以及刻意不做什么。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模式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一个客户如何变成收入，毛利多少。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计划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十二个月，四个里程碑，每个都有负责人。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诉求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我们需要什么，这笔钱换来什么。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B4762A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市场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规模、结构，以及钱现在流向了哪里。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核心判断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为什么是这件事，为什么是现在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6233A"/>
                </a:solidFill>
                <a:latin typeface="Trebuchet MS"/>
              </a:rPr>
              <a:t>用三句话说清判断：市场发生了什么变化、现有答案为什么不再适用、我们打算占住哪个位置。读者看一遍之后应该能原样复述出来。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变化：过去十八个月里发生了什么。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空缺：客户现在只能怎么将就，代价是什么。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主张：我们比替代方案强的那一件事。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证据：手上已经有的东西。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三条承诺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B4762A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聚焦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5627A"/>
                </a:solidFill>
                <a:latin typeface="Trebuchet MS"/>
              </a:rPr>
              <a:t>一个客群、一个问题，做到毫无争议地解决为止。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DDC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B4762A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毛利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5627A"/>
                </a:solidFill>
                <a:latin typeface="Trebuchet MS"/>
              </a:rPr>
              <a:t>按交付的价值定价，而不是按建造成本定价。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DDC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B4762A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纪律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5627A"/>
                </a:solidFill>
                <a:latin typeface="Trebuchet MS"/>
              </a:rPr>
              <a:t>每个季度只设一个能判定成败的里程碑。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关键数字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这份计划的前提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B4762A"/>
                </a:solidFill>
                <a:latin typeface="Georgia"/>
              </a:rPr>
              <a:t>420 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第二年收入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按已命名客户自下而上测算。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6233A"/>
                </a:solidFill>
                <a:latin typeface="Georgia"/>
              </a:rPr>
              <a:t>62%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毛利率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按模型中的定价计算。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6233A"/>
                </a:solidFill>
                <a:latin typeface="Georgia"/>
              </a:rPr>
              <a:t>14 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团队规模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交付九人，市场与销售五人。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6233A"/>
                </a:solidFill>
                <a:latin typeface="Georgia"/>
              </a:rPr>
              <a:t>18 个月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现金跑道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按计划中的消耗速度，自交割起算。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F4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233A"/>
                </a:solidFill>
                <a:latin typeface="Trebuchet MS"/>
              </a:rPr>
              <a:t>每个数字都能回溯到财务模型。改动模型里的任一假设，这一页也会随之变化。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B4762A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计划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接下来四个季度具体做什么。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十二个月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里程碑与负责人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B4762A"/>
                </a:solidFill>
                <a:latin typeface="Trebuchet M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共建客户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三家签约、付费，并且每周都在用。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B4762A"/>
                </a:solidFill>
                <a:latin typeface="Trebuchet MS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正式发布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无需销售介入即可自助开通。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5627A"/>
                </a:solidFill>
                <a:latin typeface="Trebuchet MS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首个渠道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一家伙伴做出可复制的量。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5627A"/>
                </a:solidFill>
                <a:latin typeface="Trebuchet MS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第二客群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相邻的采购方，同一套产品。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5627A"/>
                </a:solidFill>
                <a:latin typeface="Trebuchet MS"/>
              </a:rPr>
              <a:t>次年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放量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在单位经济模型被验证之后再扩招。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资金用途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钱花在哪里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第一年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第二年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占比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98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160 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46%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市场与销售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52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110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31%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运营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24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42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预留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18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30 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一张图，一个观点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CEA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EC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6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F8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55627A"/>
                </a:solidFill>
                <a:latin typeface="Trebuchet MS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6233A"/>
                </a:solidFill>
                <a:latin typeface="Georgia"/>
              </a:rPr>
              <a:t>把东西本身拿出来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55627A"/>
                </a:solidFill>
                <a:latin typeface="Trebuchet MS"/>
              </a:rPr>
              <a:t>放一张产品真在干活的截图，或者一张让结论无从辩驳的图表。不要用素材图，也不要放组织架构图。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B4762A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诉求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资金、招聘，以及我们承诺的回报。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C7985F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700" b="0" i="0">
                <a:solidFill>
                  <a:srgbClr val="16233A"/>
                </a:solidFill>
                <a:latin typeface="Georgia"/>
              </a:rPr>
              <a:t>我们不需要又一个看板。我们需要那个数字第一次就是对的。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55627A"/>
                </a:solidFill>
                <a:latin typeface="Trebuchet MS"/>
              </a:rPr>
              <a:t>共建客户 · 运营负责人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我们的诉求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说清金额、形式，以及今天希望在这个会上定下来的两个决定。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Trebuchet MS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6233A"/>
      </a:dk1>
      <a:lt1>
        <a:srgbClr val="FFFFFF"/>
      </a:lt1>
      <a:dk2>
        <a:srgbClr val="16233A"/>
      </a:dk2>
      <a:lt2>
        <a:srgbClr val="F6F3EE"/>
      </a:lt2>
      <a:accent1>
        <a:srgbClr val="B4762A"/>
      </a:accent1>
      <a:accent2>
        <a:srgbClr val="CEA675"/>
      </a:accent2>
      <a:accent3>
        <a:srgbClr val="16233A"/>
      </a:accent3>
      <a:accent4>
        <a:srgbClr val="55627A"/>
      </a:accent4>
      <a:accent5>
        <a:srgbClr val="A2A7B0"/>
      </a:accent5>
      <a:accent6>
        <a:srgbClr val="D9D3C8"/>
      </a:accent6>
      <a:hlink>
        <a:srgbClr val="B4762A"/>
      </a:hlink>
      <a:folHlink>
        <a:srgbClr val="55627A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— CubeOffice template</dc:title>
  <dc:subject>Business plan</dc:subject>
  <dc:creator>CubeOffice</dc:creator>
  <cp:keywords>CubeOffice, template, business plan,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Business plan</cp:category>
</cp:coreProperties>
</file>