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0"/>
            <a:ext cx="1463040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54209" y="-822960"/>
            <a:ext cx="4572000" cy="5852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85000"/>
              </a:lnSpc>
            </a:pPr>
            <a:r>
              <a:rPr sz="32000" b="1" i="0">
                <a:solidFill>
                  <a:srgbClr val="E0E0E0"/>
                </a:solidFill>
                <a:latin typeface="Arial"/>
              </a:rPr>
              <a:t>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100" cy="411480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41248" y="2084831"/>
            <a:ext cx="63093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900" b="1" i="0" spc="240">
                <a:solidFill>
                  <a:srgbClr val="B02A2A"/>
                </a:solidFill>
                <a:latin typeface="Arial"/>
              </a:rPr>
              <a:t>演示</a:t>
            </a:r>
          </a:p>
          <a:p>
            <a:pPr>
              <a:lnSpc>
                <a:spcPct val="102000"/>
              </a:lnSpc>
              <a:spcAft>
                <a:spcPts val="1600"/>
              </a:spcAft>
            </a:pPr>
            <a:r>
              <a:rPr sz="5000" b="1" i="0" spc="160">
                <a:solidFill>
                  <a:srgbClr val="000000"/>
                </a:solidFill>
                <a:latin typeface="Arial"/>
              </a:rPr>
              <a:t>只说一件事</a:t>
            </a:r>
          </a:p>
          <a:p>
            <a:pPr>
              <a:lnSpc>
                <a:spcPct val="135000"/>
              </a:lnSpc>
            </a:pPr>
            <a:r>
              <a:rPr sz="1450" b="0" i="0">
                <a:solidFill>
                  <a:srgbClr val="4C4C4C"/>
                </a:solidFill>
                <a:latin typeface="Arial"/>
              </a:rPr>
              <a:t>适用于任何主题的中性版式：只有排版、留白和一种强调色。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687568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80">
                <a:solidFill>
                  <a:srgbClr val="737373"/>
                </a:solidFill>
                <a:latin typeface="Arial"/>
              </a:rPr>
              <a:t>团队名称 · 组织名称 · 2026 年 X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93191"/>
            <a:ext cx="38100" cy="77724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spc="160">
                <a:solidFill>
                  <a:srgbClr val="000000"/>
                </a:solidFill>
                <a:latin typeface="Arial"/>
              </a:rPr>
              <a:t>本次内容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744" b="1" i="0">
                <a:solidFill>
                  <a:srgbClr val="B02A2A"/>
                </a:solidFill>
                <a:latin typeface="Arial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035808"/>
            <a:ext cx="4843256" cy="9525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55648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000000"/>
                </a:solidFill>
                <a:latin typeface="Arial"/>
              </a:rPr>
              <a:t>论点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你希望被记住的那一件事。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744" b="1" i="0">
                <a:solidFill>
                  <a:srgbClr val="B02A2A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242816"/>
            <a:ext cx="4843256" cy="9525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755648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000000"/>
                </a:solidFill>
                <a:latin typeface="Arial"/>
              </a:rPr>
              <a:t>背景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为什么是现在。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744" b="1" i="0">
                <a:solidFill>
                  <a:srgbClr val="B02A2A"/>
                </a:solidFill>
                <a:latin typeface="Arial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5449823"/>
            <a:ext cx="4843256" cy="9525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755648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000000"/>
                </a:solidFill>
                <a:latin typeface="Arial"/>
              </a:rPr>
              <a:t>证据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凭什么可信。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464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744" b="1" i="0">
                <a:solidFill>
                  <a:srgbClr val="B02A2A"/>
                </a:solidFill>
                <a:latin typeface="Arial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7464" y="3035808"/>
            <a:ext cx="4843256" cy="9525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21864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000000"/>
                </a:solidFill>
                <a:latin typeface="Arial"/>
              </a:rPr>
              <a:t>反驳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最强的反对意见。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464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744" b="1" i="0">
                <a:solidFill>
                  <a:srgbClr val="B02A2A"/>
                </a:solidFill>
                <a:latin typeface="Arial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07464" y="4242816"/>
            <a:ext cx="4843256" cy="9525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21864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000000"/>
                </a:solidFill>
                <a:latin typeface="Arial"/>
              </a:rPr>
              <a:t>回应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为什么这个反对不改变决定。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64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744" b="1" i="0">
                <a:solidFill>
                  <a:srgbClr val="B02A2A"/>
                </a:solidFill>
                <a:latin typeface="Arial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7464" y="5449823"/>
            <a:ext cx="4843256" cy="9525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21864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000000"/>
                </a:solidFill>
                <a:latin typeface="Arial"/>
              </a:rPr>
              <a:t>诉求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你希望在场的人做什么。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920240"/>
            <a:ext cx="38100" cy="301752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200" b="1" i="0">
                <a:solidFill>
                  <a:srgbClr val="B02A2A"/>
                </a:solidFill>
                <a:latin typeface="Arial"/>
              </a:rPr>
              <a:t>01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200" b="1" i="0" spc="160">
                <a:solidFill>
                  <a:srgbClr val="000000"/>
                </a:solidFill>
                <a:latin typeface="Arial"/>
              </a:rPr>
              <a:t>论点</a:t>
            </a:r>
          </a:p>
          <a:p>
            <a:pPr>
              <a:lnSpc>
                <a:spcPct val="135000"/>
              </a:lnSpc>
            </a:pPr>
            <a:r>
              <a:rPr sz="1450" b="0" i="0">
                <a:solidFill>
                  <a:srgbClr val="595959"/>
                </a:solidFill>
                <a:latin typeface="Arial"/>
              </a:rPr>
              <a:t>在任何细节之前，完整地说一次。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93191"/>
            <a:ext cx="38100" cy="77724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B02A2A"/>
                </a:solidFill>
                <a:latin typeface="Arial"/>
              </a:rPr>
              <a:t>论点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spc="160">
                <a:solidFill>
                  <a:srgbClr val="000000"/>
                </a:solidFill>
                <a:latin typeface="Arial"/>
              </a:rPr>
              <a:t>先说结论，再解释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483435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450" b="0" i="0">
                <a:solidFill>
                  <a:srgbClr val="000000"/>
                </a:solidFill>
                <a:latin typeface="Arial"/>
              </a:rPr>
              <a:t>把结论放在第一页。知道你要去哪里的听众才能跟上论证；等着看你揭晓的听众只是在猜。解释放在后面，讲多久由房间里的人决定。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95645" y="2615184"/>
            <a:ext cx="9525" cy="2606040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7125" y="2560320"/>
            <a:ext cx="494359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B02A2A"/>
                </a:solidFill>
                <a:latin typeface="Arial"/>
              </a:rPr>
              <a:t>—  </a:t>
            </a:r>
            <a:r>
              <a:rPr sz="1250">
                <a:solidFill>
                  <a:srgbClr val="606060"/>
                </a:solidFill>
                <a:latin typeface="Arial"/>
              </a:rPr>
              <a:t>主张，一句话。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250" b="1">
                <a:solidFill>
                  <a:srgbClr val="B02A2A"/>
                </a:solidFill>
                <a:latin typeface="Arial"/>
              </a:rPr>
              <a:t>—  </a:t>
            </a:r>
            <a:r>
              <a:rPr sz="1250">
                <a:solidFill>
                  <a:srgbClr val="606060"/>
                </a:solidFill>
                <a:latin typeface="Arial"/>
              </a:rPr>
              <a:t>它为什么成立。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250" b="1">
                <a:solidFill>
                  <a:srgbClr val="B02A2A"/>
                </a:solidFill>
                <a:latin typeface="Arial"/>
              </a:rPr>
              <a:t>—  </a:t>
            </a:r>
            <a:r>
              <a:rPr sz="1250">
                <a:solidFill>
                  <a:srgbClr val="606060"/>
                </a:solidFill>
                <a:latin typeface="Arial"/>
              </a:rPr>
              <a:t>它今天为什么重要。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250" b="1">
                <a:solidFill>
                  <a:srgbClr val="B02A2A"/>
                </a:solidFill>
                <a:latin typeface="Arial"/>
              </a:rPr>
              <a:t>—  </a:t>
            </a:r>
            <a:r>
              <a:rPr sz="1250">
                <a:solidFill>
                  <a:srgbClr val="606060"/>
                </a:solidFill>
                <a:latin typeface="Arial"/>
              </a:rPr>
              <a:t>它意味着什么决定。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93191"/>
            <a:ext cx="38100" cy="77724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B02A2A"/>
                </a:solidFill>
                <a:latin typeface="Arial"/>
              </a:rPr>
              <a:t>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spc="160">
                <a:solidFill>
                  <a:srgbClr val="000000"/>
                </a:solidFill>
                <a:latin typeface="Arial"/>
              </a:rPr>
              <a:t>三步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3247125" cy="2788920"/>
          </a:xfrm>
          <a:prstGeom prst="rect">
            <a:avLst/>
          </a:prstGeom>
          <a:solidFill>
            <a:srgbClr val="F7F7F7"/>
          </a:solidFill>
          <a:ln w="9525">
            <a:solidFill>
              <a:srgbClr val="DB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41248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41248" y="2560320"/>
            <a:ext cx="3247125" cy="50292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16736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00" b="1" i="0" spc="160">
                <a:solidFill>
                  <a:srgbClr val="B02A2A"/>
                </a:solidFill>
                <a:latin typeface="Arial"/>
              </a:rPr>
              <a:t>01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50" b="1" i="0">
                <a:solidFill>
                  <a:srgbClr val="000000"/>
                </a:solidFill>
                <a:latin typeface="Arial"/>
              </a:rPr>
              <a:t>主张</a:t>
            </a:r>
          </a:p>
          <a:p>
            <a:pPr>
              <a:lnSpc>
                <a:spcPct val="140000"/>
              </a:lnSpc>
            </a:pPr>
            <a:r>
              <a:rPr sz="950" b="0" i="0">
                <a:solidFill>
                  <a:srgbClr val="606060"/>
                </a:solidFill>
                <a:latin typeface="Arial"/>
              </a:rPr>
              <a:t>一句话。不打折扣，不用形容词。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2421" y="2560320"/>
            <a:ext cx="3247125" cy="2788920"/>
          </a:xfrm>
          <a:prstGeom prst="rect">
            <a:avLst/>
          </a:prstGeom>
          <a:solidFill>
            <a:srgbClr val="F7F7F7"/>
          </a:solidFill>
          <a:ln w="9525">
            <a:solidFill>
              <a:srgbClr val="DB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472421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72421" y="2560320"/>
            <a:ext cx="3247125" cy="50292"/>
          </a:xfrm>
          <a:prstGeom prst="rect">
            <a:avLst/>
          </a:prstGeom>
          <a:solidFill>
            <a:srgbClr val="DB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947909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00" b="1" i="0" spc="160">
                <a:solidFill>
                  <a:srgbClr val="B02A2A"/>
                </a:solidFill>
                <a:latin typeface="Arial"/>
              </a:rPr>
              <a:t>02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50" b="1" i="0">
                <a:solidFill>
                  <a:srgbClr val="000000"/>
                </a:solidFill>
                <a:latin typeface="Arial"/>
              </a:rPr>
              <a:t>支撑</a:t>
            </a:r>
          </a:p>
          <a:p>
            <a:pPr>
              <a:lnSpc>
                <a:spcPct val="140000"/>
              </a:lnSpc>
            </a:pPr>
            <a:r>
              <a:rPr sz="950" b="0" i="0">
                <a:solidFill>
                  <a:srgbClr val="606060"/>
                </a:solidFill>
                <a:latin typeface="Arial"/>
              </a:rPr>
              <a:t>三条证据，最强的放前面。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3595" y="2560320"/>
            <a:ext cx="3247125" cy="2788920"/>
          </a:xfrm>
          <a:prstGeom prst="rect">
            <a:avLst/>
          </a:prstGeom>
          <a:solidFill>
            <a:srgbClr val="F7F7F7"/>
          </a:solidFill>
          <a:ln w="9525">
            <a:solidFill>
              <a:srgbClr val="DB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03595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103595" y="2560320"/>
            <a:ext cx="3247125" cy="50292"/>
          </a:xfrm>
          <a:prstGeom prst="rect">
            <a:avLst/>
          </a:prstGeom>
          <a:solidFill>
            <a:srgbClr val="DB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79083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00" b="1" i="0" spc="160">
                <a:solidFill>
                  <a:srgbClr val="B02A2A"/>
                </a:solidFill>
                <a:latin typeface="Arial"/>
              </a:rPr>
              <a:t>03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50" b="1" i="0">
                <a:solidFill>
                  <a:srgbClr val="000000"/>
                </a:solidFill>
                <a:latin typeface="Arial"/>
              </a:rPr>
              <a:t>诉求</a:t>
            </a:r>
          </a:p>
          <a:p>
            <a:pPr>
              <a:lnSpc>
                <a:spcPct val="140000"/>
              </a:lnSpc>
            </a:pPr>
            <a:r>
              <a:rPr sz="950" b="0" i="0">
                <a:solidFill>
                  <a:srgbClr val="606060"/>
                </a:solidFill>
                <a:latin typeface="Arial"/>
              </a:rPr>
              <a:t>具体那个决定，以及谁来做。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93191"/>
            <a:ext cx="38100" cy="77724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B02A2A"/>
                </a:solidFill>
                <a:latin typeface="Arial"/>
              </a:rPr>
              <a:t>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spc="160">
                <a:solidFill>
                  <a:srgbClr val="000000"/>
                </a:solidFill>
                <a:latin typeface="Arial"/>
              </a:rPr>
              <a:t>四个数字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200" b="1" i="0">
                <a:solidFill>
                  <a:srgbClr val="B02A2A"/>
                </a:solidFill>
                <a:latin typeface="Arial"/>
              </a:rPr>
              <a:t>18%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000000"/>
                </a:solidFill>
                <a:latin typeface="Arial"/>
              </a:rPr>
              <a:t>第一个数字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它衡量什么、覆盖多长时间。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194296" y="2697479"/>
            <a:ext cx="9525" cy="1783080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468616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200" b="1" i="0">
                <a:solidFill>
                  <a:srgbClr val="000000"/>
                </a:solidFill>
                <a:latin typeface="Arial"/>
              </a:rPr>
              <a:t>2.4 倍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000000"/>
                </a:solidFill>
                <a:latin typeface="Arial"/>
              </a:rPr>
              <a:t>第二个数字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让它有意义的那个对比。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821664" y="2697479"/>
            <a:ext cx="9525" cy="1783080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95984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200" b="1" i="0">
                <a:solidFill>
                  <a:srgbClr val="000000"/>
                </a:solidFill>
                <a:latin typeface="Arial"/>
              </a:rPr>
              <a:t>110 万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000000"/>
                </a:solidFill>
                <a:latin typeface="Arial"/>
              </a:rPr>
              <a:t>第三个数字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这个决定牵涉的金额。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49033" y="2697479"/>
            <a:ext cx="9525" cy="1783080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23353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200" b="1" i="0">
                <a:solidFill>
                  <a:srgbClr val="000000"/>
                </a:solidFill>
                <a:latin typeface="Arial"/>
              </a:rPr>
              <a:t>6 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000000"/>
                </a:solidFill>
                <a:latin typeface="Arial"/>
              </a:rPr>
              <a:t>第四个数字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窗口还开着多久。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892040"/>
            <a:ext cx="10509473" cy="914400"/>
          </a:xfrm>
          <a:prstGeom prst="rect">
            <a:avLst/>
          </a:prstGeom>
          <a:solidFill>
            <a:srgbClr val="F4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98448" y="5111496"/>
            <a:ext cx="959507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000000"/>
                </a:solidFill>
                <a:latin typeface="Arial"/>
              </a:rPr>
              <a:t>四个数字已是听众能记住的上限。其余放附录，并且明确说一句你放了。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920240"/>
            <a:ext cx="38100" cy="301752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200" b="1" i="0">
                <a:solidFill>
                  <a:srgbClr val="B02A2A"/>
                </a:solidFill>
                <a:latin typeface="Arial"/>
              </a:rPr>
              <a:t>02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200" b="1" i="0" spc="160">
                <a:solidFill>
                  <a:srgbClr val="000000"/>
                </a:solidFill>
                <a:latin typeface="Arial"/>
              </a:rPr>
              <a:t>证据</a:t>
            </a:r>
          </a:p>
          <a:p>
            <a:pPr>
              <a:lnSpc>
                <a:spcPct val="135000"/>
              </a:lnSpc>
            </a:pPr>
            <a:r>
              <a:rPr sz="1450" b="0" i="0">
                <a:solidFill>
                  <a:srgbClr val="595959"/>
                </a:solidFill>
                <a:latin typeface="Arial"/>
              </a:rPr>
              <a:t>三条，最强的放前面。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93191"/>
            <a:ext cx="38100" cy="77724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B02A2A"/>
                </a:solidFill>
                <a:latin typeface="Arial"/>
              </a:rPr>
              <a:t>顺序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spc="160">
                <a:solidFill>
                  <a:srgbClr val="000000"/>
                </a:solidFill>
                <a:latin typeface="Arial"/>
              </a:rPr>
              <a:t>接下来发生什么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611879"/>
            <a:ext cx="10509473" cy="19050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63524" y="3543299"/>
            <a:ext cx="173736" cy="173736"/>
          </a:xfrm>
          <a:prstGeom prst="ellipse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B02A2A"/>
                </a:solidFill>
                <a:latin typeface="Arial"/>
              </a:rPr>
              <a:t>现在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000000"/>
                </a:solidFill>
                <a:latin typeface="Arial"/>
              </a:rPr>
              <a:t>决定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一个决定，在这个会上定。</a:t>
            </a:r>
          </a:p>
        </p:txBody>
      </p:sp>
      <p:sp>
        <p:nvSpPr>
          <p:cNvPr id="9" name="Oval 8"/>
          <p:cNvSpPr/>
          <p:nvPr/>
        </p:nvSpPr>
        <p:spPr>
          <a:xfrm>
            <a:off x="2865418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B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314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606060"/>
                </a:solidFill>
                <a:latin typeface="Arial"/>
              </a:rPr>
              <a:t>第 1 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314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000000"/>
                </a:solidFill>
                <a:latin typeface="Arial"/>
              </a:rPr>
              <a:t>分工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指定负责人，范围写下来。</a:t>
            </a:r>
          </a:p>
        </p:txBody>
      </p:sp>
      <p:sp>
        <p:nvSpPr>
          <p:cNvPr id="12" name="Oval 11"/>
          <p:cNvSpPr/>
          <p:nvPr/>
        </p:nvSpPr>
        <p:spPr>
          <a:xfrm>
            <a:off x="4967313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B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5037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606060"/>
                </a:solidFill>
                <a:latin typeface="Arial"/>
              </a:rPr>
              <a:t>第 3 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5037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000000"/>
                </a:solidFill>
                <a:latin typeface="Arial"/>
              </a:rPr>
              <a:t>首次检查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有没有在起作用的证据。</a:t>
            </a:r>
          </a:p>
        </p:txBody>
      </p:sp>
      <p:sp>
        <p:nvSpPr>
          <p:cNvPr id="15" name="Oval 14"/>
          <p:cNvSpPr/>
          <p:nvPr/>
        </p:nvSpPr>
        <p:spPr>
          <a:xfrm>
            <a:off x="7069208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B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4693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606060"/>
                </a:solidFill>
                <a:latin typeface="Arial"/>
              </a:rPr>
              <a:t>第 6 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693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000000"/>
                </a:solidFill>
                <a:latin typeface="Arial"/>
              </a:rPr>
              <a:t>复盘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继续、调整，还是停。</a:t>
            </a:r>
          </a:p>
        </p:txBody>
      </p:sp>
      <p:sp>
        <p:nvSpPr>
          <p:cNvPr id="18" name="Oval 17"/>
          <p:cNvSpPr/>
          <p:nvPr/>
        </p:nvSpPr>
        <p:spPr>
          <a:xfrm>
            <a:off x="9171102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B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8826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606060"/>
                </a:solidFill>
                <a:latin typeface="Arial"/>
              </a:rPr>
              <a:t>第 12 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8826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000000"/>
                </a:solidFill>
                <a:latin typeface="Arial"/>
              </a:rPr>
              <a:t>结果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对照第六页那个数字衡量。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93191"/>
            <a:ext cx="38100" cy="77724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B02A2A"/>
                </a:solidFill>
                <a:latin typeface="Arial"/>
              </a:rPr>
              <a:t>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spc="160">
                <a:solidFill>
                  <a:srgbClr val="000000"/>
                </a:solidFill>
                <a:latin typeface="Arial"/>
              </a:rPr>
              <a:t>几个选项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10509473" cy="5669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40">
                <a:solidFill>
                  <a:srgbClr val="FFFFFF"/>
                </a:solidFill>
                <a:latin typeface="Arial"/>
              </a:rPr>
              <a:t>选项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0500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40">
                <a:solidFill>
                  <a:srgbClr val="FFFFFF"/>
                </a:solidFill>
                <a:latin typeface="Arial"/>
              </a:rPr>
              <a:t>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2585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40">
                <a:solidFill>
                  <a:srgbClr val="FFFFFF"/>
                </a:solidFill>
                <a:latin typeface="Arial"/>
              </a:rPr>
              <a:t>周期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4669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40">
                <a:solidFill>
                  <a:srgbClr val="FFFFFF"/>
                </a:solidFill>
                <a:latin typeface="Arial"/>
              </a:rPr>
              <a:t>风险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127248"/>
            <a:ext cx="10509473" cy="56692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41248" y="3694176"/>
            <a:ext cx="10509473" cy="6350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97280" y="3127248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00000"/>
                </a:solidFill>
                <a:latin typeface="Arial"/>
              </a:rPr>
              <a:t>什么都不做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0500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6060"/>
                </a:solidFill>
                <a:latin typeface="Arial"/>
              </a:rPr>
              <a:t>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2585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6060"/>
                </a:solidFill>
                <a:latin typeface="Arial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4669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6060"/>
                </a:solidFill>
                <a:latin typeface="Arial"/>
              </a:rPr>
              <a:t>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261104"/>
            <a:ext cx="10509473" cy="6350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97280" y="3694176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00000"/>
                </a:solidFill>
                <a:latin typeface="Arial"/>
              </a:rPr>
              <a:t>就地修补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0500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6060"/>
                </a:solidFill>
                <a:latin typeface="Arial"/>
              </a:rPr>
              <a:t>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2585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6060"/>
                </a:solidFill>
                <a:latin typeface="Arial"/>
              </a:rPr>
              <a:t>6 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4669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6060"/>
                </a:solidFill>
                <a:latin typeface="Arial"/>
              </a:rPr>
              <a:t>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4261104"/>
            <a:ext cx="10509473" cy="56692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41248" y="4828032"/>
            <a:ext cx="10509473" cy="6350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97280" y="4261104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00000"/>
                </a:solidFill>
                <a:latin typeface="Arial"/>
              </a:rPr>
              <a:t>整体更换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0500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6060"/>
                </a:solidFill>
                <a:latin typeface="Arial"/>
              </a:rPr>
              <a:t>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2585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6060"/>
                </a:solidFill>
                <a:latin typeface="Arial"/>
              </a:rPr>
              <a:t>6 个月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4669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6060"/>
                </a:solidFill>
                <a:latin typeface="Arial"/>
              </a:rPr>
              <a:t>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5394959"/>
            <a:ext cx="10509473" cy="6350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97280" y="4828031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00000"/>
                </a:solidFill>
                <a:latin typeface="Arial"/>
              </a:rPr>
              <a:t>推荐方案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0500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6060"/>
                </a:solidFill>
                <a:latin typeface="Arial"/>
              </a:rPr>
              <a:t>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2585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6060"/>
                </a:solidFill>
                <a:latin typeface="Arial"/>
              </a:rPr>
              <a:t>6 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4669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06060"/>
                </a:solidFill>
                <a:latin typeface="Arial"/>
              </a:rPr>
              <a:t>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650992"/>
            <a:ext cx="105094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把表格换成你自己的数字。每一列只用一种单位。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93191"/>
            <a:ext cx="38100" cy="77724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B02A2A"/>
                </a:solidFill>
                <a:latin typeface="Arial"/>
              </a:rPr>
              <a:t>论据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spc="160">
                <a:solidFill>
                  <a:srgbClr val="000000"/>
                </a:solidFill>
                <a:latin typeface="Arial"/>
              </a:rPr>
              <a:t>一张图，一个观点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5464926" cy="2926080"/>
          </a:xfrm>
          <a:prstGeom prst="rect">
            <a:avLst/>
          </a:prstGeom>
          <a:solidFill>
            <a:srgbClr val="F7F7F7"/>
          </a:solidFill>
          <a:ln w="9525">
            <a:solidFill>
              <a:srgbClr val="DB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4229502" y="3321100"/>
            <a:ext cx="457200" cy="457200"/>
          </a:xfrm>
          <a:prstGeom prst="ellipse">
            <a:avLst/>
          </a:prstGeom>
          <a:solidFill>
            <a:srgbClr val="CC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>
            <a:off x="1934233" y="3668572"/>
            <a:ext cx="1371600" cy="822960"/>
          </a:xfrm>
          <a:prstGeom prst="rtTriangl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Triangle 7"/>
          <p:cNvSpPr/>
          <p:nvPr/>
        </p:nvSpPr>
        <p:spPr>
          <a:xfrm>
            <a:off x="3136517" y="3348532"/>
            <a:ext cx="1737360" cy="1143000"/>
          </a:xfrm>
          <a:prstGeom prst="rtTriangl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15636" y="4491532"/>
            <a:ext cx="3716149" cy="12700"/>
          </a:xfrm>
          <a:prstGeom prst="rect">
            <a:avLst/>
          </a:prstGeom>
          <a:solidFill>
            <a:srgbClr val="73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4700016"/>
            <a:ext cx="54649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spc="160">
                <a:solidFill>
                  <a:srgbClr val="606060"/>
                </a:solidFill>
                <a:latin typeface="Arial"/>
              </a:rPr>
              <a:t>在此放入图片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7694" y="2560320"/>
            <a:ext cx="4313027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50" b="1" i="0">
                <a:solidFill>
                  <a:srgbClr val="000000"/>
                </a:solidFill>
                <a:latin typeface="Arial"/>
              </a:rPr>
              <a:t>如果要放图，只放一张</a:t>
            </a:r>
          </a:p>
          <a:p>
            <a:pPr>
              <a:lnSpc>
                <a:spcPct val="145000"/>
              </a:lnSpc>
              <a:spcAft>
                <a:spcPts val="1600"/>
              </a:spcAft>
            </a:pPr>
            <a:r>
              <a:rPr sz="1250" b="0" i="0">
                <a:solidFill>
                  <a:srgbClr val="606060"/>
                </a:solidFill>
                <a:latin typeface="Arial"/>
              </a:rPr>
              <a:t>中性版式容易招来装饰，别上钩。只有当图片承载了文字说不了的信息时才用它——实物照片、变化曲线、问题截图。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37694" y="4617720"/>
            <a:ext cx="914400" cy="3175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37694" y="4864608"/>
            <a:ext cx="43130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606060"/>
                </a:solidFill>
                <a:latin typeface="Arial"/>
              </a:rPr>
              <a:t>为图片写说明：它展示了什么，来源是哪里。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920240"/>
            <a:ext cx="38100" cy="301752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200" b="1" i="0">
                <a:solidFill>
                  <a:srgbClr val="B02A2A"/>
                </a:solidFill>
                <a:latin typeface="Arial"/>
              </a:rPr>
              <a:t>03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200" b="1" i="0" spc="160">
                <a:solidFill>
                  <a:srgbClr val="000000"/>
                </a:solidFill>
                <a:latin typeface="Arial"/>
              </a:rPr>
              <a:t>诉求</a:t>
            </a:r>
          </a:p>
          <a:p>
            <a:pPr>
              <a:lnSpc>
                <a:spcPct val="135000"/>
              </a:lnSpc>
            </a:pPr>
            <a:r>
              <a:rPr sz="1450" b="0" i="0">
                <a:solidFill>
                  <a:srgbClr val="595959"/>
                </a:solidFill>
                <a:latin typeface="Arial"/>
              </a:rPr>
              <a:t>一个决定、一个负责人、一个日期。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0"/>
            <a:ext cx="38100" cy="320040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15568" y="1463040"/>
            <a:ext cx="10972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400" b="1" i="0">
                <a:solidFill>
                  <a:srgbClr val="C45F5F"/>
                </a:solidFill>
                <a:latin typeface="Arial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2697480"/>
            <a:ext cx="904643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2200"/>
              </a:spcAft>
            </a:pPr>
            <a:r>
              <a:rPr sz="2400" b="0" i="0">
                <a:solidFill>
                  <a:srgbClr val="000000"/>
                </a:solidFill>
                <a:latin typeface="Arial"/>
              </a:rPr>
              <a:t>如果一句话说不清，说明你还不知道自己在想什么。</a:t>
            </a:r>
          </a:p>
          <a:p>
            <a:pPr>
              <a:lnSpc>
                <a:spcPct val="115000"/>
              </a:lnSpc>
            </a:pPr>
            <a:r>
              <a:rPr sz="1000" b="1" i="0" spc="180">
                <a:solidFill>
                  <a:srgbClr val="606060"/>
                </a:solidFill>
                <a:latin typeface="Arial"/>
              </a:rPr>
              <a:t>注明出处，或者删掉这一页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0"/>
            <a:ext cx="38100" cy="2834639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331720"/>
            <a:ext cx="693625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4200" b="1" i="0" spc="160">
                <a:solidFill>
                  <a:srgbClr val="000000"/>
                </a:solidFill>
                <a:latin typeface="Arial"/>
              </a:rPr>
              <a:t>诉求</a:t>
            </a:r>
          </a:p>
          <a:p>
            <a:pPr>
              <a:lnSpc>
                <a:spcPct val="140000"/>
              </a:lnSpc>
            </a:pPr>
            <a:r>
              <a:rPr sz="1450" b="0" i="0">
                <a:solidFill>
                  <a:srgbClr val="4C4C4C"/>
                </a:solidFill>
                <a:latin typeface="Arial"/>
              </a:rPr>
              <a:t>一个决定。说清它是什么、谁来做，以及到哪天它就不再有用。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349240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200">
                <a:solidFill>
                  <a:srgbClr val="737373"/>
                </a:solidFill>
                <a:latin typeface="Arial"/>
              </a:rPr>
              <a:t>YOUR.NAME@EXAMPLE.COM · +86 000 0000 0000 · EXAMPLE.COM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5257800"/>
            <a:ext cx="1280160" cy="3175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FFFFFF"/>
      </a:dk2>
      <a:lt2>
        <a:srgbClr val="F7F7F7"/>
      </a:lt2>
      <a:accent1>
        <a:srgbClr val="B02A2A"/>
      </a:accent1>
      <a:accent2>
        <a:srgbClr val="CC7575"/>
      </a:accent2>
      <a:accent3>
        <a:srgbClr val="000000"/>
      </a:accent3>
      <a:accent4>
        <a:srgbClr val="606060"/>
      </a:accent4>
      <a:accent5>
        <a:srgbClr val="999999"/>
      </a:accent5>
      <a:accent6>
        <a:srgbClr val="DBDBDB"/>
      </a:accent6>
      <a:hlink>
        <a:srgbClr val="B02A2A"/>
      </a:hlink>
      <a:folHlink>
        <a:srgbClr val="60606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Monogram — CubeOffice template</dc:title>
  <dc:subject>Minimal</dc:subject>
  <dc:creator>CubeOffice</dc:creator>
  <cp:keywords>CubeOffice, template, minimal, zh-CN</cp:keywords>
  <dc:description>CubeOffice 原创模板。可自由使用、修改和再分发，用于个人或商业用途，无需署名。</dc:description>
  <cp:lastModifiedBy>CubeOffice</cp:lastModifiedBy>
  <cp:revision>1</cp:revision>
  <dcterms:created xsi:type="dcterms:W3CDTF">2026-01-01T00:00:00Z</dcterms:created>
  <dcterms:modified xsi:type="dcterms:W3CDTF">2026-01-01T00:00:00Z</dcterms:modified>
  <cp:category>Minimal</cp:category>
</cp:coreProperties>
</file>