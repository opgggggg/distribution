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8988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64207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3852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1284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8716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6148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35808" y="47091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8988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64207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3852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1284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8716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6148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5808" y="498348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8988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64207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3852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1284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8716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6148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35808" y="525780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124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1556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8988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64207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3852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1284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8716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148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035808" y="553212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124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556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8988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664207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3852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1284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8716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6148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035808" y="58064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124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556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8988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64207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93852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21284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48716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6148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35808" y="60807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42929" y="1051560"/>
            <a:ext cx="2651760" cy="2651760"/>
          </a:xfrm>
          <a:prstGeom prst="rect">
            <a:avLst/>
          </a:prstGeom>
          <a:noFill/>
          <a:ln w="38100">
            <a:solidFill>
              <a:srgbClr val="A24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41248" y="2084831"/>
            <a:ext cx="7863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50" b="1" i="0" spc="240">
                <a:solidFill>
                  <a:srgbClr val="FFFFFF"/>
                </a:solidFill>
                <a:latin typeface="Trebuchet MS"/>
              </a:rPr>
              <a:t>ANNUAL REPORT · 2026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200" b="1" i="0">
                <a:solidFill>
                  <a:srgbClr val="FFFFFF"/>
                </a:solidFill>
                <a:latin typeface="Georgia"/>
              </a:rPr>
              <a:t>The year in figures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What we set out to do, what the numbers say we did, and what we changed our minds about.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" y="568756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180">
                <a:solidFill>
                  <a:srgbClr val="FFFFFF"/>
                </a:solidFill>
                <a:latin typeface="Trebuchet MS"/>
              </a:rPr>
              <a:t>YOUR TEAM · YOUR ORGANIZATION · MONTH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What we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The year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The three decisions that shaped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Results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Revenue, margin, retention, headcount.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Segments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Where growth came from and where it did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Investment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What we funded and what we stopped.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Risk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What we watch, and our current 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A2402C"/>
                </a:solidFill>
                <a:latin typeface="Georgia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1C1E"/>
                </a:solidFill>
                <a:latin typeface="Georgia"/>
              </a:rPr>
              <a:t>Next year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The plan in one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A2402C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Results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Audited figures against the plan we published.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LETTER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What the year taught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1C1C1E"/>
                </a:solidFill>
                <a:latin typeface="Trebuchet MS"/>
              </a:rPr>
              <a:t>Open with the honest summary: the target, the result, and the gap. Readers who trust the first paragraph read the rest. Name one thing that went badly and what you did about it — it buys credibility for everything that follows.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A2402C"/>
                </a:solidFill>
                <a:latin typeface="Trebuchet MS"/>
              </a:rPr>
              <a:t>—  </a:t>
            </a:r>
            <a:r>
              <a:rPr sz="1300">
                <a:solidFill>
                  <a:srgbClr val="5A5A60"/>
                </a:solidFill>
                <a:latin typeface="Trebuchet MS"/>
              </a:rPr>
              <a:t>Target versus actual, stated plainly.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A2402C"/>
                </a:solidFill>
                <a:latin typeface="Trebuchet MS"/>
              </a:rPr>
              <a:t>—  </a:t>
            </a:r>
            <a:r>
              <a:rPr sz="1300">
                <a:solidFill>
                  <a:srgbClr val="5A5A60"/>
                </a:solidFill>
                <a:latin typeface="Trebuchet MS"/>
              </a:rPr>
              <a:t>The one decision that moved the number most.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A2402C"/>
                </a:solidFill>
                <a:latin typeface="Trebuchet MS"/>
              </a:rPr>
              <a:t>—  </a:t>
            </a:r>
            <a:r>
              <a:rPr sz="1300">
                <a:solidFill>
                  <a:srgbClr val="5A5A60"/>
                </a:solidFill>
                <a:latin typeface="Trebuchet MS"/>
              </a:rPr>
              <a:t>The one that did not work, and its cost.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A2402C"/>
                </a:solidFill>
                <a:latin typeface="Trebuchet MS"/>
              </a:rPr>
              <a:t>—  </a:t>
            </a:r>
            <a:r>
              <a:rPr sz="1300">
                <a:solidFill>
                  <a:srgbClr val="5A5A60"/>
                </a:solidFill>
                <a:latin typeface="Trebuchet MS"/>
              </a:rPr>
              <a:t>What we are carrying into next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Where growth came 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5F4F2"/>
          </a:solidFill>
          <a:ln w="9525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A2402C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Core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A5A60"/>
                </a:solidFill>
                <a:latin typeface="Trebuchet MS"/>
              </a:rPr>
              <a:t>Steady, high margin, and the source of most of the cash.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5F4F2"/>
          </a:solidFill>
          <a:ln w="9525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D5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A2402C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Expansion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A5A60"/>
                </a:solidFill>
                <a:latin typeface="Trebuchet MS"/>
              </a:rPr>
              <a:t>Fastest growth, thinnest margin, most of the hiring.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5F4F2"/>
          </a:solidFill>
          <a:ln w="9525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D5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A2402C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New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A5A60"/>
                </a:solidFill>
                <a:latin typeface="Trebuchet MS"/>
              </a:rPr>
              <a:t>Small base, unproven, funded as an option not a bet.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The headline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A2402C"/>
                </a:solidFill>
                <a:latin typeface="Georgia"/>
              </a:rPr>
              <a:t>+23%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Revenue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Against +18% in the published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C1C1E"/>
                </a:solidFill>
                <a:latin typeface="Georgia"/>
              </a:rPr>
              <a:t>58%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Gross margin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Down two points on mix, not on price.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C1C1E"/>
                </a:solidFill>
                <a:latin typeface="Georgia"/>
              </a:rPr>
              <a:t>94%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Net retention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Churn concentrated in one cohort.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C1C1E"/>
                </a:solidFill>
                <a:latin typeface="Georgia"/>
              </a:rPr>
              <a:t>2.1x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C1C1E"/>
                </a:solidFill>
                <a:latin typeface="Georgia"/>
              </a:rPr>
              <a:t>Cash cover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Operating cash to fixed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F2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E"/>
                </a:solidFill>
                <a:latin typeface="Trebuchet MS"/>
              </a:rPr>
              <a:t>Figures are for the twelve months to 31 December. Prior-year comparatives are restated on the current segment basis.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A2402C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Segments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Performance by market, product and channel.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THE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How it unfolded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A2402C"/>
                </a:solidFill>
                <a:latin typeface="Trebuchet MS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Repriced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New tiers, applied to renewals first.</a:t>
            </a:r>
          </a:p>
        </p:txBody>
      </p:sp>
      <p:sp>
        <p:nvSpPr>
          <p:cNvPr id="11" name="Oval 10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A2402C"/>
                </a:solidFill>
                <a:latin typeface="Trebuchet MS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Consolidated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Two products merged into one line.</a:t>
            </a:r>
          </a:p>
        </p:txBody>
      </p:sp>
      <p:sp>
        <p:nvSpPr>
          <p:cNvPr id="14" name="Oval 13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A2402C"/>
                </a:solidFill>
                <a:latin typeface="Trebuchet MS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Expanded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Second region opened with a local partner.</a:t>
            </a:r>
          </a:p>
        </p:txBody>
      </p:sp>
      <p:sp>
        <p:nvSpPr>
          <p:cNvPr id="17" name="Oval 16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A2402C"/>
                </a:solidFill>
                <a:latin typeface="Trebuchet MS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Tightened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Hiring paused; margin recovered a point.</a:t>
            </a:r>
          </a:p>
        </p:txBody>
      </p:sp>
      <p:sp>
        <p:nvSpPr>
          <p:cNvPr id="20" name="Oval 19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A5A60"/>
                </a:solidFill>
                <a:latin typeface="Trebuchet MS"/>
              </a:rPr>
              <a:t>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C1C1E"/>
                </a:solidFill>
                <a:latin typeface="Georgia"/>
              </a:rPr>
              <a:t>Outlook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Growth ahead of market, margin held flat.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Performance by 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C1E"/>
                </a:solidFill>
                <a:latin typeface="Trebuchet MS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$18.4M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+9%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64%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C1E"/>
                </a:solidFill>
                <a:latin typeface="Trebuchet MS"/>
              </a:rPr>
              <a:t>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$7.9M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+58%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41%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C1E"/>
                </a:solidFill>
                <a:latin typeface="Trebuchet MS"/>
              </a:rPr>
              <a:t>New markets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$1.2M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+140%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22%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6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C1E"/>
                </a:solidFill>
                <a:latin typeface="Trebuchet MS"/>
              </a:rPr>
              <a:t>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$27.5M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+23%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5A60"/>
                </a:solidFill>
                <a:latin typeface="Trebuchet MS"/>
              </a:rPr>
              <a:t>58%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Replace the rows with your own figures. Keep one unit per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25296" y="859536"/>
            <a:ext cx="100584" cy="100584"/>
          </a:xfrm>
          <a:prstGeom prst="ellipse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A2402C"/>
                </a:solidFill>
                <a:latin typeface="Trebuchet MS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C1C1E"/>
                </a:solidFill>
                <a:latin typeface="Georgia"/>
              </a:rPr>
              <a:t>One image, one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5F4F2"/>
          </a:solidFill>
          <a:ln w="9525">
            <a:solidFill>
              <a:srgbClr val="D6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C38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Triangle 8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FB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99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828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 spc="160">
                <a:solidFill>
                  <a:srgbClr val="5A5A60"/>
                </a:solidFill>
                <a:latin typeface="Trebuchet MS"/>
              </a:rPr>
              <a:t>DROP AN IMAGE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1" i="0">
                <a:solidFill>
                  <a:srgbClr val="1C1C1E"/>
                </a:solidFill>
                <a:latin typeface="Georgia"/>
              </a:rPr>
              <a:t>One chart, not four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300" b="0" i="0">
                <a:solidFill>
                  <a:srgbClr val="5A5A60"/>
                </a:solidFill>
                <a:latin typeface="Trebuchet MS"/>
              </a:rPr>
              <a:t>Pick the single series that carries the year and give it a whole page. Label the axis, name the unit, and put the source underneath. Everything else belongs in the appendix.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5A5A60"/>
                </a:solidFill>
                <a:latin typeface="Trebuchet MS"/>
              </a:rPr>
              <a:t>Caption the image: what it shows and where it came from.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A2402C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Outlook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Assumptions, ranges and the risks around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B97061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700" b="0" i="0">
                <a:solidFill>
                  <a:srgbClr val="1C1C1E"/>
                </a:solidFill>
                <a:latin typeface="Georgia"/>
              </a:rPr>
              <a:t>The plan was right about direction and wrong about pace. We would rather say so than restate it.</a:t>
            </a:r>
          </a:p>
          <a:p>
            <a:pPr>
              <a:lnSpc>
                <a:spcPct val="115000"/>
              </a:lnSpc>
            </a:pPr>
            <a:r>
              <a:rPr sz="1050" b="1" i="0" spc="180">
                <a:solidFill>
                  <a:srgbClr val="5A5A60"/>
                </a:solidFill>
                <a:latin typeface="Trebuchet MS"/>
              </a:rPr>
              <a:t>CHIEF EXECUTIVE, ANNUAL LETTER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10896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Next year</a:t>
            </a:r>
          </a:p>
          <a:p>
            <a:pPr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Three commitments, each with a number attached and a date by which it can be judged.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00">
                <a:solidFill>
                  <a:srgbClr val="FFFFFF"/>
                </a:solidFill>
                <a:latin typeface="Trebuchet MS"/>
              </a:rPr>
              <a:t>YOUR.NAME@EXAMPLE.COM · +00 000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A24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C1C1E"/>
      </a:dk1>
      <a:lt1>
        <a:srgbClr val="FFFFFF"/>
      </a:lt1>
      <a:dk2>
        <a:srgbClr val="24242A"/>
      </a:dk2>
      <a:lt2>
        <a:srgbClr val="F5F4F2"/>
      </a:lt2>
      <a:accent1>
        <a:srgbClr val="A2402C"/>
      </a:accent1>
      <a:accent2>
        <a:srgbClr val="C38376"/>
      </a:accent2>
      <a:accent3>
        <a:srgbClr val="1C1C1E"/>
      </a:accent3>
      <a:accent4>
        <a:srgbClr val="5A5A60"/>
      </a:accent4>
      <a:accent5>
        <a:srgbClr val="A4A4A5"/>
      </a:accent5>
      <a:accent6>
        <a:srgbClr val="D6D4D0"/>
      </a:accent6>
      <a:hlink>
        <a:srgbClr val="A2402C"/>
      </a:hlink>
      <a:folHlink>
        <a:srgbClr val="5A5A6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Lattice — CubeOffice template</dc:title>
  <dc:subject>Annual report</dc:subject>
  <dc:creator>CubeOffice</dc:creator>
  <cp:keywords>CubeOffice, template, annual report, en</cp:keywords>
  <dc:description>CubeOffice original template. Free to use, edit and redistribute, with or without attribution, for personal and commercial work.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Annual report</cp:category>
</cp:coreProperties>
</file>