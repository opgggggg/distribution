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22960"/>
            <a:ext cx="10509473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41248" y="5486400"/>
            <a:ext cx="329184" cy="3291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316736" y="5486400"/>
            <a:ext cx="329184" cy="329184"/>
          </a:xfrm>
          <a:prstGeom prst="rect">
            <a:avLst/>
          </a:prstGeom>
          <a:solidFill>
            <a:srgbClr val="6C8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792224" y="5486400"/>
            <a:ext cx="329184" cy="329184"/>
          </a:xfrm>
          <a:prstGeom prst="rect">
            <a:avLst/>
          </a:prstGeom>
          <a:solidFill>
            <a:srgbClr val="A9B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2267712" y="5486400"/>
            <a:ext cx="329184" cy="329184"/>
          </a:xfrm>
          <a:prstGeom prst="rect">
            <a:avLst/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084831"/>
            <a:ext cx="7863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00" b="1" i="0" spc="240">
                <a:solidFill>
                  <a:srgbClr val="1F2429"/>
                </a:solidFill>
                <a:latin typeface="Arial"/>
              </a:rPr>
              <a:t>状态报告 · 第 24 周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4600" b="1" i="0">
                <a:solidFill>
                  <a:srgbClr val="1F2429"/>
                </a:solidFill>
                <a:latin typeface="Arial"/>
              </a:rPr>
              <a:t>项目状态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626669"/>
                </a:solidFill>
                <a:latin typeface="Arial"/>
              </a:rPr>
              <a:t>范围、进度、风险，以及今天这个会上需要你们定的两件事。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8756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80">
                <a:solidFill>
                  <a:srgbClr val="848789"/>
                </a:solidFill>
                <a:latin typeface="Arial"/>
              </a:rPr>
              <a:t>团队名称 · 组织名称 · 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2429"/>
                </a:solidFill>
                <a:latin typeface="Arial"/>
              </a:rPr>
              <a:t>本次内容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36" b="1" i="0">
                <a:solidFill>
                  <a:srgbClr val="1D4ED8"/>
                </a:solidFill>
                <a:latin typeface="Arial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F2429"/>
                </a:solidFill>
                <a:latin typeface="Arial"/>
              </a:rPr>
              <a:t>结论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一句话：正常、有风险，还是已延期。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36" b="1" i="0">
                <a:solidFill>
                  <a:srgbClr val="1D4ED8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F2429"/>
                </a:solidFill>
                <a:latin typeface="Arial"/>
              </a:rPr>
              <a:t>进展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上次报告之后关闭了什么。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36" b="1" i="0">
                <a:solidFill>
                  <a:srgbClr val="1D4ED8"/>
                </a:solidFill>
                <a:latin typeface="Arial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F2429"/>
                </a:solidFill>
                <a:latin typeface="Arial"/>
              </a:rPr>
              <a:t>进度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里程碑，以及任何被挪动的日期。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36" b="1" i="0">
                <a:solidFill>
                  <a:srgbClr val="1D4ED8"/>
                </a:solidFill>
                <a:latin typeface="Arial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F2429"/>
                </a:solidFill>
                <a:latin typeface="Arial"/>
              </a:rPr>
              <a:t>风险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按大小排序，每条都有负责人和下一步。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36" b="1" i="0">
                <a:solidFill>
                  <a:srgbClr val="1D4ED8"/>
                </a:solidFill>
                <a:latin typeface="Arial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F2429"/>
                </a:solidFill>
                <a:latin typeface="Arial"/>
              </a:rPr>
              <a:t>预算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支出对比计划，以及预测。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36" b="1" i="0">
                <a:solidFill>
                  <a:srgbClr val="1D4ED8"/>
                </a:solidFill>
                <a:latin typeface="Arial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F2429"/>
                </a:solidFill>
                <a:latin typeface="Arial"/>
              </a:rPr>
              <a:t>待决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今天需要拍板的事。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6800" b="1" i="0">
                <a:solidFill>
                  <a:srgbClr val="1D4ED8"/>
                </a:solidFill>
                <a:latin typeface="Arial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100" b="1" i="0">
                <a:solidFill>
                  <a:srgbClr val="1F2429"/>
                </a:solidFill>
                <a:latin typeface="Arial"/>
              </a:rPr>
              <a:t>进展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6D7174"/>
                </a:solidFill>
                <a:latin typeface="Arial"/>
              </a:rPr>
              <a:t>已交付、进行中、尚未开始。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1D4ED8"/>
                </a:solidFill>
                <a:latin typeface="Arial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2429"/>
                </a:solidFill>
                <a:latin typeface="Arial"/>
              </a:rPr>
              <a:t>整体正常，一个日期有风险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1F2429"/>
                </a:solidFill>
                <a:latin typeface="Arial"/>
              </a:rPr>
              <a:t>先给结论，不要先讲过程。用一句话说明整体状态，点出最可能改变它的那一件事，再说清为了守住日期你需要什么。细节留给想看的人。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D4ED8"/>
                </a:solidFill>
                <a:latin typeface="Arial"/>
              </a:rPr>
              <a:t>—  </a:t>
            </a:r>
            <a:r>
              <a:rPr sz="1200">
                <a:solidFill>
                  <a:srgbClr val="5C646C"/>
                </a:solidFill>
                <a:latin typeface="Arial"/>
              </a:rPr>
              <a:t>整体：九月里程碑可以守住。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00" b="1">
                <a:solidFill>
                  <a:srgbClr val="1D4ED8"/>
                </a:solidFill>
                <a:latin typeface="Arial"/>
              </a:rPr>
              <a:t>—  </a:t>
            </a:r>
            <a:r>
              <a:rPr sz="1200">
                <a:solidFill>
                  <a:srgbClr val="5C646C"/>
                </a:solidFill>
                <a:latin typeface="Arial"/>
              </a:rPr>
              <a:t>风险：集成日期，取决于第三方的修复。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00" b="1">
                <a:solidFill>
                  <a:srgbClr val="1D4ED8"/>
                </a:solidFill>
                <a:latin typeface="Arial"/>
              </a:rPr>
              <a:t>—  </a:t>
            </a:r>
            <a:r>
              <a:rPr sz="1200">
                <a:solidFill>
                  <a:srgbClr val="5C646C"/>
                </a:solidFill>
                <a:latin typeface="Arial"/>
              </a:rPr>
              <a:t>缓解：并行方案已确认，代价是两周工作量。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00" b="1">
                <a:solidFill>
                  <a:srgbClr val="1D4ED8"/>
                </a:solidFill>
                <a:latin typeface="Arial"/>
              </a:rPr>
              <a:t>—  </a:t>
            </a:r>
            <a:r>
              <a:rPr sz="1200">
                <a:solidFill>
                  <a:srgbClr val="5C646C"/>
                </a:solidFill>
                <a:latin typeface="Arial"/>
              </a:rPr>
              <a:t>今天需要：第二阶段范围的决定。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1D4ED8"/>
                </a:solidFill>
                <a:latin typeface="Arial"/>
              </a:rPr>
              <a:t>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2429"/>
                </a:solidFill>
                <a:latin typeface="Arial"/>
              </a:rPr>
              <a:t>三条线，三种状态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3247125" cy="278892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3247125" cy="502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16736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1D4ED8"/>
                </a:solidFill>
                <a:latin typeface="Arial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1F2429"/>
                </a:solidFill>
                <a:latin typeface="Arial"/>
              </a:rPr>
              <a:t>交付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5C646C"/>
                </a:solidFill>
                <a:latin typeface="Arial"/>
              </a:rPr>
              <a:t>按计划。八个组件中已验收六个。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2421" y="2560320"/>
            <a:ext cx="3247125" cy="278892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2421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72421" y="2560320"/>
            <a:ext cx="3247125" cy="50292"/>
          </a:xfrm>
          <a:prstGeom prst="rect">
            <a:avLst/>
          </a:prstGeom>
          <a:solidFill>
            <a:srgbClr val="99A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7909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1D4ED8"/>
                </a:solidFill>
                <a:latin typeface="Arial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1F2429"/>
                </a:solidFill>
                <a:latin typeface="Arial"/>
              </a:rPr>
              <a:t>集成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5C646C"/>
                </a:solidFill>
                <a:latin typeface="Arial"/>
              </a:rPr>
              <a:t>有风险。被一个外部依赖卡住。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3595" y="2560320"/>
            <a:ext cx="3247125" cy="278892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03595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03595" y="2560320"/>
            <a:ext cx="3247125" cy="50292"/>
          </a:xfrm>
          <a:prstGeom prst="rect">
            <a:avLst/>
          </a:prstGeom>
          <a:solidFill>
            <a:srgbClr val="99A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79083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1D4ED8"/>
                </a:solidFill>
                <a:latin typeface="Arial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1F2429"/>
                </a:solidFill>
                <a:latin typeface="Arial"/>
              </a:rPr>
              <a:t>上线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5C646C"/>
                </a:solidFill>
                <a:latin typeface="Arial"/>
              </a:rPr>
              <a:t>尚未开始。集成验收之后启动。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1D4ED8"/>
                </a:solidFill>
                <a:latin typeface="Arial"/>
              </a:rPr>
              <a:t>本期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2429"/>
                </a:solidFill>
                <a:latin typeface="Arial"/>
              </a:rPr>
              <a:t>进展与支出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000" b="1" i="0">
                <a:solidFill>
                  <a:srgbClr val="1D4ED8"/>
                </a:solidFill>
                <a:latin typeface="Arial"/>
              </a:rPr>
              <a:t>74%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1F2429"/>
                </a:solidFill>
                <a:latin typeface="Arial"/>
              </a:rPr>
              <a:t>范围完成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已验收交付物占总量之比。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000" b="1" i="0">
                <a:solidFill>
                  <a:srgbClr val="1F2429"/>
                </a:solidFill>
                <a:latin typeface="Arial"/>
              </a:rPr>
              <a:t>+3 天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1F2429"/>
                </a:solidFill>
                <a:latin typeface="Arial"/>
              </a:rPr>
              <a:t>进度偏差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对照基线计划。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000" b="1" i="0">
                <a:solidFill>
                  <a:srgbClr val="1F2429"/>
                </a:solidFill>
                <a:latin typeface="Arial"/>
              </a:rPr>
              <a:t>68%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1F2429"/>
                </a:solidFill>
                <a:latin typeface="Arial"/>
              </a:rPr>
              <a:t>预算已用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范围完成 74%，属有利偏差。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000" b="1" i="0">
                <a:solidFill>
                  <a:srgbClr val="1F2429"/>
                </a:solidFill>
                <a:latin typeface="Arial"/>
              </a:rPr>
              <a:t>2 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1F2429"/>
                </a:solidFill>
                <a:latin typeface="Arial"/>
              </a:rPr>
              <a:t>未关闭风险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均已指定负责人与日期。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892040"/>
            <a:ext cx="10509473" cy="914400"/>
          </a:xfrm>
          <a:prstGeom prst="rect">
            <a:avLst/>
          </a:prstGeom>
          <a:solidFill>
            <a:srgbClr val="DF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429"/>
                </a:solidFill>
                <a:latin typeface="Arial"/>
              </a:rPr>
              <a:t>偏差对照第 4 周确认的基线衡量，而不是对照上一次报告。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6800" b="1" i="0">
                <a:solidFill>
                  <a:srgbClr val="1D4ED8"/>
                </a:solidFill>
                <a:latin typeface="Arial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100" b="1" i="0">
                <a:solidFill>
                  <a:srgbClr val="1F2429"/>
                </a:solidFill>
                <a:latin typeface="Arial"/>
              </a:rPr>
              <a:t>风险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6D7174"/>
                </a:solidFill>
                <a:latin typeface="Arial"/>
              </a:rPr>
              <a:t>可能影响日期的因素，按暴露程度排序。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1D4ED8"/>
                </a:solidFill>
                <a:latin typeface="Arial"/>
              </a:rPr>
              <a:t>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2429"/>
                </a:solidFill>
                <a:latin typeface="Arial"/>
              </a:rPr>
              <a:t>日期现状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1D4ED8"/>
                </a:solidFill>
                <a:latin typeface="Arial"/>
              </a:rPr>
              <a:t>第 4 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F2429"/>
                </a:solidFill>
                <a:latin typeface="Arial"/>
              </a:rPr>
              <a:t>基线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范围与计划确认并冻结。</a:t>
            </a:r>
          </a:p>
        </p:txBody>
      </p:sp>
      <p:sp>
        <p:nvSpPr>
          <p:cNvPr id="9" name="Oval 8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1D4ED8"/>
                </a:solidFill>
                <a:latin typeface="Arial"/>
              </a:rPr>
              <a:t>第 12 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F2429"/>
                </a:solidFill>
                <a:latin typeface="Arial"/>
              </a:rPr>
              <a:t>开始构建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环境已交接。</a:t>
            </a:r>
          </a:p>
        </p:txBody>
      </p:sp>
      <p:sp>
        <p:nvSpPr>
          <p:cNvPr id="12" name="Oval 11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5C646C"/>
                </a:solidFill>
                <a:latin typeface="Arial"/>
              </a:rPr>
              <a:t>第 24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F2429"/>
                </a:solidFill>
                <a:latin typeface="Arial"/>
              </a:rPr>
              <a:t>集成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外部依赖尚未解决。</a:t>
            </a:r>
          </a:p>
        </p:txBody>
      </p:sp>
      <p:sp>
        <p:nvSpPr>
          <p:cNvPr id="15" name="Oval 14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5C646C"/>
                </a:solidFill>
                <a:latin typeface="Arial"/>
              </a:rPr>
              <a:t>第 32 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F2429"/>
                </a:solidFill>
                <a:latin typeface="Arial"/>
              </a:rPr>
              <a:t>验收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用户测试，两周窗口。</a:t>
            </a:r>
          </a:p>
        </p:txBody>
      </p:sp>
      <p:sp>
        <p:nvSpPr>
          <p:cNvPr id="18" name="Oval 17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5C646C"/>
                </a:solidFill>
                <a:latin typeface="Arial"/>
              </a:rPr>
              <a:t>第 36 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F2429"/>
                </a:solidFill>
                <a:latin typeface="Arial"/>
              </a:rPr>
              <a:t>上线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分批切换，已演练回滚。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1D4ED8"/>
                </a:solidFill>
                <a:latin typeface="Arial"/>
              </a:rPr>
              <a:t>风险登记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2429"/>
                </a:solidFill>
                <a:latin typeface="Arial"/>
              </a:rPr>
              <a:t>风险排序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1F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下一步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429"/>
                </a:solidFill>
                <a:latin typeface="Arial"/>
              </a:rPr>
              <a:t>第三方修复延迟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集成负责人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周五上报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429"/>
                </a:solidFill>
                <a:latin typeface="Arial"/>
              </a:rPr>
              <a:t>测试数据不全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交付负责人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第 26 周前补齐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429"/>
                </a:solidFill>
                <a:latin typeface="Arial"/>
              </a:rPr>
              <a:t>关键人单点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项目组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第 25 周起结对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429"/>
                </a:solidFill>
                <a:latin typeface="Arial"/>
              </a:rPr>
              <a:t>二期范围蔓延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业务责任人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46C"/>
                </a:solidFill>
                <a:latin typeface="Arial"/>
              </a:rPr>
              <a:t>今天定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把表格换成你自己的数字。每一列只用一种单位。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1D4ED8"/>
                </a:solidFill>
                <a:latin typeface="Arial"/>
              </a:rPr>
              <a:t>论据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2429"/>
                </a:solidFill>
                <a:latin typeface="Arial"/>
              </a:rPr>
              <a:t>一张图，一个观点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5464926" cy="292608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6C8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C0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9A9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8487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60">
                <a:solidFill>
                  <a:srgbClr val="5C646C"/>
                </a:solidFill>
                <a:latin typeface="Arial"/>
              </a:rPr>
              <a:t>在此放入图片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1" i="0">
                <a:solidFill>
                  <a:srgbClr val="1F2429"/>
                </a:solidFill>
                <a:latin typeface="Arial"/>
              </a:rPr>
              <a:t>一张业务方看得懂的图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200" b="0" i="0">
                <a:solidFill>
                  <a:srgbClr val="5C646C"/>
                </a:solidFill>
                <a:latin typeface="Arial"/>
              </a:rPr>
              <a:t>对照基线的燃起图，或者里程碑对日期图。不管选哪种，每期都用同一张——业务方应该能不重读坐标轴就把本周和上周比出来。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5C646C"/>
                </a:solidFill>
                <a:latin typeface="Arial"/>
              </a:rPr>
              <a:t>为图片写说明：它展示了什么，来源是哪里。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6800" b="1" i="0">
                <a:solidFill>
                  <a:srgbClr val="1D4ED8"/>
                </a:solidFill>
                <a:latin typeface="Arial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100" b="1" i="0">
                <a:solidFill>
                  <a:srgbClr val="1F2429"/>
                </a:solidFill>
                <a:latin typeface="Arial"/>
              </a:rPr>
              <a:t>待决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6D7174"/>
                </a:solidFill>
                <a:latin typeface="Arial"/>
              </a:rPr>
              <a:t>需要在这个会上定下负责人的选择。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567AE2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300" b="0" i="0">
                <a:solidFill>
                  <a:srgbClr val="1F2429"/>
                </a:solidFill>
                <a:latin typeface="Arial"/>
              </a:rPr>
              <a:t>日期要挪，请在第 24 周告诉我，不要等到第 34 周。</a:t>
            </a:r>
          </a:p>
          <a:p>
            <a:pPr>
              <a:lnSpc>
                <a:spcPct val="115000"/>
              </a:lnSpc>
            </a:pPr>
            <a:r>
              <a:rPr sz="1000" b="1" i="0" spc="180">
                <a:solidFill>
                  <a:srgbClr val="5C646C"/>
                </a:solidFill>
                <a:latin typeface="Arial"/>
              </a:rPr>
              <a:t>项目业务责任人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108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3800" b="1" i="0">
                <a:solidFill>
                  <a:srgbClr val="1F2429"/>
                </a:solidFill>
                <a:latin typeface="Arial"/>
              </a:rPr>
              <a:t>需要拍板的事</a:t>
            </a:r>
          </a:p>
          <a:p>
            <a:pPr>
              <a:lnSpc>
                <a:spcPct val="140000"/>
              </a:lnSpc>
            </a:pPr>
            <a:r>
              <a:rPr sz="1400" b="0" i="0">
                <a:solidFill>
                  <a:srgbClr val="626669"/>
                </a:solidFill>
                <a:latin typeface="Arial"/>
              </a:rPr>
              <a:t>两件：二期范围，以及是否为并行集成方案出钱。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848789"/>
                </a:solidFill>
                <a:latin typeface="Arial"/>
              </a:rPr>
              <a:t>YOUR.NAME@EXAMPLE.COM · +86 000 0000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429"/>
      </a:dk1>
      <a:lt1>
        <a:srgbClr val="FFFFFF"/>
      </a:lt1>
      <a:dk2>
        <a:srgbClr val="FFFFFF"/>
      </a:dk2>
      <a:lt2>
        <a:srgbClr val="F4F6F8"/>
      </a:lt2>
      <a:accent1>
        <a:srgbClr val="1D4ED8"/>
      </a:accent1>
      <a:accent2>
        <a:srgbClr val="6C8CE6"/>
      </a:accent2>
      <a:accent3>
        <a:srgbClr val="1F2429"/>
      </a:accent3>
      <a:accent4>
        <a:srgbClr val="5C646C"/>
      </a:accent4>
      <a:accent5>
        <a:srgbClr val="A5A7A9"/>
      </a:accent5>
      <a:accent6>
        <a:srgbClr val="D5DAE0"/>
      </a:accent6>
      <a:hlink>
        <a:srgbClr val="1D4ED8"/>
      </a:hlink>
      <a:folHlink>
        <a:srgbClr val="5C64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 — CubeOffice template</dc:title>
  <dc:subject>Project status</dc:subject>
  <dc:creator>CubeOffice</dc:creator>
  <cp:keywords>CubeOffice, template, project status, zh-CN</cp:keywords>
  <dc:description>CubeOffice 原创模板。可自由使用、修改和再分发，用于个人或商业用途，无需署名。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Project status</cp:category>
</cp:coreProperties>
</file>