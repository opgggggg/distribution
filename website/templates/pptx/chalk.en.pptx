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800" y="0"/>
            <a:ext cx="14630400"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4133" y="0"/>
            <a:ext cx="5147733" cy="0"/>
          </a:xfrm>
        </p:spPr>
        <p:txBody>
          <a:bodyPr/>
          <a:lstStyle/>
          <a:p>
            <a:endParaRPr lang="en-US"/>
          </a:p>
        </p:txBody>
      </p:sp>
      <p:sp>
        <p:nvSpPr>
          <p:cNvPr id="9" name="Slide Number Placeholder 8"/>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4133" y="0"/>
            <a:ext cx="5147733" cy="0"/>
          </a:xfrm>
        </p:spPr>
        <p:txBody>
          <a:bodyPr/>
          <a:lstStyle/>
          <a:p>
            <a:endParaRPr lang="en-US"/>
          </a:p>
        </p:txBody>
      </p:sp>
      <p:sp>
        <p:nvSpPr>
          <p:cNvPr id="5" name="Slide Number Placeholder 4"/>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4133" y="0"/>
            <a:ext cx="5147733" cy="0"/>
          </a:xfrm>
        </p:spPr>
        <p:txBody>
          <a:bodyPr/>
          <a:lstStyle/>
          <a:p>
            <a:endParaRPr lang="en-US"/>
          </a:p>
        </p:txBody>
      </p:sp>
      <p:sp>
        <p:nvSpPr>
          <p:cNvPr id="4" name="Slide Number Placeholder 3"/>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0"/>
            <a:ext cx="14630400"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2320"/>
        </a:solidFill>
        <a:effectLst/>
      </p:bgPr>
    </p:bg>
    <p:spTree>
      <p:nvGrpSpPr>
        <p:cNvPr id="1" name=""/>
        <p:cNvGrpSpPr/>
        <p:nvPr/>
      </p:nvGrpSpPr>
      <p:grpSpPr/>
      <p:sp>
        <p:nvSpPr>
          <p:cNvPr id="2" name="Oval 1"/>
          <p:cNvSpPr/>
          <p:nvPr/>
        </p:nvSpPr>
        <p:spPr>
          <a:xfrm>
            <a:off x="8260049" y="-1143000"/>
            <a:ext cx="5120640" cy="5120640"/>
          </a:xfrm>
          <a:prstGeom prst="ellipse">
            <a:avLst/>
          </a:prstGeom>
          <a:solidFill>
            <a:srgbClr val="E0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60249" y="384048"/>
            <a:ext cx="1920240" cy="1920240"/>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2084831"/>
            <a:ext cx="6766560" cy="2834640"/>
          </a:xfrm>
          <a:prstGeom prst="rect">
            <a:avLst/>
          </a:prstGeom>
          <a:noFill/>
        </p:spPr>
        <p:txBody>
          <a:bodyPr wrap="square" anchor="t" lIns="0" rIns="0" tIns="0" bIns="0">
            <a:spAutoFit/>
          </a:bodyPr>
          <a:lstStyle/>
          <a:p>
            <a:pPr algn="l">
              <a:lnSpc>
                <a:spcPct val="115000"/>
              </a:lnSpc>
              <a:spcAft>
                <a:spcPts val="1400"/>
              </a:spcAft>
            </a:pPr>
            <a:r>
              <a:rPr sz="900" b="1" i="0" spc="240">
                <a:solidFill>
                  <a:srgbClr val="FFFCF7"/>
                </a:solidFill>
                <a:latin typeface="Verdana"/>
              </a:rPr>
              <a:t>WORKSHOP · MODULE 1 OF 4</a:t>
            </a:r>
          </a:p>
          <a:p>
            <a:pPr>
              <a:lnSpc>
                <a:spcPct val="102000"/>
              </a:lnSpc>
              <a:spcAft>
                <a:spcPts val="1600"/>
              </a:spcAft>
            </a:pPr>
            <a:r>
              <a:rPr sz="4800" b="1" i="0">
                <a:solidFill>
                  <a:srgbClr val="FFFCF7"/>
                </a:solidFill>
                <a:latin typeface="Georgia"/>
              </a:rPr>
              <a:t>Learning by doing</a:t>
            </a:r>
          </a:p>
          <a:p>
            <a:pPr>
              <a:lnSpc>
                <a:spcPct val="135000"/>
              </a:lnSpc>
            </a:pPr>
            <a:r>
              <a:rPr sz="1400" b="0" i="0">
                <a:solidFill>
                  <a:srgbClr val="FFFCF7"/>
                </a:solidFill>
                <a:latin typeface="Verdana"/>
              </a:rPr>
              <a:t>What you will be able to do by the end of the session, and how we get there.</a:t>
            </a:r>
          </a:p>
        </p:txBody>
      </p:sp>
      <p:sp>
        <p:nvSpPr>
          <p:cNvPr id="5" name="TextBox 4"/>
          <p:cNvSpPr txBox="1"/>
          <p:nvPr/>
        </p:nvSpPr>
        <p:spPr>
          <a:xfrm>
            <a:off x="841248" y="5687568"/>
            <a:ext cx="6766560" cy="457200"/>
          </a:xfrm>
          <a:prstGeom prst="rect">
            <a:avLst/>
          </a:prstGeom>
          <a:noFill/>
        </p:spPr>
        <p:txBody>
          <a:bodyPr wrap="square" anchor="t" lIns="0" rIns="0" tIns="0" bIns="0">
            <a:spAutoFit/>
          </a:bodyPr>
          <a:lstStyle/>
          <a:p>
            <a:pPr algn="l">
              <a:lnSpc>
                <a:spcPct val="115000"/>
              </a:lnSpc>
            </a:pPr>
            <a:r>
              <a:rPr sz="900" b="0" i="0" spc="180">
                <a:solidFill>
                  <a:srgbClr val="FFFCF7"/>
                </a:solidFill>
                <a:latin typeface="Verdana"/>
              </a:rPr>
              <a:t>YOUR TEAM · YOUR ORGANIZATION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What we will cover</a:t>
            </a:r>
          </a:p>
        </p:txBody>
      </p:sp>
      <p:sp>
        <p:nvSpPr>
          <p:cNvPr id="4" name="TextBox 3"/>
          <p:cNvSpPr txBox="1"/>
          <p:nvPr/>
        </p:nvSpPr>
        <p:spPr>
          <a:xfrm>
            <a:off x="841248" y="2176272"/>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01</a:t>
            </a:r>
          </a:p>
        </p:txBody>
      </p:sp>
      <p:sp>
        <p:nvSpPr>
          <p:cNvPr id="5" name="Rectangle 4"/>
          <p:cNvSpPr/>
          <p:nvPr/>
        </p:nvSpPr>
        <p:spPr>
          <a:xfrm>
            <a:off x="841248" y="3035808"/>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5648" y="2139696"/>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Outcomes</a:t>
            </a:r>
          </a:p>
          <a:p>
            <a:pPr>
              <a:lnSpc>
                <a:spcPct val="130000"/>
              </a:lnSpc>
            </a:pPr>
            <a:r>
              <a:rPr sz="900" b="0" i="0">
                <a:solidFill>
                  <a:srgbClr val="6B5F58"/>
                </a:solidFill>
                <a:latin typeface="Verdana"/>
              </a:rPr>
              <a:t>What you can do afterwards that you cannot now.</a:t>
            </a:r>
          </a:p>
        </p:txBody>
      </p:sp>
      <p:sp>
        <p:nvSpPr>
          <p:cNvPr id="7" name="TextBox 6"/>
          <p:cNvSpPr txBox="1"/>
          <p:nvPr/>
        </p:nvSpPr>
        <p:spPr>
          <a:xfrm>
            <a:off x="841248" y="3383280"/>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02</a:t>
            </a:r>
          </a:p>
        </p:txBody>
      </p:sp>
      <p:sp>
        <p:nvSpPr>
          <p:cNvPr id="8" name="Rectangle 7"/>
          <p:cNvSpPr/>
          <p:nvPr/>
        </p:nvSpPr>
        <p:spPr>
          <a:xfrm>
            <a:off x="841248" y="4242816"/>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755648" y="3346704"/>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Warm-up</a:t>
            </a:r>
          </a:p>
          <a:p>
            <a:pPr>
              <a:lnSpc>
                <a:spcPct val="130000"/>
              </a:lnSpc>
            </a:pPr>
            <a:r>
              <a:rPr sz="900" b="0" i="0">
                <a:solidFill>
                  <a:srgbClr val="6B5F58"/>
                </a:solidFill>
                <a:latin typeface="Verdana"/>
              </a:rPr>
              <a:t>A short exercise to surface what you already know.</a:t>
            </a:r>
          </a:p>
        </p:txBody>
      </p:sp>
      <p:sp>
        <p:nvSpPr>
          <p:cNvPr id="10" name="TextBox 9"/>
          <p:cNvSpPr txBox="1"/>
          <p:nvPr/>
        </p:nvSpPr>
        <p:spPr>
          <a:xfrm>
            <a:off x="841248" y="4590288"/>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03</a:t>
            </a:r>
          </a:p>
        </p:txBody>
      </p:sp>
      <p:sp>
        <p:nvSpPr>
          <p:cNvPr id="11" name="Rectangle 10"/>
          <p:cNvSpPr/>
          <p:nvPr/>
        </p:nvSpPr>
        <p:spPr>
          <a:xfrm>
            <a:off x="841248" y="5449823"/>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55648" y="4553712"/>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Concept</a:t>
            </a:r>
          </a:p>
          <a:p>
            <a:pPr>
              <a:lnSpc>
                <a:spcPct val="130000"/>
              </a:lnSpc>
            </a:pPr>
            <a:r>
              <a:rPr sz="900" b="0" i="0">
                <a:solidFill>
                  <a:srgbClr val="6B5F58"/>
                </a:solidFill>
                <a:latin typeface="Verdana"/>
              </a:rPr>
              <a:t>The smallest amount of theory that is genuinely needed.</a:t>
            </a:r>
          </a:p>
        </p:txBody>
      </p:sp>
      <p:sp>
        <p:nvSpPr>
          <p:cNvPr id="13" name="TextBox 12"/>
          <p:cNvSpPr txBox="1"/>
          <p:nvPr/>
        </p:nvSpPr>
        <p:spPr>
          <a:xfrm>
            <a:off x="6507464" y="2176272"/>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04</a:t>
            </a:r>
          </a:p>
        </p:txBody>
      </p:sp>
      <p:sp>
        <p:nvSpPr>
          <p:cNvPr id="14" name="Rectangle 13"/>
          <p:cNvSpPr/>
          <p:nvPr/>
        </p:nvSpPr>
        <p:spPr>
          <a:xfrm>
            <a:off x="6507464" y="3035808"/>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21864" y="2139696"/>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Practice</a:t>
            </a:r>
          </a:p>
          <a:p>
            <a:pPr>
              <a:lnSpc>
                <a:spcPct val="130000"/>
              </a:lnSpc>
            </a:pPr>
            <a:r>
              <a:rPr sz="900" b="0" i="0">
                <a:solidFill>
                  <a:srgbClr val="6B5F58"/>
                </a:solidFill>
                <a:latin typeface="Verdana"/>
              </a:rPr>
              <a:t>The main exercise, in pairs.</a:t>
            </a:r>
          </a:p>
        </p:txBody>
      </p:sp>
      <p:sp>
        <p:nvSpPr>
          <p:cNvPr id="16" name="TextBox 15"/>
          <p:cNvSpPr txBox="1"/>
          <p:nvPr/>
        </p:nvSpPr>
        <p:spPr>
          <a:xfrm>
            <a:off x="6507464" y="3383280"/>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05</a:t>
            </a:r>
          </a:p>
        </p:txBody>
      </p:sp>
      <p:sp>
        <p:nvSpPr>
          <p:cNvPr id="17" name="Rectangle 16"/>
          <p:cNvSpPr/>
          <p:nvPr/>
        </p:nvSpPr>
        <p:spPr>
          <a:xfrm>
            <a:off x="6507464" y="4242816"/>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21864" y="3346704"/>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Review</a:t>
            </a:r>
          </a:p>
          <a:p>
            <a:pPr>
              <a:lnSpc>
                <a:spcPct val="130000"/>
              </a:lnSpc>
            </a:pPr>
            <a:r>
              <a:rPr sz="900" b="0" i="0">
                <a:solidFill>
                  <a:srgbClr val="6B5F58"/>
                </a:solidFill>
                <a:latin typeface="Verdana"/>
              </a:rPr>
              <a:t>What went wrong, and why that is the useful part.</a:t>
            </a:r>
          </a:p>
        </p:txBody>
      </p:sp>
      <p:sp>
        <p:nvSpPr>
          <p:cNvPr id="19" name="TextBox 18"/>
          <p:cNvSpPr txBox="1"/>
          <p:nvPr/>
        </p:nvSpPr>
        <p:spPr>
          <a:xfrm>
            <a:off x="6507464" y="4590288"/>
            <a:ext cx="777240" cy="731520"/>
          </a:xfrm>
          <a:prstGeom prst="rect">
            <a:avLst/>
          </a:prstGeom>
          <a:noFill/>
        </p:spPr>
        <p:txBody>
          <a:bodyPr wrap="square" anchor="t" lIns="0" rIns="0" tIns="0" bIns="0">
            <a:spAutoFit/>
          </a:bodyPr>
          <a:lstStyle/>
          <a:p>
            <a:pPr algn="l">
              <a:lnSpc>
                <a:spcPct val="115000"/>
              </a:lnSpc>
            </a:pPr>
            <a:r>
              <a:rPr sz="3744" b="1" i="0">
                <a:solidFill>
                  <a:srgbClr val="C2543C"/>
                </a:solidFill>
                <a:latin typeface="Georgia"/>
              </a:rPr>
              <a:t>06</a:t>
            </a:r>
          </a:p>
        </p:txBody>
      </p:sp>
      <p:sp>
        <p:nvSpPr>
          <p:cNvPr id="20" name="Rectangle 19"/>
          <p:cNvSpPr/>
          <p:nvPr/>
        </p:nvSpPr>
        <p:spPr>
          <a:xfrm>
            <a:off x="6507464" y="5449823"/>
            <a:ext cx="4843256" cy="9525"/>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21864" y="4553712"/>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2A2320"/>
                </a:solidFill>
                <a:latin typeface="Georgia"/>
              </a:rPr>
              <a:t>Take-away</a:t>
            </a:r>
          </a:p>
          <a:p>
            <a:pPr>
              <a:lnSpc>
                <a:spcPct val="130000"/>
              </a:lnSpc>
            </a:pPr>
            <a:r>
              <a:rPr sz="900" b="0" i="0">
                <a:solidFill>
                  <a:srgbClr val="6B5F58"/>
                </a:solidFill>
                <a:latin typeface="Verdana"/>
              </a:rPr>
              <a:t>One page you keep, and one thing you try this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A2320"/>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7200" b="1" i="0">
                <a:solidFill>
                  <a:srgbClr val="C2543C"/>
                </a:solidFill>
                <a:latin typeface="Georgia"/>
              </a:rPr>
              <a:t>01</a:t>
            </a:r>
          </a:p>
          <a:p>
            <a:pPr>
              <a:lnSpc>
                <a:spcPct val="115000"/>
              </a:lnSpc>
              <a:spcAft>
                <a:spcPts val="1200"/>
              </a:spcAft>
            </a:pPr>
            <a:r>
              <a:rPr sz="3300" b="1" i="0">
                <a:solidFill>
                  <a:srgbClr val="FFFCF7"/>
                </a:solidFill>
                <a:latin typeface="Georgia"/>
              </a:rPr>
              <a:t>Outcomes</a:t>
            </a:r>
          </a:p>
          <a:p>
            <a:pPr>
              <a:lnSpc>
                <a:spcPct val="135000"/>
              </a:lnSpc>
            </a:pPr>
            <a:r>
              <a:rPr sz="1400" b="0" i="0">
                <a:solidFill>
                  <a:srgbClr val="FFFCF7"/>
                </a:solidFill>
                <a:latin typeface="Verdana"/>
              </a:rPr>
              <a:t>What this session is for, stated as things you can 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OUTCOMES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By the end of this session</a:t>
            </a:r>
          </a:p>
        </p:txBody>
      </p:sp>
      <p:sp>
        <p:nvSpPr>
          <p:cNvPr id="5" name="TextBox 4"/>
          <p:cNvSpPr txBox="1"/>
          <p:nvPr/>
        </p:nvSpPr>
        <p:spPr>
          <a:xfrm>
            <a:off x="841248" y="2560320"/>
            <a:ext cx="4834357" cy="2743200"/>
          </a:xfrm>
          <a:prstGeom prst="rect">
            <a:avLst/>
          </a:prstGeom>
          <a:noFill/>
        </p:spPr>
        <p:txBody>
          <a:bodyPr wrap="square" anchor="t" lIns="0" rIns="0" tIns="0" bIns="0">
            <a:spAutoFit/>
          </a:bodyPr>
          <a:lstStyle/>
          <a:p>
            <a:pPr algn="l">
              <a:lnSpc>
                <a:spcPct val="142000"/>
              </a:lnSpc>
            </a:pPr>
            <a:r>
              <a:rPr sz="1400" b="0" i="0">
                <a:solidFill>
                  <a:srgbClr val="2A2320"/>
                </a:solidFill>
                <a:latin typeface="Verdana"/>
              </a:rPr>
              <a:t>Write outcomes as observable actions, not topics covered. "Understand the process" cannot be checked; "run the process on your own data and explain the result" can. Three outcomes is plenty for ninety minutes.</a:t>
            </a:r>
          </a:p>
        </p:txBody>
      </p:sp>
      <p:sp>
        <p:nvSpPr>
          <p:cNvPr id="6" name="Rectangle 5"/>
          <p:cNvSpPr/>
          <p:nvPr/>
        </p:nvSpPr>
        <p:spPr>
          <a:xfrm>
            <a:off x="5995645" y="2615184"/>
            <a:ext cx="9525" cy="260604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7125" y="2560320"/>
            <a:ext cx="4943595" cy="2743200"/>
          </a:xfrm>
          <a:prstGeom prst="rect">
            <a:avLst/>
          </a:prstGeom>
          <a:noFill/>
        </p:spPr>
        <p:txBody>
          <a:bodyPr wrap="square" anchor="t" lIns="0" rIns="0" tIns="0" bIns="0">
            <a:spAutoFit/>
          </a:bodyPr>
          <a:lstStyle/>
          <a:p>
            <a:pPr algn="l">
              <a:lnSpc>
                <a:spcPct val="130000"/>
              </a:lnSpc>
            </a:pPr>
            <a:r>
              <a:rPr sz="1200" b="1">
                <a:solidFill>
                  <a:srgbClr val="C2543C"/>
                </a:solidFill>
                <a:latin typeface="Verdana"/>
              </a:rPr>
              <a:t>—  </a:t>
            </a:r>
            <a:r>
              <a:rPr sz="1200">
                <a:solidFill>
                  <a:srgbClr val="6B5F58"/>
                </a:solidFill>
                <a:latin typeface="Verdana"/>
              </a:rPr>
              <a:t>Run the process end to end on a real example.</a:t>
            </a:r>
          </a:p>
          <a:p>
            <a:pPr>
              <a:lnSpc>
                <a:spcPct val="130000"/>
              </a:lnSpc>
              <a:spcBef>
                <a:spcPts val="1100"/>
              </a:spcBef>
            </a:pPr>
            <a:r>
              <a:rPr sz="1200" b="1">
                <a:solidFill>
                  <a:srgbClr val="C2543C"/>
                </a:solidFill>
                <a:latin typeface="Verdana"/>
              </a:rPr>
              <a:t>—  </a:t>
            </a:r>
            <a:r>
              <a:rPr sz="1200">
                <a:solidFill>
                  <a:srgbClr val="6B5F58"/>
                </a:solidFill>
                <a:latin typeface="Verdana"/>
              </a:rPr>
              <a:t>Explain each step to someone who was not here.</a:t>
            </a:r>
          </a:p>
          <a:p>
            <a:pPr>
              <a:lnSpc>
                <a:spcPct val="130000"/>
              </a:lnSpc>
              <a:spcBef>
                <a:spcPts val="1100"/>
              </a:spcBef>
            </a:pPr>
            <a:r>
              <a:rPr sz="1200" b="1">
                <a:solidFill>
                  <a:srgbClr val="C2543C"/>
                </a:solidFill>
                <a:latin typeface="Verdana"/>
              </a:rPr>
              <a:t>—  </a:t>
            </a:r>
            <a:r>
              <a:rPr sz="1200">
                <a:solidFill>
                  <a:srgbClr val="6B5F58"/>
                </a:solidFill>
                <a:latin typeface="Verdana"/>
              </a:rPr>
              <a:t>Spot the two mistakes that cause most of the rework.</a:t>
            </a:r>
          </a:p>
          <a:p>
            <a:pPr>
              <a:lnSpc>
                <a:spcPct val="130000"/>
              </a:lnSpc>
              <a:spcBef>
                <a:spcPts val="1100"/>
              </a:spcBef>
            </a:pPr>
            <a:r>
              <a:rPr sz="1200" b="1">
                <a:solidFill>
                  <a:srgbClr val="C2543C"/>
                </a:solidFill>
                <a:latin typeface="Verdana"/>
              </a:rPr>
              <a:t>—  </a:t>
            </a:r>
            <a:r>
              <a:rPr sz="1200">
                <a:solidFill>
                  <a:srgbClr val="6B5F58"/>
                </a:solidFill>
                <a:latin typeface="Verdana"/>
              </a:rPr>
              <a:t>Know where to look when it goes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HOW THE SESSION RUNS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Three parts</a:t>
            </a:r>
          </a:p>
        </p:txBody>
      </p:sp>
      <p:sp>
        <p:nvSpPr>
          <p:cNvPr id="5" name="Rounded Rectangle 4"/>
          <p:cNvSpPr/>
          <p:nvPr/>
        </p:nvSpPr>
        <p:spPr>
          <a:xfrm>
            <a:off x="841248" y="2560320"/>
            <a:ext cx="3247125" cy="2788920"/>
          </a:xfrm>
          <a:prstGeom prst="roundRect">
            <a:avLst>
              <a:gd name="adj" fmla="val 4590"/>
            </a:avLst>
          </a:prstGeom>
          <a:solidFill>
            <a:srgbClr val="F6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41248" y="2560320"/>
            <a:ext cx="3247125"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16736" y="3108960"/>
            <a:ext cx="274320" cy="274320"/>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6736" y="3584448"/>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C2543C"/>
                </a:solidFill>
                <a:latin typeface="Georgia"/>
              </a:rPr>
              <a:t>01</a:t>
            </a:r>
          </a:p>
          <a:p>
            <a:pPr>
              <a:lnSpc>
                <a:spcPct val="115000"/>
              </a:lnSpc>
              <a:spcAft>
                <a:spcPts val="800"/>
              </a:spcAft>
            </a:pPr>
            <a:r>
              <a:rPr sz="1500" b="1" i="0">
                <a:solidFill>
                  <a:srgbClr val="2A2320"/>
                </a:solidFill>
                <a:latin typeface="Georgia"/>
              </a:rPr>
              <a:t>Show</a:t>
            </a:r>
          </a:p>
          <a:p>
            <a:pPr>
              <a:lnSpc>
                <a:spcPct val="140000"/>
              </a:lnSpc>
            </a:pPr>
            <a:r>
              <a:rPr sz="950" b="0" i="0">
                <a:solidFill>
                  <a:srgbClr val="6B5F58"/>
                </a:solidFill>
                <a:latin typeface="Verdana"/>
              </a:rPr>
              <a:t>Fifteen minutes. One worked example, start to finish.</a:t>
            </a:r>
          </a:p>
        </p:txBody>
      </p:sp>
      <p:sp>
        <p:nvSpPr>
          <p:cNvPr id="9" name="Rounded Rectangle 8"/>
          <p:cNvSpPr/>
          <p:nvPr/>
        </p:nvSpPr>
        <p:spPr>
          <a:xfrm>
            <a:off x="4472421" y="2560320"/>
            <a:ext cx="3247125" cy="2788920"/>
          </a:xfrm>
          <a:prstGeom prst="roundRect">
            <a:avLst>
              <a:gd name="adj" fmla="val 4590"/>
            </a:avLst>
          </a:prstGeom>
          <a:solidFill>
            <a:srgbClr val="F6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472421" y="2560320"/>
            <a:ext cx="3247125"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947909" y="3108960"/>
            <a:ext cx="274320" cy="274320"/>
          </a:xfrm>
          <a:prstGeom prst="ellipse">
            <a:avLst/>
          </a:prstGeom>
          <a:solidFill>
            <a:srgbClr val="E0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47909" y="3584448"/>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C2543C"/>
                </a:solidFill>
                <a:latin typeface="Georgia"/>
              </a:rPr>
              <a:t>02</a:t>
            </a:r>
          </a:p>
          <a:p>
            <a:pPr>
              <a:lnSpc>
                <a:spcPct val="115000"/>
              </a:lnSpc>
              <a:spcAft>
                <a:spcPts val="800"/>
              </a:spcAft>
            </a:pPr>
            <a:r>
              <a:rPr sz="1500" b="1" i="0">
                <a:solidFill>
                  <a:srgbClr val="2A2320"/>
                </a:solidFill>
                <a:latin typeface="Georgia"/>
              </a:rPr>
              <a:t>Do</a:t>
            </a:r>
          </a:p>
          <a:p>
            <a:pPr>
              <a:lnSpc>
                <a:spcPct val="140000"/>
              </a:lnSpc>
            </a:pPr>
            <a:r>
              <a:rPr sz="950" b="0" i="0">
                <a:solidFill>
                  <a:srgbClr val="6B5F58"/>
                </a:solidFill>
                <a:latin typeface="Verdana"/>
              </a:rPr>
              <a:t>Forty minutes. Your own data, in pairs, with help on call.</a:t>
            </a:r>
          </a:p>
        </p:txBody>
      </p:sp>
      <p:sp>
        <p:nvSpPr>
          <p:cNvPr id="13" name="Rounded Rectangle 12"/>
          <p:cNvSpPr/>
          <p:nvPr/>
        </p:nvSpPr>
        <p:spPr>
          <a:xfrm>
            <a:off x="8103595" y="2560320"/>
            <a:ext cx="3247125" cy="2788920"/>
          </a:xfrm>
          <a:prstGeom prst="roundRect">
            <a:avLst>
              <a:gd name="adj" fmla="val 4590"/>
            </a:avLst>
          </a:prstGeom>
          <a:solidFill>
            <a:srgbClr val="F6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03595" y="2560320"/>
            <a:ext cx="3247125"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579083" y="3108960"/>
            <a:ext cx="274320" cy="274320"/>
          </a:xfrm>
          <a:prstGeom prst="ellipse">
            <a:avLst/>
          </a:prstGeom>
          <a:solidFill>
            <a:srgbClr val="E0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79083" y="3584448"/>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C2543C"/>
                </a:solidFill>
                <a:latin typeface="Georgia"/>
              </a:rPr>
              <a:t>03</a:t>
            </a:r>
          </a:p>
          <a:p>
            <a:pPr>
              <a:lnSpc>
                <a:spcPct val="115000"/>
              </a:lnSpc>
              <a:spcAft>
                <a:spcPts val="800"/>
              </a:spcAft>
            </a:pPr>
            <a:r>
              <a:rPr sz="1500" b="1" i="0">
                <a:solidFill>
                  <a:srgbClr val="2A2320"/>
                </a:solidFill>
                <a:latin typeface="Georgia"/>
              </a:rPr>
              <a:t>Debrief</a:t>
            </a:r>
          </a:p>
          <a:p>
            <a:pPr>
              <a:lnSpc>
                <a:spcPct val="140000"/>
              </a:lnSpc>
            </a:pPr>
            <a:r>
              <a:rPr sz="950" b="0" i="0">
                <a:solidFill>
                  <a:srgbClr val="6B5F58"/>
                </a:solidFill>
                <a:latin typeface="Verdana"/>
              </a:rPr>
              <a:t>Twenty minutes. What broke, and what to do next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SHAPE OF THE SESSION</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Ninety minutes</a:t>
            </a:r>
          </a:p>
        </p:txBody>
      </p:sp>
      <p:sp>
        <p:nvSpPr>
          <p:cNvPr id="5" name="TextBox 4"/>
          <p:cNvSpPr txBox="1"/>
          <p:nvPr/>
        </p:nvSpPr>
        <p:spPr>
          <a:xfrm>
            <a:off x="841248" y="2560320"/>
            <a:ext cx="2078728" cy="2103120"/>
          </a:xfrm>
          <a:prstGeom prst="rect">
            <a:avLst/>
          </a:prstGeom>
          <a:noFill/>
        </p:spPr>
        <p:txBody>
          <a:bodyPr wrap="square" anchor="t" lIns="0" rIns="0" tIns="0" bIns="0">
            <a:spAutoFit/>
          </a:bodyPr>
          <a:lstStyle/>
          <a:p>
            <a:pPr algn="l">
              <a:lnSpc>
                <a:spcPct val="98000"/>
              </a:lnSpc>
              <a:spcAft>
                <a:spcPts val="800"/>
              </a:spcAft>
            </a:pPr>
            <a:r>
              <a:rPr sz="4200" b="1" i="0">
                <a:solidFill>
                  <a:srgbClr val="C2543C"/>
                </a:solidFill>
                <a:latin typeface="Georgia"/>
              </a:rPr>
              <a:t>15</a:t>
            </a:r>
          </a:p>
          <a:p>
            <a:pPr>
              <a:lnSpc>
                <a:spcPct val="115000"/>
              </a:lnSpc>
              <a:spcAft>
                <a:spcPts val="500"/>
              </a:spcAft>
            </a:pPr>
            <a:r>
              <a:rPr sz="1200" b="1" i="0">
                <a:solidFill>
                  <a:srgbClr val="2A2320"/>
                </a:solidFill>
                <a:latin typeface="Georgia"/>
              </a:rPr>
              <a:t>Minutes shown</a:t>
            </a:r>
          </a:p>
          <a:p>
            <a:pPr>
              <a:lnSpc>
                <a:spcPct val="135000"/>
              </a:lnSpc>
            </a:pPr>
            <a:r>
              <a:rPr sz="900" b="0" i="0">
                <a:solidFill>
                  <a:srgbClr val="6B5F58"/>
                </a:solidFill>
                <a:latin typeface="Verdana"/>
              </a:rPr>
              <a:t>One example, no slides after this.</a:t>
            </a:r>
          </a:p>
        </p:txBody>
      </p:sp>
      <p:sp>
        <p:nvSpPr>
          <p:cNvPr id="6" name="Rectangle 5"/>
          <p:cNvSpPr/>
          <p:nvPr/>
        </p:nvSpPr>
        <p:spPr>
          <a:xfrm>
            <a:off x="3194296" y="2697479"/>
            <a:ext cx="9525" cy="178308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8616" y="2560320"/>
            <a:ext cx="2078728" cy="2103120"/>
          </a:xfrm>
          <a:prstGeom prst="rect">
            <a:avLst/>
          </a:prstGeom>
          <a:noFill/>
        </p:spPr>
        <p:txBody>
          <a:bodyPr wrap="square" anchor="t" lIns="0" rIns="0" tIns="0" bIns="0">
            <a:spAutoFit/>
          </a:bodyPr>
          <a:lstStyle/>
          <a:p>
            <a:pPr algn="l">
              <a:lnSpc>
                <a:spcPct val="98000"/>
              </a:lnSpc>
              <a:spcAft>
                <a:spcPts val="800"/>
              </a:spcAft>
            </a:pPr>
            <a:r>
              <a:rPr sz="4200" b="1" i="0">
                <a:solidFill>
                  <a:srgbClr val="2A2320"/>
                </a:solidFill>
                <a:latin typeface="Georgia"/>
              </a:rPr>
              <a:t>40</a:t>
            </a:r>
          </a:p>
          <a:p>
            <a:pPr>
              <a:lnSpc>
                <a:spcPct val="115000"/>
              </a:lnSpc>
              <a:spcAft>
                <a:spcPts val="500"/>
              </a:spcAft>
            </a:pPr>
            <a:r>
              <a:rPr sz="1200" b="1" i="0">
                <a:solidFill>
                  <a:srgbClr val="2A2320"/>
                </a:solidFill>
                <a:latin typeface="Georgia"/>
              </a:rPr>
              <a:t>Minutes practised</a:t>
            </a:r>
          </a:p>
          <a:p>
            <a:pPr>
              <a:lnSpc>
                <a:spcPct val="135000"/>
              </a:lnSpc>
            </a:pPr>
            <a:r>
              <a:rPr sz="900" b="0" i="0">
                <a:solidFill>
                  <a:srgbClr val="6B5F58"/>
                </a:solidFill>
                <a:latin typeface="Verdana"/>
              </a:rPr>
              <a:t>Hands on keyboards, in pairs.</a:t>
            </a:r>
          </a:p>
        </p:txBody>
      </p:sp>
      <p:sp>
        <p:nvSpPr>
          <p:cNvPr id="8" name="Rectangle 7"/>
          <p:cNvSpPr/>
          <p:nvPr/>
        </p:nvSpPr>
        <p:spPr>
          <a:xfrm>
            <a:off x="5821664" y="2697479"/>
            <a:ext cx="9525" cy="178308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5984" y="2560320"/>
            <a:ext cx="2078728" cy="2103120"/>
          </a:xfrm>
          <a:prstGeom prst="rect">
            <a:avLst/>
          </a:prstGeom>
          <a:noFill/>
        </p:spPr>
        <p:txBody>
          <a:bodyPr wrap="square" anchor="t" lIns="0" rIns="0" tIns="0" bIns="0">
            <a:spAutoFit/>
          </a:bodyPr>
          <a:lstStyle/>
          <a:p>
            <a:pPr algn="l">
              <a:lnSpc>
                <a:spcPct val="98000"/>
              </a:lnSpc>
              <a:spcAft>
                <a:spcPts val="800"/>
              </a:spcAft>
            </a:pPr>
            <a:r>
              <a:rPr sz="4200" b="1" i="0">
                <a:solidFill>
                  <a:srgbClr val="2A2320"/>
                </a:solidFill>
                <a:latin typeface="Georgia"/>
              </a:rPr>
              <a:t>20</a:t>
            </a:r>
          </a:p>
          <a:p>
            <a:pPr>
              <a:lnSpc>
                <a:spcPct val="115000"/>
              </a:lnSpc>
              <a:spcAft>
                <a:spcPts val="500"/>
              </a:spcAft>
            </a:pPr>
            <a:r>
              <a:rPr sz="1200" b="1" i="0">
                <a:solidFill>
                  <a:srgbClr val="2A2320"/>
                </a:solidFill>
                <a:latin typeface="Georgia"/>
              </a:rPr>
              <a:t>Minutes debriefed</a:t>
            </a:r>
          </a:p>
          <a:p>
            <a:pPr>
              <a:lnSpc>
                <a:spcPct val="135000"/>
              </a:lnSpc>
            </a:pPr>
            <a:r>
              <a:rPr sz="900" b="0" i="0">
                <a:solidFill>
                  <a:srgbClr val="6B5F58"/>
                </a:solidFill>
                <a:latin typeface="Verdana"/>
              </a:rPr>
              <a:t>Mistakes first, then fixes.</a:t>
            </a:r>
          </a:p>
        </p:txBody>
      </p:sp>
      <p:sp>
        <p:nvSpPr>
          <p:cNvPr id="10" name="Rectangle 9"/>
          <p:cNvSpPr/>
          <p:nvPr/>
        </p:nvSpPr>
        <p:spPr>
          <a:xfrm>
            <a:off x="8449033" y="2697479"/>
            <a:ext cx="9525" cy="178308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23353" y="2560320"/>
            <a:ext cx="2078728" cy="2103120"/>
          </a:xfrm>
          <a:prstGeom prst="rect">
            <a:avLst/>
          </a:prstGeom>
          <a:noFill/>
        </p:spPr>
        <p:txBody>
          <a:bodyPr wrap="square" anchor="t" lIns="0" rIns="0" tIns="0" bIns="0">
            <a:spAutoFit/>
          </a:bodyPr>
          <a:lstStyle/>
          <a:p>
            <a:pPr algn="l">
              <a:lnSpc>
                <a:spcPct val="98000"/>
              </a:lnSpc>
              <a:spcAft>
                <a:spcPts val="800"/>
              </a:spcAft>
            </a:pPr>
            <a:r>
              <a:rPr sz="4200" b="1" i="0">
                <a:solidFill>
                  <a:srgbClr val="2A2320"/>
                </a:solidFill>
                <a:latin typeface="Georgia"/>
              </a:rPr>
              <a:t>1</a:t>
            </a:r>
          </a:p>
          <a:p>
            <a:pPr>
              <a:lnSpc>
                <a:spcPct val="115000"/>
              </a:lnSpc>
              <a:spcAft>
                <a:spcPts val="500"/>
              </a:spcAft>
            </a:pPr>
            <a:r>
              <a:rPr sz="1200" b="1" i="0">
                <a:solidFill>
                  <a:srgbClr val="2A2320"/>
                </a:solidFill>
                <a:latin typeface="Georgia"/>
              </a:rPr>
              <a:t>Page to keep</a:t>
            </a:r>
          </a:p>
          <a:p>
            <a:pPr>
              <a:lnSpc>
                <a:spcPct val="135000"/>
              </a:lnSpc>
            </a:pPr>
            <a:r>
              <a:rPr sz="900" b="0" i="0">
                <a:solidFill>
                  <a:srgbClr val="6B5F58"/>
                </a:solidFill>
                <a:latin typeface="Verdana"/>
              </a:rPr>
              <a:t>The checklist, printed.</a:t>
            </a:r>
          </a:p>
        </p:txBody>
      </p:sp>
      <p:sp>
        <p:nvSpPr>
          <p:cNvPr id="12" name="Rounded Rectangle 11"/>
          <p:cNvSpPr/>
          <p:nvPr/>
        </p:nvSpPr>
        <p:spPr>
          <a:xfrm>
            <a:off x="841248" y="4892040"/>
            <a:ext cx="10509473" cy="914400"/>
          </a:xfrm>
          <a:prstGeom prst="roundRect">
            <a:avLst>
              <a:gd name="adj" fmla="val 14000"/>
            </a:avLst>
          </a:prstGeom>
          <a:solidFill>
            <a:srgbClr val="F6E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8448" y="5111496"/>
            <a:ext cx="9595073" cy="502920"/>
          </a:xfrm>
          <a:prstGeom prst="rect">
            <a:avLst/>
          </a:prstGeom>
          <a:noFill/>
        </p:spPr>
        <p:txBody>
          <a:bodyPr wrap="square" anchor="ctr" lIns="0" rIns="0" tIns="0" bIns="0">
            <a:spAutoFit/>
          </a:bodyPr>
          <a:lstStyle/>
          <a:p>
            <a:pPr algn="l">
              <a:lnSpc>
                <a:spcPct val="130000"/>
              </a:lnSpc>
            </a:pPr>
            <a:r>
              <a:rPr sz="950" b="0" i="0">
                <a:solidFill>
                  <a:srgbClr val="2A2320"/>
                </a:solidFill>
                <a:latin typeface="Verdana"/>
              </a:rPr>
              <a:t>Timings are deliberate. If the practice block shrinks, the session stops working — cut the theory instead.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A2320"/>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7200" b="1" i="0">
                <a:solidFill>
                  <a:srgbClr val="C2543C"/>
                </a:solidFill>
                <a:latin typeface="Georgia"/>
              </a:rPr>
              <a:t>02</a:t>
            </a:r>
          </a:p>
          <a:p>
            <a:pPr>
              <a:lnSpc>
                <a:spcPct val="115000"/>
              </a:lnSpc>
              <a:spcAft>
                <a:spcPts val="1200"/>
              </a:spcAft>
            </a:pPr>
            <a:r>
              <a:rPr sz="3300" b="1" i="0">
                <a:solidFill>
                  <a:srgbClr val="FFFCF7"/>
                </a:solidFill>
                <a:latin typeface="Georgia"/>
              </a:rPr>
              <a:t>Practice</a:t>
            </a:r>
          </a:p>
          <a:p>
            <a:pPr>
              <a:lnSpc>
                <a:spcPct val="135000"/>
              </a:lnSpc>
            </a:pPr>
            <a:r>
              <a:rPr sz="1400" b="0" i="0">
                <a:solidFill>
                  <a:srgbClr val="FFFCF7"/>
                </a:solidFill>
                <a:latin typeface="Verdana"/>
              </a:rPr>
              <a:t>The exercise, the constraints and the debrief.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THE COURSE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Four modules</a:t>
            </a:r>
          </a:p>
        </p:txBody>
      </p:sp>
      <p:sp>
        <p:nvSpPr>
          <p:cNvPr id="5" name="Rectangle 4"/>
          <p:cNvSpPr/>
          <p:nvPr/>
        </p:nvSpPr>
        <p:spPr>
          <a:xfrm>
            <a:off x="841248" y="3611879"/>
            <a:ext cx="10509473" cy="1905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3524" y="3543299"/>
            <a:ext cx="173736" cy="173736"/>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953511"/>
            <a:ext cx="1781854" cy="365760"/>
          </a:xfrm>
          <a:prstGeom prst="rect">
            <a:avLst/>
          </a:prstGeom>
          <a:noFill/>
        </p:spPr>
        <p:txBody>
          <a:bodyPr wrap="square" anchor="t" lIns="0" rIns="0" tIns="0" bIns="0">
            <a:spAutoFit/>
          </a:bodyPr>
          <a:lstStyle/>
          <a:p>
            <a:pPr algn="l">
              <a:lnSpc>
                <a:spcPct val="115000"/>
              </a:lnSpc>
            </a:pPr>
            <a:r>
              <a:rPr sz="900" b="1" i="0" spc="160">
                <a:solidFill>
                  <a:srgbClr val="C2543C"/>
                </a:solidFill>
                <a:latin typeface="Verdana"/>
              </a:rPr>
              <a:t>M1</a:t>
            </a:r>
          </a:p>
        </p:txBody>
      </p:sp>
      <p:sp>
        <p:nvSpPr>
          <p:cNvPr id="8" name="TextBox 7"/>
          <p:cNvSpPr txBox="1"/>
          <p:nvPr/>
        </p:nvSpPr>
        <p:spPr>
          <a:xfrm>
            <a:off x="841248"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2A2320"/>
                </a:solidFill>
                <a:latin typeface="Georgia"/>
              </a:rPr>
              <a:t>Foundations</a:t>
            </a:r>
          </a:p>
          <a:p>
            <a:pPr>
              <a:lnSpc>
                <a:spcPct val="135000"/>
              </a:lnSpc>
            </a:pPr>
            <a:r>
              <a:rPr sz="900" b="0" i="0">
                <a:solidFill>
                  <a:srgbClr val="6B5F58"/>
                </a:solidFill>
                <a:latin typeface="Verdana"/>
              </a:rPr>
              <a:t>The process, run once, on a clean example.</a:t>
            </a:r>
          </a:p>
        </p:txBody>
      </p:sp>
      <p:sp>
        <p:nvSpPr>
          <p:cNvPr id="9" name="Oval 8"/>
          <p:cNvSpPr/>
          <p:nvPr/>
        </p:nvSpPr>
        <p:spPr>
          <a:xfrm>
            <a:off x="2865418" y="3543299"/>
            <a:ext cx="173736" cy="173736"/>
          </a:xfrm>
          <a:prstGeom prst="ellipse">
            <a:avLst/>
          </a:prstGeom>
          <a:solidFill>
            <a:srgbClr val="FFFCF7"/>
          </a:solidFill>
          <a:ln w="19050">
            <a:solidFill>
              <a:srgbClr val="DF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3142" y="2953511"/>
            <a:ext cx="1781854" cy="365760"/>
          </a:xfrm>
          <a:prstGeom prst="rect">
            <a:avLst/>
          </a:prstGeom>
          <a:noFill/>
        </p:spPr>
        <p:txBody>
          <a:bodyPr wrap="square" anchor="t" lIns="0" rIns="0" tIns="0" bIns="0">
            <a:spAutoFit/>
          </a:bodyPr>
          <a:lstStyle/>
          <a:p>
            <a:pPr algn="l">
              <a:lnSpc>
                <a:spcPct val="115000"/>
              </a:lnSpc>
            </a:pPr>
            <a:r>
              <a:rPr sz="900" b="1" i="0" spc="160">
                <a:solidFill>
                  <a:srgbClr val="6B5F58"/>
                </a:solidFill>
                <a:latin typeface="Verdana"/>
              </a:rPr>
              <a:t>M2</a:t>
            </a:r>
          </a:p>
        </p:txBody>
      </p:sp>
      <p:sp>
        <p:nvSpPr>
          <p:cNvPr id="11" name="TextBox 10"/>
          <p:cNvSpPr txBox="1"/>
          <p:nvPr/>
        </p:nvSpPr>
        <p:spPr>
          <a:xfrm>
            <a:off x="2943142"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2A2320"/>
                </a:solidFill>
                <a:latin typeface="Georgia"/>
              </a:rPr>
              <a:t>Your data</a:t>
            </a:r>
          </a:p>
          <a:p>
            <a:pPr>
              <a:lnSpc>
                <a:spcPct val="135000"/>
              </a:lnSpc>
            </a:pPr>
            <a:r>
              <a:rPr sz="900" b="0" i="0">
                <a:solidFill>
                  <a:srgbClr val="6B5F58"/>
                </a:solidFill>
                <a:latin typeface="Verdana"/>
              </a:rPr>
              <a:t>The same process against real, messy inputs.</a:t>
            </a:r>
          </a:p>
        </p:txBody>
      </p:sp>
      <p:sp>
        <p:nvSpPr>
          <p:cNvPr id="12" name="Oval 11"/>
          <p:cNvSpPr/>
          <p:nvPr/>
        </p:nvSpPr>
        <p:spPr>
          <a:xfrm>
            <a:off x="4967313" y="3543299"/>
            <a:ext cx="173736" cy="173736"/>
          </a:xfrm>
          <a:prstGeom prst="ellipse">
            <a:avLst/>
          </a:prstGeom>
          <a:solidFill>
            <a:srgbClr val="FFFCF7"/>
          </a:solidFill>
          <a:ln w="19050">
            <a:solidFill>
              <a:srgbClr val="DF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5037" y="2953511"/>
            <a:ext cx="1781854" cy="365760"/>
          </a:xfrm>
          <a:prstGeom prst="rect">
            <a:avLst/>
          </a:prstGeom>
          <a:noFill/>
        </p:spPr>
        <p:txBody>
          <a:bodyPr wrap="square" anchor="t" lIns="0" rIns="0" tIns="0" bIns="0">
            <a:spAutoFit/>
          </a:bodyPr>
          <a:lstStyle/>
          <a:p>
            <a:pPr algn="l">
              <a:lnSpc>
                <a:spcPct val="115000"/>
              </a:lnSpc>
            </a:pPr>
            <a:r>
              <a:rPr sz="900" b="1" i="0" spc="160">
                <a:solidFill>
                  <a:srgbClr val="6B5F58"/>
                </a:solidFill>
                <a:latin typeface="Verdana"/>
              </a:rPr>
              <a:t>M3</a:t>
            </a:r>
          </a:p>
        </p:txBody>
      </p:sp>
      <p:sp>
        <p:nvSpPr>
          <p:cNvPr id="14" name="TextBox 13"/>
          <p:cNvSpPr txBox="1"/>
          <p:nvPr/>
        </p:nvSpPr>
        <p:spPr>
          <a:xfrm>
            <a:off x="5045037"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2A2320"/>
                </a:solidFill>
                <a:latin typeface="Georgia"/>
              </a:rPr>
              <a:t>When it breaks</a:t>
            </a:r>
          </a:p>
          <a:p>
            <a:pPr>
              <a:lnSpc>
                <a:spcPct val="135000"/>
              </a:lnSpc>
            </a:pPr>
            <a:r>
              <a:rPr sz="900" b="0" i="0">
                <a:solidFill>
                  <a:srgbClr val="6B5F58"/>
                </a:solidFill>
                <a:latin typeface="Verdana"/>
              </a:rPr>
              <a:t>Diagnosis, and the three usual causes.</a:t>
            </a:r>
          </a:p>
        </p:txBody>
      </p:sp>
      <p:sp>
        <p:nvSpPr>
          <p:cNvPr id="15" name="Oval 14"/>
          <p:cNvSpPr/>
          <p:nvPr/>
        </p:nvSpPr>
        <p:spPr>
          <a:xfrm>
            <a:off x="7069208" y="3543299"/>
            <a:ext cx="173736" cy="173736"/>
          </a:xfrm>
          <a:prstGeom prst="ellipse">
            <a:avLst/>
          </a:prstGeom>
          <a:solidFill>
            <a:srgbClr val="FFFCF7"/>
          </a:solidFill>
          <a:ln w="19050">
            <a:solidFill>
              <a:srgbClr val="DF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6932" y="2953511"/>
            <a:ext cx="1781854" cy="365760"/>
          </a:xfrm>
          <a:prstGeom prst="rect">
            <a:avLst/>
          </a:prstGeom>
          <a:noFill/>
        </p:spPr>
        <p:txBody>
          <a:bodyPr wrap="square" anchor="t" lIns="0" rIns="0" tIns="0" bIns="0">
            <a:spAutoFit/>
          </a:bodyPr>
          <a:lstStyle/>
          <a:p>
            <a:pPr algn="l">
              <a:lnSpc>
                <a:spcPct val="115000"/>
              </a:lnSpc>
            </a:pPr>
            <a:r>
              <a:rPr sz="900" b="1" i="0" spc="160">
                <a:solidFill>
                  <a:srgbClr val="6B5F58"/>
                </a:solidFill>
                <a:latin typeface="Verdana"/>
              </a:rPr>
              <a:t>M4</a:t>
            </a:r>
          </a:p>
        </p:txBody>
      </p:sp>
      <p:sp>
        <p:nvSpPr>
          <p:cNvPr id="17" name="TextBox 16"/>
          <p:cNvSpPr txBox="1"/>
          <p:nvPr/>
        </p:nvSpPr>
        <p:spPr>
          <a:xfrm>
            <a:off x="7146932"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2A2320"/>
                </a:solidFill>
                <a:latin typeface="Georgia"/>
              </a:rPr>
              <a:t>Teaching it</a:t>
            </a:r>
          </a:p>
          <a:p>
            <a:pPr>
              <a:lnSpc>
                <a:spcPct val="135000"/>
              </a:lnSpc>
            </a:pPr>
            <a:r>
              <a:rPr sz="900" b="0" i="0">
                <a:solidFill>
                  <a:srgbClr val="6B5F58"/>
                </a:solidFill>
                <a:latin typeface="Verdana"/>
              </a:rPr>
              <a:t>You run the exercise; we watch.</a:t>
            </a:r>
          </a:p>
        </p:txBody>
      </p:sp>
      <p:sp>
        <p:nvSpPr>
          <p:cNvPr id="18" name="Oval 17"/>
          <p:cNvSpPr/>
          <p:nvPr/>
        </p:nvSpPr>
        <p:spPr>
          <a:xfrm>
            <a:off x="9171102" y="3543299"/>
            <a:ext cx="173736" cy="173736"/>
          </a:xfrm>
          <a:prstGeom prst="ellipse">
            <a:avLst/>
          </a:prstGeom>
          <a:solidFill>
            <a:srgbClr val="FFFCF7"/>
          </a:solidFill>
          <a:ln w="19050">
            <a:solidFill>
              <a:srgbClr val="DF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8826" y="2953511"/>
            <a:ext cx="1781854" cy="365760"/>
          </a:xfrm>
          <a:prstGeom prst="rect">
            <a:avLst/>
          </a:prstGeom>
          <a:noFill/>
        </p:spPr>
        <p:txBody>
          <a:bodyPr wrap="square" anchor="t" lIns="0" rIns="0" tIns="0" bIns="0">
            <a:spAutoFit/>
          </a:bodyPr>
          <a:lstStyle/>
          <a:p>
            <a:pPr algn="l">
              <a:lnSpc>
                <a:spcPct val="115000"/>
              </a:lnSpc>
            </a:pPr>
            <a:r>
              <a:rPr sz="900" b="1" i="0" spc="160">
                <a:solidFill>
                  <a:srgbClr val="6B5F58"/>
                </a:solidFill>
                <a:latin typeface="Verdana"/>
              </a:rPr>
              <a:t>AFTER</a:t>
            </a:r>
          </a:p>
        </p:txBody>
      </p:sp>
      <p:sp>
        <p:nvSpPr>
          <p:cNvPr id="20" name="TextBox 19"/>
          <p:cNvSpPr txBox="1"/>
          <p:nvPr/>
        </p:nvSpPr>
        <p:spPr>
          <a:xfrm>
            <a:off x="9248826"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2A2320"/>
                </a:solidFill>
                <a:latin typeface="Georgia"/>
              </a:rPr>
              <a:t>Practice</a:t>
            </a:r>
          </a:p>
          <a:p>
            <a:pPr>
              <a:lnSpc>
                <a:spcPct val="135000"/>
              </a:lnSpc>
            </a:pPr>
            <a:r>
              <a:rPr sz="900" b="0" i="0">
                <a:solidFill>
                  <a:srgbClr val="6B5F58"/>
                </a:solidFill>
                <a:latin typeface="Verdana"/>
              </a:rPr>
              <a:t>One review session at four weeks.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BEFORE YOU ARRIVE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What to bring</a:t>
            </a:r>
          </a:p>
        </p:txBody>
      </p:sp>
      <p:sp>
        <p:nvSpPr>
          <p:cNvPr id="5" name="Rectangle 4"/>
          <p:cNvSpPr/>
          <p:nvPr/>
        </p:nvSpPr>
        <p:spPr>
          <a:xfrm>
            <a:off x="841248" y="2560320"/>
            <a:ext cx="10509473" cy="566928"/>
          </a:xfrm>
          <a:prstGeom prst="rect">
            <a:avLst/>
          </a:prstGeom>
          <a:solidFill>
            <a:srgbClr val="2A2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7280" y="2560320"/>
            <a:ext cx="3207460" cy="566928"/>
          </a:xfrm>
          <a:prstGeom prst="rect">
            <a:avLst/>
          </a:prstGeom>
          <a:noFill/>
        </p:spPr>
        <p:txBody>
          <a:bodyPr wrap="square" anchor="ctr" lIns="0" rIns="0" tIns="0" bIns="0">
            <a:spAutoFit/>
          </a:bodyPr>
          <a:lstStyle/>
          <a:p>
            <a:pPr algn="l">
              <a:lnSpc>
                <a:spcPct val="115000"/>
              </a:lnSpc>
            </a:pPr>
            <a:r>
              <a:rPr sz="900" b="1" i="0" spc="140">
                <a:solidFill>
                  <a:srgbClr val="FFFCF7"/>
                </a:solidFill>
                <a:latin typeface="Verdana"/>
              </a:rPr>
              <a:t>ITEM</a:t>
            </a:r>
          </a:p>
        </p:txBody>
      </p:sp>
      <p:sp>
        <p:nvSpPr>
          <p:cNvPr id="7" name="TextBox 6"/>
          <p:cNvSpPr txBox="1"/>
          <p:nvPr/>
        </p:nvSpPr>
        <p:spPr>
          <a:xfrm>
            <a:off x="4670500"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CF7"/>
                </a:solidFill>
                <a:latin typeface="Verdana"/>
              </a:rPr>
              <a:t>WHY</a:t>
            </a:r>
          </a:p>
        </p:txBody>
      </p:sp>
      <p:sp>
        <p:nvSpPr>
          <p:cNvPr id="8" name="TextBox 7"/>
          <p:cNvSpPr txBox="1"/>
          <p:nvPr/>
        </p:nvSpPr>
        <p:spPr>
          <a:xfrm>
            <a:off x="6982585"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CF7"/>
                </a:solidFill>
                <a:latin typeface="Verdana"/>
              </a:rPr>
              <a:t>WHO</a:t>
            </a:r>
          </a:p>
        </p:txBody>
      </p:sp>
      <p:sp>
        <p:nvSpPr>
          <p:cNvPr id="9" name="TextBox 8"/>
          <p:cNvSpPr txBox="1"/>
          <p:nvPr/>
        </p:nvSpPr>
        <p:spPr>
          <a:xfrm>
            <a:off x="9294669"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CF7"/>
                </a:solidFill>
                <a:latin typeface="Verdana"/>
              </a:rPr>
              <a:t>BY WHEN</a:t>
            </a:r>
          </a:p>
        </p:txBody>
      </p:sp>
      <p:sp>
        <p:nvSpPr>
          <p:cNvPr id="10" name="Rectangle 9"/>
          <p:cNvSpPr/>
          <p:nvPr/>
        </p:nvSpPr>
        <p:spPr>
          <a:xfrm>
            <a:off x="841248" y="3127248"/>
            <a:ext cx="10509473" cy="566928"/>
          </a:xfrm>
          <a:prstGeom prst="rect">
            <a:avLst/>
          </a:prstGeom>
          <a:solidFill>
            <a:srgbClr val="F6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3694176"/>
            <a:ext cx="10509473" cy="635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97280" y="3127248"/>
            <a:ext cx="3207460" cy="566928"/>
          </a:xfrm>
          <a:prstGeom prst="rect">
            <a:avLst/>
          </a:prstGeom>
          <a:noFill/>
        </p:spPr>
        <p:txBody>
          <a:bodyPr wrap="square" anchor="ctr" lIns="0" rIns="0" tIns="0" bIns="0">
            <a:spAutoFit/>
          </a:bodyPr>
          <a:lstStyle/>
          <a:p>
            <a:pPr algn="l">
              <a:lnSpc>
                <a:spcPct val="115000"/>
              </a:lnSpc>
            </a:pPr>
            <a:r>
              <a:rPr sz="1100" b="1" i="0">
                <a:solidFill>
                  <a:srgbClr val="2A2320"/>
                </a:solidFill>
                <a:latin typeface="Verdana"/>
              </a:rPr>
              <a:t>A laptop</a:t>
            </a:r>
          </a:p>
        </p:txBody>
      </p:sp>
      <p:sp>
        <p:nvSpPr>
          <p:cNvPr id="13" name="TextBox 12"/>
          <p:cNvSpPr txBox="1"/>
          <p:nvPr/>
        </p:nvSpPr>
        <p:spPr>
          <a:xfrm>
            <a:off x="4670500" y="3127248"/>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The practice block is hands-on</a:t>
            </a:r>
          </a:p>
        </p:txBody>
      </p:sp>
      <p:sp>
        <p:nvSpPr>
          <p:cNvPr id="14" name="TextBox 13"/>
          <p:cNvSpPr txBox="1"/>
          <p:nvPr/>
        </p:nvSpPr>
        <p:spPr>
          <a:xfrm>
            <a:off x="6982585" y="3127248"/>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Everyone</a:t>
            </a:r>
          </a:p>
        </p:txBody>
      </p:sp>
      <p:sp>
        <p:nvSpPr>
          <p:cNvPr id="15" name="TextBox 14"/>
          <p:cNvSpPr txBox="1"/>
          <p:nvPr/>
        </p:nvSpPr>
        <p:spPr>
          <a:xfrm>
            <a:off x="9294669" y="3127248"/>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On the day</a:t>
            </a:r>
          </a:p>
        </p:txBody>
      </p:sp>
      <p:sp>
        <p:nvSpPr>
          <p:cNvPr id="16" name="Rectangle 15"/>
          <p:cNvSpPr/>
          <p:nvPr/>
        </p:nvSpPr>
        <p:spPr>
          <a:xfrm>
            <a:off x="841248" y="4261104"/>
            <a:ext cx="10509473" cy="635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3694176"/>
            <a:ext cx="3207460" cy="566928"/>
          </a:xfrm>
          <a:prstGeom prst="rect">
            <a:avLst/>
          </a:prstGeom>
          <a:noFill/>
        </p:spPr>
        <p:txBody>
          <a:bodyPr wrap="square" anchor="ctr" lIns="0" rIns="0" tIns="0" bIns="0">
            <a:spAutoFit/>
          </a:bodyPr>
          <a:lstStyle/>
          <a:p>
            <a:pPr algn="l">
              <a:lnSpc>
                <a:spcPct val="115000"/>
              </a:lnSpc>
            </a:pPr>
            <a:r>
              <a:rPr sz="1100" b="1" i="0">
                <a:solidFill>
                  <a:srgbClr val="2A2320"/>
                </a:solidFill>
                <a:latin typeface="Verdana"/>
              </a:rPr>
              <a:t>Your own dataset</a:t>
            </a:r>
          </a:p>
        </p:txBody>
      </p:sp>
      <p:sp>
        <p:nvSpPr>
          <p:cNvPr id="18" name="TextBox 17"/>
          <p:cNvSpPr txBox="1"/>
          <p:nvPr/>
        </p:nvSpPr>
        <p:spPr>
          <a:xfrm>
            <a:off x="4670500" y="3694176"/>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Practice on real inputs</a:t>
            </a:r>
          </a:p>
        </p:txBody>
      </p:sp>
      <p:sp>
        <p:nvSpPr>
          <p:cNvPr id="19" name="TextBox 18"/>
          <p:cNvSpPr txBox="1"/>
          <p:nvPr/>
        </p:nvSpPr>
        <p:spPr>
          <a:xfrm>
            <a:off x="6982585" y="3694176"/>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Everyone</a:t>
            </a:r>
          </a:p>
        </p:txBody>
      </p:sp>
      <p:sp>
        <p:nvSpPr>
          <p:cNvPr id="20" name="TextBox 19"/>
          <p:cNvSpPr txBox="1"/>
          <p:nvPr/>
        </p:nvSpPr>
        <p:spPr>
          <a:xfrm>
            <a:off x="9294669" y="3694176"/>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Day before</a:t>
            </a:r>
          </a:p>
        </p:txBody>
      </p:sp>
      <p:sp>
        <p:nvSpPr>
          <p:cNvPr id="21" name="Rectangle 20"/>
          <p:cNvSpPr/>
          <p:nvPr/>
        </p:nvSpPr>
        <p:spPr>
          <a:xfrm>
            <a:off x="841248" y="4261104"/>
            <a:ext cx="10509473" cy="566928"/>
          </a:xfrm>
          <a:prstGeom prst="rect">
            <a:avLst/>
          </a:prstGeom>
          <a:solidFill>
            <a:srgbClr val="F6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248" y="4828032"/>
            <a:ext cx="10509473" cy="635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4261104"/>
            <a:ext cx="3207460" cy="566928"/>
          </a:xfrm>
          <a:prstGeom prst="rect">
            <a:avLst/>
          </a:prstGeom>
          <a:noFill/>
        </p:spPr>
        <p:txBody>
          <a:bodyPr wrap="square" anchor="ctr" lIns="0" rIns="0" tIns="0" bIns="0">
            <a:spAutoFit/>
          </a:bodyPr>
          <a:lstStyle/>
          <a:p>
            <a:pPr algn="l">
              <a:lnSpc>
                <a:spcPct val="115000"/>
              </a:lnSpc>
            </a:pPr>
            <a:r>
              <a:rPr sz="1100" b="1" i="0">
                <a:solidFill>
                  <a:srgbClr val="2A2320"/>
                </a:solidFill>
                <a:latin typeface="Verdana"/>
              </a:rPr>
              <a:t>Access to the tool</a:t>
            </a:r>
          </a:p>
        </p:txBody>
      </p:sp>
      <p:sp>
        <p:nvSpPr>
          <p:cNvPr id="24" name="TextBox 23"/>
          <p:cNvSpPr txBox="1"/>
          <p:nvPr/>
        </p:nvSpPr>
        <p:spPr>
          <a:xfrm>
            <a:off x="4670500" y="4261104"/>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No time to fix logins</a:t>
            </a:r>
          </a:p>
        </p:txBody>
      </p:sp>
      <p:sp>
        <p:nvSpPr>
          <p:cNvPr id="25" name="TextBox 24"/>
          <p:cNvSpPr txBox="1"/>
          <p:nvPr/>
        </p:nvSpPr>
        <p:spPr>
          <a:xfrm>
            <a:off x="6982585" y="4261104"/>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Everyone</a:t>
            </a:r>
          </a:p>
        </p:txBody>
      </p:sp>
      <p:sp>
        <p:nvSpPr>
          <p:cNvPr id="26" name="TextBox 25"/>
          <p:cNvSpPr txBox="1"/>
          <p:nvPr/>
        </p:nvSpPr>
        <p:spPr>
          <a:xfrm>
            <a:off x="9294669" y="4261104"/>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Day before</a:t>
            </a:r>
          </a:p>
        </p:txBody>
      </p:sp>
      <p:sp>
        <p:nvSpPr>
          <p:cNvPr id="27" name="Rectangle 26"/>
          <p:cNvSpPr/>
          <p:nvPr/>
        </p:nvSpPr>
        <p:spPr>
          <a:xfrm>
            <a:off x="841248" y="5394959"/>
            <a:ext cx="10509473" cy="6350"/>
          </a:xfrm>
          <a:prstGeom prst="rect">
            <a:avLst/>
          </a:prstGeom>
          <a:solidFill>
            <a:srgbClr val="DFD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7280" y="4828031"/>
            <a:ext cx="3207460" cy="566928"/>
          </a:xfrm>
          <a:prstGeom prst="rect">
            <a:avLst/>
          </a:prstGeom>
          <a:noFill/>
        </p:spPr>
        <p:txBody>
          <a:bodyPr wrap="square" anchor="ctr" lIns="0" rIns="0" tIns="0" bIns="0">
            <a:spAutoFit/>
          </a:bodyPr>
          <a:lstStyle/>
          <a:p>
            <a:pPr algn="l">
              <a:lnSpc>
                <a:spcPct val="115000"/>
              </a:lnSpc>
            </a:pPr>
            <a:r>
              <a:rPr sz="1100" b="1" i="0">
                <a:solidFill>
                  <a:srgbClr val="2A2320"/>
                </a:solidFill>
                <a:latin typeface="Verdana"/>
              </a:rPr>
              <a:t>One question</a:t>
            </a:r>
          </a:p>
        </p:txBody>
      </p:sp>
      <p:sp>
        <p:nvSpPr>
          <p:cNvPr id="29" name="TextBox 28"/>
          <p:cNvSpPr txBox="1"/>
          <p:nvPr/>
        </p:nvSpPr>
        <p:spPr>
          <a:xfrm>
            <a:off x="4670500" y="4828031"/>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We answer them in the debrief</a:t>
            </a:r>
          </a:p>
        </p:txBody>
      </p:sp>
      <p:sp>
        <p:nvSpPr>
          <p:cNvPr id="30" name="TextBox 29"/>
          <p:cNvSpPr txBox="1"/>
          <p:nvPr/>
        </p:nvSpPr>
        <p:spPr>
          <a:xfrm>
            <a:off x="6982585" y="4828031"/>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Everyone</a:t>
            </a:r>
          </a:p>
        </p:txBody>
      </p:sp>
      <p:sp>
        <p:nvSpPr>
          <p:cNvPr id="31" name="TextBox 30"/>
          <p:cNvSpPr txBox="1"/>
          <p:nvPr/>
        </p:nvSpPr>
        <p:spPr>
          <a:xfrm>
            <a:off x="9294669" y="4828031"/>
            <a:ext cx="1946324" cy="566928"/>
          </a:xfrm>
          <a:prstGeom prst="rect">
            <a:avLst/>
          </a:prstGeom>
          <a:noFill/>
        </p:spPr>
        <p:txBody>
          <a:bodyPr wrap="square" anchor="ctr" lIns="0" rIns="0" tIns="0" bIns="0">
            <a:spAutoFit/>
          </a:bodyPr>
          <a:lstStyle/>
          <a:p>
            <a:pPr algn="l">
              <a:lnSpc>
                <a:spcPct val="115000"/>
              </a:lnSpc>
            </a:pPr>
            <a:r>
              <a:rPr sz="1100" b="0" i="0">
                <a:solidFill>
                  <a:srgbClr val="6B5F58"/>
                </a:solidFill>
                <a:latin typeface="Verdana"/>
              </a:rPr>
              <a:t>On the day</a:t>
            </a:r>
          </a:p>
        </p:txBody>
      </p:sp>
      <p:sp>
        <p:nvSpPr>
          <p:cNvPr id="32" name="TextBox 31"/>
          <p:cNvSpPr txBox="1"/>
          <p:nvPr/>
        </p:nvSpPr>
        <p:spPr>
          <a:xfrm>
            <a:off x="841248" y="5650992"/>
            <a:ext cx="10509473" cy="365760"/>
          </a:xfrm>
          <a:prstGeom prst="rect">
            <a:avLst/>
          </a:prstGeom>
          <a:noFill/>
        </p:spPr>
        <p:txBody>
          <a:bodyPr wrap="square" anchor="t" lIns="0" rIns="0" tIns="0" bIns="0">
            <a:spAutoFit/>
          </a:bodyPr>
          <a:lstStyle/>
          <a:p>
            <a:pPr algn="l">
              <a:lnSpc>
                <a:spcPct val="115000"/>
              </a:lnSpc>
            </a:pPr>
            <a:r>
              <a:rPr sz="900" b="0" i="0">
                <a:solidFill>
                  <a:srgbClr val="6B5F58"/>
                </a:solidFill>
                <a:latin typeface="Verdana"/>
              </a:rPr>
              <a:t>Replace the rows with your own figures. Keep one unit per column.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sp>
        <p:nvSpPr>
          <p:cNvPr id="2" name="Oval 1"/>
          <p:cNvSpPr/>
          <p:nvPr/>
        </p:nvSpPr>
        <p:spPr>
          <a:xfrm>
            <a:off x="841248" y="822960"/>
            <a:ext cx="201168" cy="201168"/>
          </a:xfrm>
          <a:prstGeom prst="ellipse">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C2543C"/>
                </a:solidFill>
                <a:latin typeface="Verdana"/>
              </a:rPr>
              <a:t>EVIDENCE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900" b="1" i="0">
                <a:solidFill>
                  <a:srgbClr val="2A2320"/>
                </a:solidFill>
                <a:latin typeface="Georgia"/>
              </a:rPr>
              <a:t>One image, one idea</a:t>
            </a:r>
          </a:p>
        </p:txBody>
      </p:sp>
      <p:sp>
        <p:nvSpPr>
          <p:cNvPr id="5" name="Rounded Rectangle 4"/>
          <p:cNvSpPr/>
          <p:nvPr/>
        </p:nvSpPr>
        <p:spPr>
          <a:xfrm>
            <a:off x="841248" y="2560320"/>
            <a:ext cx="5464926" cy="2926080"/>
          </a:xfrm>
          <a:prstGeom prst="roundRect">
            <a:avLst>
              <a:gd name="adj" fmla="val 4375"/>
            </a:avLst>
          </a:prstGeom>
          <a:solidFill>
            <a:srgbClr val="F6EFE6"/>
          </a:solidFill>
          <a:ln w="9525">
            <a:solidFill>
              <a:srgbClr val="DFD3C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229502" y="3321100"/>
            <a:ext cx="457200" cy="457200"/>
          </a:xfrm>
          <a:prstGeom prst="ellipse">
            <a:avLst/>
          </a:prstGeom>
          <a:solidFill>
            <a:srgbClr val="D78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a:off x="1934233" y="3668572"/>
            <a:ext cx="1371600" cy="822960"/>
          </a:xfrm>
          <a:prstGeom prst="rtTriangle">
            <a:avLst/>
          </a:prstGeom>
          <a:solidFill>
            <a:srgbClr val="C3BF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3136517" y="3348532"/>
            <a:ext cx="1737360" cy="1143000"/>
          </a:xfrm>
          <a:prstGeom prst="rtTriangle">
            <a:avLst/>
          </a:prstGeom>
          <a:solidFill>
            <a:srgbClr val="9F9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15636" y="4491532"/>
            <a:ext cx="3716149" cy="12700"/>
          </a:xfrm>
          <a:prstGeom prst="rect">
            <a:avLst/>
          </a:prstGeom>
          <a:solidFill>
            <a:srgbClr val="8A85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4700016"/>
            <a:ext cx="5464926" cy="365760"/>
          </a:xfrm>
          <a:prstGeom prst="rect">
            <a:avLst/>
          </a:prstGeom>
          <a:noFill/>
        </p:spPr>
        <p:txBody>
          <a:bodyPr wrap="square" anchor="t" lIns="0" rIns="0" tIns="0" bIns="0">
            <a:spAutoFit/>
          </a:bodyPr>
          <a:lstStyle/>
          <a:p>
            <a:pPr algn="ctr">
              <a:lnSpc>
                <a:spcPct val="115000"/>
              </a:lnSpc>
            </a:pPr>
            <a:r>
              <a:rPr sz="900" b="0" i="0" spc="160">
                <a:solidFill>
                  <a:srgbClr val="6B5F58"/>
                </a:solidFill>
                <a:latin typeface="Verdana"/>
              </a:rPr>
              <a:t>DROP AN IMAGE HERE</a:t>
            </a:r>
          </a:p>
        </p:txBody>
      </p:sp>
      <p:sp>
        <p:nvSpPr>
          <p:cNvPr id="11" name="TextBox 10"/>
          <p:cNvSpPr txBox="1"/>
          <p:nvPr/>
        </p:nvSpPr>
        <p:spPr>
          <a:xfrm>
            <a:off x="7037694" y="2560320"/>
            <a:ext cx="4313027" cy="1965960"/>
          </a:xfrm>
          <a:prstGeom prst="rect">
            <a:avLst/>
          </a:prstGeom>
          <a:noFill/>
        </p:spPr>
        <p:txBody>
          <a:bodyPr wrap="square" anchor="t" lIns="0" rIns="0" tIns="0" bIns="0">
            <a:spAutoFit/>
          </a:bodyPr>
          <a:lstStyle/>
          <a:p>
            <a:pPr algn="l">
              <a:lnSpc>
                <a:spcPct val="120000"/>
              </a:lnSpc>
              <a:spcAft>
                <a:spcPts val="1400"/>
              </a:spcAft>
            </a:pPr>
            <a:r>
              <a:rPr sz="1700" b="1" i="0">
                <a:solidFill>
                  <a:srgbClr val="2A2320"/>
                </a:solidFill>
                <a:latin typeface="Georgia"/>
              </a:rPr>
              <a:t>Show the worked example</a:t>
            </a:r>
          </a:p>
          <a:p>
            <a:pPr>
              <a:lnSpc>
                <a:spcPct val="145000"/>
              </a:lnSpc>
              <a:spcAft>
                <a:spcPts val="1600"/>
              </a:spcAft>
            </a:pPr>
            <a:r>
              <a:rPr sz="1200" b="0" i="0">
                <a:solidFill>
                  <a:srgbClr val="6B5F58"/>
                </a:solidFill>
                <a:latin typeface="Verdana"/>
              </a:rPr>
              <a:t>A screenshot of the finished exercise gives people something to aim at. Put it up before they start, leave it up while they work, and refer back to it in the debrief.</a:t>
            </a:r>
          </a:p>
        </p:txBody>
      </p:sp>
      <p:sp>
        <p:nvSpPr>
          <p:cNvPr id="12" name="Rectangle 11"/>
          <p:cNvSpPr/>
          <p:nvPr/>
        </p:nvSpPr>
        <p:spPr>
          <a:xfrm>
            <a:off x="7037694" y="4617720"/>
            <a:ext cx="914400" cy="31750"/>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37694" y="4864608"/>
            <a:ext cx="4313027" cy="457200"/>
          </a:xfrm>
          <a:prstGeom prst="rect">
            <a:avLst/>
          </a:prstGeom>
          <a:noFill/>
        </p:spPr>
        <p:txBody>
          <a:bodyPr wrap="square" anchor="t" lIns="0" rIns="0" tIns="0" bIns="0">
            <a:spAutoFit/>
          </a:bodyPr>
          <a:lstStyle/>
          <a:p>
            <a:pPr algn="l">
              <a:lnSpc>
                <a:spcPct val="135000"/>
              </a:lnSpc>
            </a:pPr>
            <a:r>
              <a:rPr sz="900" b="0" i="0">
                <a:solidFill>
                  <a:srgbClr val="6B5F58"/>
                </a:solidFill>
                <a:latin typeface="Verdana"/>
              </a:rPr>
              <a:t>Caption the image: what it shows and where it came from.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A2320"/>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7200" b="1" i="0">
                <a:solidFill>
                  <a:srgbClr val="C2543C"/>
                </a:solidFill>
                <a:latin typeface="Georgia"/>
              </a:rPr>
              <a:t>03</a:t>
            </a:r>
          </a:p>
          <a:p>
            <a:pPr>
              <a:lnSpc>
                <a:spcPct val="115000"/>
              </a:lnSpc>
              <a:spcAft>
                <a:spcPts val="1200"/>
              </a:spcAft>
            </a:pPr>
            <a:r>
              <a:rPr sz="3300" b="1" i="0">
                <a:solidFill>
                  <a:srgbClr val="FFFCF7"/>
                </a:solidFill>
                <a:latin typeface="Georgia"/>
              </a:rPr>
              <a:t>Take-away</a:t>
            </a:r>
          </a:p>
          <a:p>
            <a:pPr>
              <a:lnSpc>
                <a:spcPct val="135000"/>
              </a:lnSpc>
            </a:pPr>
            <a:r>
              <a:rPr sz="1400" b="0" i="0">
                <a:solidFill>
                  <a:srgbClr val="FFFCF7"/>
                </a:solidFill>
                <a:latin typeface="Verdana"/>
              </a:rPr>
              <a:t>What to keep, and what to try before we meet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EFEA"/>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15568" y="1463040"/>
            <a:ext cx="1097280" cy="1143000"/>
          </a:xfrm>
          <a:prstGeom prst="rect">
            <a:avLst/>
          </a:prstGeom>
          <a:noFill/>
        </p:spPr>
        <p:txBody>
          <a:bodyPr wrap="square" anchor="t" lIns="0" rIns="0" tIns="0" bIns="0">
            <a:spAutoFit/>
          </a:bodyPr>
          <a:lstStyle/>
          <a:p>
            <a:pPr algn="l">
              <a:lnSpc>
                <a:spcPct val="90000"/>
              </a:lnSpc>
            </a:pPr>
            <a:r>
              <a:rPr sz="8400" b="1" i="0">
                <a:solidFill>
                  <a:srgbClr val="D17E6B"/>
                </a:solidFill>
                <a:latin typeface="Georgia"/>
              </a:rPr>
              <a:t>“</a:t>
            </a:r>
          </a:p>
        </p:txBody>
      </p:sp>
      <p:sp>
        <p:nvSpPr>
          <p:cNvPr id="4" name="TextBox 3"/>
          <p:cNvSpPr txBox="1"/>
          <p:nvPr/>
        </p:nvSpPr>
        <p:spPr>
          <a:xfrm>
            <a:off x="1115568" y="2697480"/>
            <a:ext cx="9046433" cy="2377440"/>
          </a:xfrm>
          <a:prstGeom prst="rect">
            <a:avLst/>
          </a:prstGeom>
          <a:noFill/>
        </p:spPr>
        <p:txBody>
          <a:bodyPr wrap="square" anchor="t" lIns="0" rIns="0" tIns="0" bIns="0">
            <a:spAutoFit/>
          </a:bodyPr>
          <a:lstStyle/>
          <a:p>
            <a:pPr algn="l">
              <a:lnSpc>
                <a:spcPct val="128000"/>
              </a:lnSpc>
              <a:spcAft>
                <a:spcPts val="2200"/>
              </a:spcAft>
            </a:pPr>
            <a:r>
              <a:rPr sz="2500" b="0" i="0">
                <a:solidFill>
                  <a:srgbClr val="2A2320"/>
                </a:solidFill>
                <a:latin typeface="Georgia"/>
              </a:rPr>
              <a:t>I had read the guide twice. I only understood it once I broke it myself.</a:t>
            </a:r>
          </a:p>
          <a:p>
            <a:pPr>
              <a:lnSpc>
                <a:spcPct val="115000"/>
              </a:lnSpc>
            </a:pPr>
            <a:r>
              <a:rPr sz="1000" b="1" i="0" spc="180">
                <a:solidFill>
                  <a:srgbClr val="6B5F58"/>
                </a:solidFill>
                <a:latin typeface="Verdana"/>
              </a:rPr>
              <a:t>PARTICIPANT, PREVIOUS COHORT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A2320"/>
        </a:solidFill>
        <a:effectLst/>
      </p:bgPr>
    </p:bg>
    <p:spTree>
      <p:nvGrpSpPr>
        <p:cNvPr id="1" name=""/>
        <p:cNvGrpSpPr/>
        <p:nvPr/>
      </p:nvGrpSpPr>
      <p:grpSpPr/>
      <p:sp>
        <p:nvSpPr>
          <p:cNvPr id="2" name="Rectangle 1"/>
          <p:cNvSpPr/>
          <p:nvPr/>
        </p:nvSpPr>
        <p:spPr>
          <a:xfrm>
            <a:off x="0" y="0"/>
            <a:ext cx="12191969" cy="310896"/>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331720"/>
            <a:ext cx="6936252" cy="2194560"/>
          </a:xfrm>
          <a:prstGeom prst="rect">
            <a:avLst/>
          </a:prstGeom>
          <a:noFill/>
        </p:spPr>
        <p:txBody>
          <a:bodyPr wrap="square" anchor="t" lIns="0" rIns="0" tIns="0" bIns="0">
            <a:spAutoFit/>
          </a:bodyPr>
          <a:lstStyle/>
          <a:p>
            <a:pPr algn="l">
              <a:lnSpc>
                <a:spcPct val="105000"/>
              </a:lnSpc>
              <a:spcAft>
                <a:spcPts val="1400"/>
              </a:spcAft>
            </a:pPr>
            <a:r>
              <a:rPr sz="4000" b="1" i="0">
                <a:solidFill>
                  <a:srgbClr val="FFFCF7"/>
                </a:solidFill>
                <a:latin typeface="Georgia"/>
              </a:rPr>
              <a:t>Before next time</a:t>
            </a:r>
          </a:p>
          <a:p>
            <a:pPr>
              <a:lnSpc>
                <a:spcPct val="140000"/>
              </a:lnSpc>
            </a:pPr>
            <a:r>
              <a:rPr sz="1400" b="0" i="0">
                <a:solidFill>
                  <a:srgbClr val="FFFCF7"/>
                </a:solidFill>
                <a:latin typeface="Verdana"/>
              </a:rPr>
              <a:t>Try the process once on your own work. Bring what went wrong — that is the material for module two.</a:t>
            </a:r>
          </a:p>
        </p:txBody>
      </p:sp>
      <p:sp>
        <p:nvSpPr>
          <p:cNvPr id="4" name="TextBox 3"/>
          <p:cNvSpPr txBox="1"/>
          <p:nvPr/>
        </p:nvSpPr>
        <p:spPr>
          <a:xfrm>
            <a:off x="841248" y="5349240"/>
            <a:ext cx="10509473" cy="822960"/>
          </a:xfrm>
          <a:prstGeom prst="rect">
            <a:avLst/>
          </a:prstGeom>
          <a:noFill/>
        </p:spPr>
        <p:txBody>
          <a:bodyPr wrap="square" anchor="t" lIns="0" rIns="0" tIns="0" bIns="0">
            <a:spAutoFit/>
          </a:bodyPr>
          <a:lstStyle/>
          <a:p>
            <a:pPr algn="l">
              <a:lnSpc>
                <a:spcPct val="115000"/>
              </a:lnSpc>
            </a:pPr>
            <a:r>
              <a:rPr sz="900" b="0" i="0" spc="200">
                <a:solidFill>
                  <a:srgbClr val="FFFCF7"/>
                </a:solidFill>
                <a:latin typeface="Verdana"/>
              </a:rPr>
              <a:t>YOUR.NAME@EXAMPLE.COM · +00 000 0000 · EXAMPLE.COM</a:t>
            </a:r>
          </a:p>
        </p:txBody>
      </p:sp>
      <p:sp>
        <p:nvSpPr>
          <p:cNvPr id="5" name="Rectangle 4"/>
          <p:cNvSpPr/>
          <p:nvPr/>
        </p:nvSpPr>
        <p:spPr>
          <a:xfrm>
            <a:off x="841248" y="5257800"/>
            <a:ext cx="1280160" cy="31750"/>
          </a:xfrm>
          <a:prstGeom prst="rect">
            <a:avLst/>
          </a:prstGeom>
          <a:solidFill>
            <a:srgbClr val="C2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theme/theme1.xml><?xml version="1.0" encoding="utf-8"?>
<a:theme xmlns:a="http://schemas.openxmlformats.org/drawingml/2006/main" name="Office Theme">
  <a:themeElements>
    <a:clrScheme name="Office">
      <a:dk1>
        <a:srgbClr val="2A2320"/>
      </a:dk1>
      <a:lt1>
        <a:srgbClr val="FFFCF7"/>
      </a:lt1>
      <a:dk2>
        <a:srgbClr val="2A2320"/>
      </a:dk2>
      <a:lt2>
        <a:srgbClr val="F6EFE6"/>
      </a:lt2>
      <a:accent1>
        <a:srgbClr val="C2543C"/>
      </a:accent1>
      <a:accent2>
        <a:srgbClr val="D78F7D"/>
      </a:accent2>
      <a:accent3>
        <a:srgbClr val="2A2320"/>
      </a:accent3>
      <a:accent4>
        <a:srgbClr val="6B5F58"/>
      </a:accent4>
      <a:accent5>
        <a:srgbClr val="AAA5A1"/>
      </a:accent5>
      <a:accent6>
        <a:srgbClr val="DFD3C6"/>
      </a:accent6>
      <a:hlink>
        <a:srgbClr val="C2543C"/>
      </a:hlink>
      <a:folHlink>
        <a:srgbClr val="6B5F58"/>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Chalk — CubeOffice template</dc:title>
  <dc:subject>Training</dc:subject>
  <dc:creator>CubeOffice</dc:creator>
  <cp:keywords>CubeOffice, template, training, en</cp:keywords>
  <dc:description>CubeOffice original template. Free to use, edit and redistribute, with or without attribution, for personal and commercial work.</dc:description>
  <cp:lastModifiedBy>CubeOffice</cp:lastModifiedBy>
  <cp:revision>1</cp:revision>
  <dcterms:created xsi:type="dcterms:W3CDTF">2026-01-01T00:00:00Z</dcterms:created>
  <dcterms:modified xsi:type="dcterms:W3CDTF">2026-01-01T00:00:00Z</dcterms:modified>
  <cp:category>Training</cp:category>
</cp:coreProperties>
</file>