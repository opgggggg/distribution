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0"/>
            <a:ext cx="1463040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0"/>
            <a:ext cx="1463040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0"/>
            <a:ext cx="3793066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0"/>
            <a:ext cx="5147733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0"/>
            <a:ext cx="3793066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68680"/>
            <a:ext cx="192024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841248" y="1024127"/>
            <a:ext cx="1536192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41248" y="1179576"/>
            <a:ext cx="1152144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841248" y="1335024"/>
            <a:ext cx="768096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ight Triangle 5"/>
          <p:cNvSpPr/>
          <p:nvPr/>
        </p:nvSpPr>
        <p:spPr>
          <a:xfrm>
            <a:off x="8900129" y="4572000"/>
            <a:ext cx="3291840" cy="2286000"/>
          </a:xfrm>
          <a:prstGeom prst="rtTriangle">
            <a:avLst/>
          </a:prstGeom>
          <a:solidFill>
            <a:srgbClr val="E2CB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84831"/>
            <a:ext cx="786384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400"/>
              </a:spcAft>
            </a:pPr>
            <a:r>
              <a:rPr sz="950" b="1" i="0" spc="240">
                <a:solidFill>
                  <a:srgbClr val="B4762A"/>
                </a:solidFill>
                <a:latin typeface="Trebuchet MS"/>
              </a:rPr>
              <a:t>BUSINESS PLAN · FY2026</a:t>
            </a:r>
          </a:p>
          <a:p>
            <a:pPr>
              <a:lnSpc>
                <a:spcPct val="102000"/>
              </a:lnSpc>
              <a:spcAft>
                <a:spcPts val="1600"/>
              </a:spcAft>
            </a:pPr>
            <a:r>
              <a:rPr sz="5200" b="1" i="0">
                <a:solidFill>
                  <a:srgbClr val="FFFFFF"/>
                </a:solidFill>
                <a:latin typeface="Georgia"/>
              </a:rPr>
              <a:t>A plan we can fund and defend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The market we are entering, the product we will sell, and what it costs to get there.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87568"/>
            <a:ext cx="7863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180">
                <a:solidFill>
                  <a:srgbClr val="FFFFFF"/>
                </a:solidFill>
                <a:latin typeface="Trebuchet MS"/>
              </a:rPr>
              <a:t>YOUR TEAM · YOUR ORGANIZATION · MONTH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What we will 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035808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755648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The market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Who is buying today and how fast that is changing.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02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242816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755648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Our opening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The gap we can reach before anyone else does.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449823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755648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The product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What we build first and what we deliberately leave out.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464" y="2176272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7464" y="3035808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421864" y="2139696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The model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How a customer becomes revenue, and at what margin.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464" y="3383280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07464" y="4242816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421864" y="3346704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The plan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Twelve months, four milestones, named owners.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7464" y="4590288"/>
            <a:ext cx="777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952" b="1" i="0">
                <a:solidFill>
                  <a:srgbClr val="B4762A"/>
                </a:solidFill>
                <a:latin typeface="Georgia"/>
              </a:rPr>
              <a:t>06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07464" y="5449823"/>
            <a:ext cx="4843256" cy="9525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421864" y="4553712"/>
            <a:ext cx="3928856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16233A"/>
                </a:solidFill>
                <a:latin typeface="Georgia"/>
              </a:rPr>
              <a:t>The ask</a:t>
            </a:r>
          </a:p>
          <a:p>
            <a:pPr>
              <a:lnSpc>
                <a:spcPct val="130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What we need, and what it buys.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B4762A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The market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Size, structure and where the money currently goes.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Why this, and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4834357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500" b="0" i="0">
                <a:solidFill>
                  <a:srgbClr val="16233A"/>
                </a:solidFill>
                <a:latin typeface="Trebuchet MS"/>
              </a:rPr>
              <a:t>State the thesis in three sentences. Name the change in the market, the reason the current answer no longer fits, and the specific position you intend to hold. A reader should be able to repeat it back after one pass.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95645" y="2615184"/>
            <a:ext cx="9525" cy="260604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7125" y="2560320"/>
            <a:ext cx="4943595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The change: what shifted in the last 18 months.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The gap: what customers now do instead, and what it costs them.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Our claim: the one thing we do better than the alternative.</a:t>
            </a:r>
          </a:p>
          <a:p>
            <a:pPr>
              <a:lnSpc>
                <a:spcPct val="130000"/>
              </a:lnSpc>
              <a:spcBef>
                <a:spcPts val="1100"/>
              </a:spcBef>
            </a:pPr>
            <a:r>
              <a:rPr sz="1300" b="1">
                <a:solidFill>
                  <a:srgbClr val="B4762A"/>
                </a:solidFill>
                <a:latin typeface="Trebuchet MS"/>
              </a:rPr>
              <a:t>—  </a:t>
            </a:r>
            <a:r>
              <a:rPr sz="1300">
                <a:solidFill>
                  <a:srgbClr val="55627A"/>
                </a:solidFill>
                <a:latin typeface="Trebuchet MS"/>
              </a:rPr>
              <a:t>The proof: the evidence we already 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Three commitments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3247125" cy="278892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841248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841248" y="2560320"/>
            <a:ext cx="3247125" cy="50292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316736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B4762A"/>
                </a:solidFill>
                <a:latin typeface="Georgia"/>
              </a:rPr>
              <a:t>01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Focus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5627A"/>
                </a:solidFill>
                <a:latin typeface="Trebuchet MS"/>
              </a:rPr>
              <a:t>One segment, one problem, until it is unambiguously solved.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72421" y="2560320"/>
            <a:ext cx="3247125" cy="278892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4472421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4472421" y="2560320"/>
            <a:ext cx="3247125" cy="50292"/>
          </a:xfrm>
          <a:prstGeom prst="rect">
            <a:avLst/>
          </a:prstGeom>
          <a:solidFill>
            <a:srgbClr val="DDC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947909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B4762A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Margin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5627A"/>
                </a:solidFill>
                <a:latin typeface="Trebuchet MS"/>
              </a:rPr>
              <a:t>Price on the value delivered, not on the cost to build.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3595" y="2560320"/>
            <a:ext cx="3247125" cy="278892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8103595" y="2560320"/>
            <a:ext cx="0" cy="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103595" y="2560320"/>
            <a:ext cx="3247125" cy="50292"/>
          </a:xfrm>
          <a:prstGeom prst="rect">
            <a:avLst/>
          </a:prstGeom>
          <a:solidFill>
            <a:srgbClr val="DDC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579083" y="3218687"/>
            <a:ext cx="2296149" cy="13258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1000"/>
              </a:spcAft>
            </a:pPr>
            <a:r>
              <a:rPr sz="950" b="1" i="0" spc="160">
                <a:solidFill>
                  <a:srgbClr val="B4762A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600" b="1" i="0">
                <a:solidFill>
                  <a:srgbClr val="16233A"/>
                </a:solidFill>
                <a:latin typeface="Georgia"/>
              </a:rPr>
              <a:t>Discipline</a:t>
            </a:r>
          </a:p>
          <a:p>
            <a:pPr>
              <a:lnSpc>
                <a:spcPct val="140000"/>
              </a:lnSpc>
            </a:pPr>
            <a:r>
              <a:rPr sz="1000" b="0" i="0">
                <a:solidFill>
                  <a:srgbClr val="55627A"/>
                </a:solidFill>
                <a:latin typeface="Trebuchet MS"/>
              </a:rPr>
              <a:t>Every quarter has one milestone that can be judged pass or fail.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What the plan assumes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B4762A"/>
                </a:solidFill>
                <a:latin typeface="Georgia"/>
              </a:rPr>
              <a:t>$4.2M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Revenue, year 2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Bottom-up from named accounts.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94296" y="2697479"/>
            <a:ext cx="9525" cy="178308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468616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6233A"/>
                </a:solidFill>
                <a:latin typeface="Georgia"/>
              </a:rPr>
              <a:t>62%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Gross margin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At the pricing in the model tab.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21664" y="2697479"/>
            <a:ext cx="9525" cy="178308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095984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6233A"/>
                </a:solidFill>
                <a:latin typeface="Georgia"/>
              </a:rPr>
              <a:t>14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Headcount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Nine in delivery, five in go-to-market.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9033" y="2697479"/>
            <a:ext cx="9525" cy="178308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23353" y="2560320"/>
            <a:ext cx="207872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8000"/>
              </a:lnSpc>
              <a:spcAft>
                <a:spcPts val="800"/>
              </a:spcAft>
            </a:pPr>
            <a:r>
              <a:rPr sz="4400" b="1" i="0">
                <a:solidFill>
                  <a:srgbClr val="16233A"/>
                </a:solidFill>
                <a:latin typeface="Georgia"/>
              </a:rPr>
              <a:t>18 mo</a:t>
            </a:r>
          </a:p>
          <a:p>
            <a:pPr>
              <a:lnSpc>
                <a:spcPct val="115000"/>
              </a:lnSpc>
              <a:spcAft>
                <a:spcPts val="500"/>
              </a:spcAft>
            </a:pPr>
            <a:r>
              <a:rPr sz="1300" b="1" i="0">
                <a:solidFill>
                  <a:srgbClr val="16233A"/>
                </a:solidFill>
                <a:latin typeface="Georgia"/>
              </a:rPr>
              <a:t>Runway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From close, at the plan's burn.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4892040"/>
            <a:ext cx="10509473" cy="914400"/>
          </a:xfrm>
          <a:prstGeom prst="rect">
            <a:avLst/>
          </a:prstGeom>
          <a:solidFill>
            <a:srgbClr val="F4EC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298448" y="5111496"/>
            <a:ext cx="9595073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16233A"/>
                </a:solidFill>
                <a:latin typeface="Trebuchet MS"/>
              </a:rPr>
              <a:t>Every figure traces to the model. Change an assumption there and this slide changes with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B4762A"/>
                </a:solidFill>
                <a:latin typeface="Georgia"/>
              </a:rPr>
              <a:t>02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The plan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What we do in the next four quarters.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TWELVE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Milestones and owners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3611879"/>
            <a:ext cx="10509473" cy="190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763524" y="3543299"/>
            <a:ext cx="173736" cy="17373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B4762A"/>
                </a:solidFill>
                <a:latin typeface="Trebuchet MS"/>
              </a:rPr>
              <a:t>Q1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Design partners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Three signed, paid, and using it weekly.</a:t>
            </a:r>
          </a:p>
        </p:txBody>
      </p:sp>
      <p:sp>
        <p:nvSpPr>
          <p:cNvPr id="9" name="Oval 8"/>
          <p:cNvSpPr/>
          <p:nvPr/>
        </p:nvSpPr>
        <p:spPr>
          <a:xfrm>
            <a:off x="2865418" y="3543299"/>
            <a:ext cx="173736" cy="173736"/>
          </a:xfrm>
          <a:prstGeom prst="ellipse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4314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B4762A"/>
                </a:solidFill>
                <a:latin typeface="Trebuchet MS"/>
              </a:rP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4314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General release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Self-serve onboarding without a call.</a:t>
            </a:r>
          </a:p>
        </p:txBody>
      </p:sp>
      <p:sp>
        <p:nvSpPr>
          <p:cNvPr id="12" name="Oval 11"/>
          <p:cNvSpPr/>
          <p:nvPr/>
        </p:nvSpPr>
        <p:spPr>
          <a:xfrm>
            <a:off x="4967313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45037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5627A"/>
                </a:solidFill>
                <a:latin typeface="Trebuchet MS"/>
              </a:rPr>
              <a:t>Q3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5037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First channel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One partner producing repeatable volume.</a:t>
            </a:r>
          </a:p>
        </p:txBody>
      </p:sp>
      <p:sp>
        <p:nvSpPr>
          <p:cNvPr id="15" name="Oval 14"/>
          <p:cNvSpPr/>
          <p:nvPr/>
        </p:nvSpPr>
        <p:spPr>
          <a:xfrm>
            <a:off x="7069208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46932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5627A"/>
                </a:solidFill>
                <a:latin typeface="Trebuchet MS"/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46932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Second segment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Adjacent buyer, same product.</a:t>
            </a:r>
          </a:p>
        </p:txBody>
      </p:sp>
      <p:sp>
        <p:nvSpPr>
          <p:cNvPr id="18" name="Oval 17"/>
          <p:cNvSpPr/>
          <p:nvPr/>
        </p:nvSpPr>
        <p:spPr>
          <a:xfrm>
            <a:off x="9171102" y="3543299"/>
            <a:ext cx="173736" cy="1737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48826" y="2953511"/>
            <a:ext cx="178185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60">
                <a:solidFill>
                  <a:srgbClr val="55627A"/>
                </a:solidFill>
                <a:latin typeface="Trebuchet MS"/>
              </a:rPr>
              <a:t>Q1+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8826" y="3995928"/>
            <a:ext cx="178185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 i="0">
                <a:solidFill>
                  <a:srgbClr val="16233A"/>
                </a:solidFill>
                <a:latin typeface="Georgia"/>
              </a:rPr>
              <a:t>Scale</a:t>
            </a:r>
          </a:p>
          <a:p>
            <a:pPr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Hiring against proven unit economics.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Where the money goes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10509473" cy="566928"/>
          </a:xfrm>
          <a:prstGeom prst="rect">
            <a:avLst/>
          </a:prstGeom>
          <a:solidFill>
            <a:srgbClr val="162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97280" y="2560320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AREA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70500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YEAR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82585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YEAR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669" y="2560320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140">
                <a:solidFill>
                  <a:srgbClr val="FFFFFF"/>
                </a:solidFill>
                <a:latin typeface="Trebuchet MS"/>
              </a:rPr>
              <a:t>SHARE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127248"/>
            <a:ext cx="10509473" cy="566928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841248" y="3694176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97280" y="3127248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Engineering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0500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$980K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2585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$1.6M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94669" y="3127248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46%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4261104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97280" y="3694176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Go-to-market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0500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$520K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2585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$1.1M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4669" y="3694176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31%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4261104"/>
            <a:ext cx="10509473" cy="566928"/>
          </a:xfrm>
          <a:prstGeom prst="rect">
            <a:avLst/>
          </a:prstGeom>
          <a:solidFill>
            <a:srgbClr val="F6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841248" y="4828032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097280" y="4261104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70500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$240K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82585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$420K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669" y="4261104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13%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394959"/>
            <a:ext cx="10509473" cy="6350"/>
          </a:xfrm>
          <a:prstGeom prst="rect">
            <a:avLst/>
          </a:prstGeom>
          <a:solidFill>
            <a:srgbClr val="D9D3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097280" y="4828031"/>
            <a:ext cx="32074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6233A"/>
                </a:solidFill>
                <a:latin typeface="Trebuchet MS"/>
              </a:rPr>
              <a:t>Reserve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70500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$180K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82585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$300K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4669" y="4828031"/>
            <a:ext cx="1946324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5627A"/>
                </a:solidFill>
                <a:latin typeface="Trebuchet MS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5650992"/>
            <a:ext cx="1050947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Replace the rows with your own figures. Keep one unit per column.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" y="896112"/>
            <a:ext cx="96012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1115568"/>
            <a:ext cx="105094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 i="0" spc="220">
                <a:solidFill>
                  <a:srgbClr val="B4762A"/>
                </a:solidFill>
                <a:latin typeface="Trebuchet MS"/>
              </a:rPr>
              <a:t>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499616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 i="0">
                <a:solidFill>
                  <a:srgbClr val="16233A"/>
                </a:solidFill>
                <a:latin typeface="Georgia"/>
              </a:rPr>
              <a:t>One image, one idea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560320"/>
            <a:ext cx="5464926" cy="2926080"/>
          </a:xfrm>
          <a:prstGeom prst="rect">
            <a:avLst/>
          </a:prstGeom>
          <a:solidFill>
            <a:srgbClr val="F6F3EE"/>
          </a:solidFill>
          <a:ln w="9525">
            <a:solidFill>
              <a:srgbClr val="D9D3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4229502" y="3321100"/>
            <a:ext cx="457200" cy="457200"/>
          </a:xfrm>
          <a:prstGeom prst="ellipse">
            <a:avLst/>
          </a:prstGeom>
          <a:solidFill>
            <a:srgbClr val="CEA6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Triangle 6"/>
          <p:cNvSpPr/>
          <p:nvPr/>
        </p:nvSpPr>
        <p:spPr>
          <a:xfrm>
            <a:off x="1934233" y="3668572"/>
            <a:ext cx="1371600" cy="822960"/>
          </a:xfrm>
          <a:prstGeom prst="rtTriangle">
            <a:avLst/>
          </a:prstGeom>
          <a:solidFill>
            <a:srgbClr val="BEC1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ight Triangle 7"/>
          <p:cNvSpPr/>
          <p:nvPr/>
        </p:nvSpPr>
        <p:spPr>
          <a:xfrm>
            <a:off x="3136517" y="3348532"/>
            <a:ext cx="1737360" cy="1143000"/>
          </a:xfrm>
          <a:prstGeom prst="rtTriangle">
            <a:avLst/>
          </a:prstGeom>
          <a:solidFill>
            <a:srgbClr val="969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715636" y="4491532"/>
            <a:ext cx="3716149" cy="12700"/>
          </a:xfrm>
          <a:prstGeom prst="rect">
            <a:avLst/>
          </a:prstGeom>
          <a:solidFill>
            <a:srgbClr val="7F86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8" y="4700016"/>
            <a:ext cx="546492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0" spc="160">
                <a:solidFill>
                  <a:srgbClr val="55627A"/>
                </a:solidFill>
                <a:latin typeface="Trebuchet MS"/>
              </a:rPr>
              <a:t>DROP AN IMAGE HERE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37694" y="2560320"/>
            <a:ext cx="4313027" cy="1965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1400"/>
              </a:spcAft>
            </a:pPr>
            <a:r>
              <a:rPr sz="1800" b="1" i="0">
                <a:solidFill>
                  <a:srgbClr val="16233A"/>
                </a:solidFill>
                <a:latin typeface="Georgia"/>
              </a:rPr>
              <a:t>Show the thing itself</a:t>
            </a:r>
          </a:p>
          <a:p>
            <a:pPr>
              <a:lnSpc>
                <a:spcPct val="145000"/>
              </a:lnSpc>
              <a:spcAft>
                <a:spcPts val="1600"/>
              </a:spcAft>
            </a:pPr>
            <a:r>
              <a:rPr sz="1300" b="0" i="0">
                <a:solidFill>
                  <a:srgbClr val="55627A"/>
                </a:solidFill>
                <a:latin typeface="Trebuchet MS"/>
              </a:rPr>
              <a:t>One screenshot of the product doing the job, or one chart that makes the claim unarguable. Not a stock photograph, and not a diagram of the org.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037694" y="4617720"/>
            <a:ext cx="91440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037694" y="4864608"/>
            <a:ext cx="43130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50" b="0" i="0">
                <a:solidFill>
                  <a:srgbClr val="55627A"/>
                </a:solidFill>
                <a:latin typeface="Trebuchet MS"/>
              </a:rPr>
              <a:t>Caption the image: what it shows and where it came from.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286000"/>
            <a:ext cx="8680673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  <a:spcAft>
                <a:spcPts val="600"/>
              </a:spcAft>
            </a:pPr>
            <a:r>
              <a:rPr sz="7600" b="1" i="0">
                <a:solidFill>
                  <a:srgbClr val="B4762A"/>
                </a:solidFill>
                <a:latin typeface="Georgia"/>
              </a:rPr>
              <a:t>03</a:t>
            </a:r>
          </a:p>
          <a:p>
            <a:pPr>
              <a:lnSpc>
                <a:spcPct val="115000"/>
              </a:lnSpc>
              <a:spcAft>
                <a:spcPts val="1200"/>
              </a:spcAft>
            </a:pPr>
            <a:r>
              <a:rPr sz="3500" b="1" i="0">
                <a:solidFill>
                  <a:srgbClr val="FFFFFF"/>
                </a:solidFill>
                <a:latin typeface="Georgia"/>
              </a:rPr>
              <a:t>The ask</a:t>
            </a:r>
          </a:p>
          <a:p>
            <a:pPr>
              <a:lnSpc>
                <a:spcPct val="135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Capital, hiring and the returns we underwrite.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15568" y="1463040"/>
            <a:ext cx="10972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8400" b="1" i="0">
                <a:solidFill>
                  <a:srgbClr val="C7985F"/>
                </a:solidFill>
                <a:latin typeface="Georgia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" y="2697480"/>
            <a:ext cx="9046433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2200"/>
              </a:spcAft>
            </a:pPr>
            <a:r>
              <a:rPr sz="2700" b="0" i="0">
                <a:solidFill>
                  <a:srgbClr val="16233A"/>
                </a:solidFill>
                <a:latin typeface="Georgia"/>
              </a:rPr>
              <a:t>We did not need another dashboard. We needed the number to be right the first time.</a:t>
            </a:r>
          </a:p>
          <a:p>
            <a:pPr>
              <a:lnSpc>
                <a:spcPct val="115000"/>
              </a:lnSpc>
            </a:pPr>
            <a:r>
              <a:rPr sz="1050" b="1" i="0" spc="180">
                <a:solidFill>
                  <a:srgbClr val="55627A"/>
                </a:solidFill>
                <a:latin typeface="Trebuchet MS"/>
              </a:rPr>
              <a:t>DESIGN PARTNER, OPERATIONS LEAD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3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310896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41248" y="2331720"/>
            <a:ext cx="6936252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4400" b="1" i="0">
                <a:solidFill>
                  <a:srgbClr val="FFFFFF"/>
                </a:solidFill>
                <a:latin typeface="Georgia"/>
              </a:rPr>
              <a:t>The ask</a:t>
            </a:r>
          </a:p>
          <a:p>
            <a:pPr>
              <a:lnSpc>
                <a:spcPct val="140000"/>
              </a:lnSpc>
            </a:pPr>
            <a:r>
              <a:rPr sz="1500" b="0" i="0">
                <a:solidFill>
                  <a:srgbClr val="FFFFFF"/>
                </a:solidFill>
                <a:latin typeface="Trebuchet MS"/>
              </a:rPr>
              <a:t>Name the amount, the instrument, and the two decisions you want made in this room today.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5349240"/>
            <a:ext cx="1050947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 spc="200">
                <a:solidFill>
                  <a:srgbClr val="FFFFFF"/>
                </a:solidFill>
                <a:latin typeface="Trebuchet MS"/>
              </a:rPr>
              <a:t>YOUR.NAME@EXAMPLE.COM · +00 000 0000 · EXAMPLE.COM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5257800"/>
            <a:ext cx="1280160" cy="31750"/>
          </a:xfrm>
          <a:prstGeom prst="rect">
            <a:avLst/>
          </a:prstGeom>
          <a:solidFill>
            <a:srgbClr val="B47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6233A"/>
      </a:dk1>
      <a:lt1>
        <a:srgbClr val="FFFFFF"/>
      </a:lt1>
      <a:dk2>
        <a:srgbClr val="16233A"/>
      </a:dk2>
      <a:lt2>
        <a:srgbClr val="F6F3EE"/>
      </a:lt2>
      <a:accent1>
        <a:srgbClr val="B4762A"/>
      </a:accent1>
      <a:accent2>
        <a:srgbClr val="CEA675"/>
      </a:accent2>
      <a:accent3>
        <a:srgbClr val="16233A"/>
      </a:accent3>
      <a:accent4>
        <a:srgbClr val="55627A"/>
      </a:accent4>
      <a:accent5>
        <a:srgbClr val="A2A7B0"/>
      </a:accent5>
      <a:accent6>
        <a:srgbClr val="D9D3C8"/>
      </a:accent6>
      <a:hlink>
        <a:srgbClr val="B4762A"/>
      </a:hlink>
      <a:folHlink>
        <a:srgbClr val="55627A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Meridian — CubeOffice template</dc:title>
  <dc:subject>Business plan</dc:subject>
  <dc:creator>CubeOffice</dc:creator>
  <cp:keywords>CubeOffice, template, business plan, en</cp:keywords>
  <dc:description>CubeOffice original template. Free to use, edit and redistribute, with or without attribution, for personal and commercial work.</dc:description>
  <cp:lastModifiedBy>CubeOffice</cp:lastModifiedBy>
  <cp:revision>1</cp:revision>
  <dcterms:created xsi:type="dcterms:W3CDTF">2026-01-01T00:00:00Z</dcterms:created>
  <dcterms:modified xsi:type="dcterms:W3CDTF">2026-01-01T00:00:00Z</dcterms:modified>
  <cp:category>Business plan</cp:category>
</cp:coreProperties>
</file>