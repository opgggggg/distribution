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0"/>
            <a:ext cx="1463040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23873" cy="6089904"/>
          </a:xfrm>
          <a:prstGeom prst="rect">
            <a:avLst/>
          </a:prstGeom>
          <a:noFill/>
          <a:ln w="12700">
            <a:solidFill>
              <a:srgbClr val="8A6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30352" y="530352"/>
            <a:ext cx="11131265" cy="5797296"/>
          </a:xfrm>
          <a:prstGeom prst="rect">
            <a:avLst/>
          </a:prstGeom>
          <a:noFill/>
          <a:ln w="9525">
            <a:solidFill>
              <a:srgbClr val="C4B4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61288" y="2084831"/>
            <a:ext cx="7863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900" b="1" i="0" spc="240">
                <a:solidFill>
                  <a:srgbClr val="8A6A3D"/>
                </a:solidFill>
                <a:latin typeface="Arial"/>
              </a:rPr>
              <a:t>SELECTED WORK · 2023–2026</a:t>
            </a:r>
          </a:p>
          <a:p>
            <a:pPr>
              <a:lnSpc>
                <a:spcPct val="102000"/>
              </a:lnSpc>
              <a:spcAft>
                <a:spcPts val="1600"/>
              </a:spcAft>
            </a:pPr>
            <a:r>
              <a:rPr sz="5400" b="0" i="0">
                <a:solidFill>
                  <a:srgbClr val="1A1A1A"/>
                </a:solidFill>
                <a:latin typeface="Times New Roman"/>
              </a:rPr>
              <a:t>Portfolio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5F5F5F"/>
                </a:solidFill>
                <a:latin typeface="Arial"/>
              </a:rPr>
              <a:t>Six projects, what each one was for, and what I actually did on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687568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80">
                <a:solidFill>
                  <a:srgbClr val="818181"/>
                </a:solidFill>
                <a:latin typeface="Arial"/>
              </a:rPr>
              <a:t>YOUR TEAM · YOUR ORGANIZATION · MONTH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64008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A1A1A"/>
                </a:solidFill>
                <a:latin typeface="Times New Roman"/>
              </a:rPr>
              <a:t>What we will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176272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56" b="1" i="0">
                <a:solidFill>
                  <a:srgbClr val="8A6A3D"/>
                </a:solidFill>
                <a:latin typeface="Times New Roman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035808"/>
            <a:ext cx="4843256" cy="9525"/>
          </a:xfrm>
          <a:prstGeom prst="rect">
            <a:avLst/>
          </a:prstGeom>
          <a:solidFill>
            <a:srgbClr val="DC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55648" y="2139696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 i="0">
                <a:solidFill>
                  <a:srgbClr val="1A1A1A"/>
                </a:solidFill>
                <a:latin typeface="Times New Roman"/>
              </a:rPr>
              <a:t>About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What I do, and the kind of work I take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38328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56" b="1" i="0">
                <a:solidFill>
                  <a:srgbClr val="8A6A3D"/>
                </a:solidFill>
                <a:latin typeface="Times New Roman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242816"/>
            <a:ext cx="4843256" cy="9525"/>
          </a:xfrm>
          <a:prstGeom prst="rect">
            <a:avLst/>
          </a:prstGeom>
          <a:solidFill>
            <a:srgbClr val="DC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755648" y="3346704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 i="0">
                <a:solidFill>
                  <a:srgbClr val="1A1A1A"/>
                </a:solidFill>
                <a:latin typeface="Times New Roman"/>
              </a:rPr>
              <a:t>Selected work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Six projects, most recent 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59028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56" b="1" i="0">
                <a:solidFill>
                  <a:srgbClr val="8A6A3D"/>
                </a:solidFill>
                <a:latin typeface="Times New Roman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5449823"/>
            <a:ext cx="4843256" cy="9525"/>
          </a:xfrm>
          <a:prstGeom prst="rect">
            <a:avLst/>
          </a:prstGeom>
          <a:solidFill>
            <a:srgbClr val="DC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755648" y="4553712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 i="0">
                <a:solidFill>
                  <a:srgbClr val="1A1A1A"/>
                </a:solidFill>
                <a:latin typeface="Times New Roman"/>
              </a:rPr>
              <a:t>Process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How a project runs from brief to hand-off.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464" y="2176272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56" b="1" i="0">
                <a:solidFill>
                  <a:srgbClr val="8A6A3D"/>
                </a:solidFill>
                <a:latin typeface="Times New Roman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07464" y="3035808"/>
            <a:ext cx="4843256" cy="9525"/>
          </a:xfrm>
          <a:prstGeom prst="rect">
            <a:avLst/>
          </a:prstGeom>
          <a:solidFill>
            <a:srgbClr val="DC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21864" y="2139696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 i="0">
                <a:solidFill>
                  <a:srgbClr val="1A1A1A"/>
                </a:solidFill>
                <a:latin typeface="Times New Roman"/>
              </a:rPr>
              <a:t>Detail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One project, followed all the way through.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464" y="338328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56" b="1" i="0">
                <a:solidFill>
                  <a:srgbClr val="8A6A3D"/>
                </a:solidFill>
                <a:latin typeface="Times New Roman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07464" y="4242816"/>
            <a:ext cx="4843256" cy="9525"/>
          </a:xfrm>
          <a:prstGeom prst="rect">
            <a:avLst/>
          </a:prstGeom>
          <a:solidFill>
            <a:srgbClr val="DC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21864" y="3346704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 i="0">
                <a:solidFill>
                  <a:srgbClr val="1A1A1A"/>
                </a:solidFill>
                <a:latin typeface="Times New Roman"/>
              </a:rPr>
              <a:t>Results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What changed for the client, in their numbers.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464" y="459028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56" b="1" i="0">
                <a:solidFill>
                  <a:srgbClr val="8A6A3D"/>
                </a:solidFill>
                <a:latin typeface="Times New Roman"/>
              </a:rPr>
              <a:t>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7464" y="5449823"/>
            <a:ext cx="4843256" cy="9525"/>
          </a:xfrm>
          <a:prstGeom prst="rect">
            <a:avLst/>
          </a:prstGeom>
          <a:solidFill>
            <a:srgbClr val="DC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21864" y="4553712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 i="0">
                <a:solidFill>
                  <a:srgbClr val="1A1A1A"/>
                </a:solidFill>
                <a:latin typeface="Times New Roman"/>
              </a:rPr>
              <a:t>Contact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How to start a conversation.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23873" cy="6089904"/>
          </a:xfrm>
          <a:prstGeom prst="rect">
            <a:avLst/>
          </a:prstGeom>
          <a:noFill/>
          <a:ln w="12700">
            <a:solidFill>
              <a:srgbClr val="8A6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800" b="1" i="0">
                <a:solidFill>
                  <a:srgbClr val="8A6A3D"/>
                </a:solidFill>
                <a:latin typeface="Times New Roman"/>
              </a:rPr>
              <a:t>01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600" b="0" i="0">
                <a:solidFill>
                  <a:srgbClr val="1A1A1A"/>
                </a:solidFill>
                <a:latin typeface="Times New Roman"/>
              </a:rPr>
              <a:t>Selected work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6A6A6A"/>
                </a:solidFill>
                <a:latin typeface="Arial"/>
              </a:rPr>
              <a:t>Six projects. Brief, role, outcome.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64008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8A6A3D"/>
                </a:solidFill>
                <a:latin typeface="Arial"/>
              </a:rPr>
              <a:t>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A1A1A"/>
                </a:solidFill>
                <a:latin typeface="Times New Roman"/>
              </a:rPr>
              <a:t>What I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60320"/>
            <a:ext cx="483435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1A1A1A"/>
                </a:solidFill>
                <a:latin typeface="Arial"/>
              </a:rPr>
              <a:t>Two or three sentences, in the first person, that a stranger can act on. Name the discipline, the kind of client, and the part of the problem you take responsibility for. Leave the adjectives out; the work is on the next page.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95645" y="2615184"/>
            <a:ext cx="9525" cy="2606040"/>
          </a:xfrm>
          <a:prstGeom prst="rect">
            <a:avLst/>
          </a:prstGeom>
          <a:solidFill>
            <a:srgbClr val="DC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7125" y="2560320"/>
            <a:ext cx="494359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8A6A3D"/>
                </a:solidFill>
                <a:latin typeface="Arial"/>
              </a:rPr>
              <a:t>—  </a:t>
            </a:r>
            <a:r>
              <a:rPr sz="1250">
                <a:solidFill>
                  <a:srgbClr val="6E6E6E"/>
                </a:solidFill>
                <a:latin typeface="Arial"/>
              </a:rPr>
              <a:t>Discipline: what you are actually hired to do.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250" b="1">
                <a:solidFill>
                  <a:srgbClr val="8A6A3D"/>
                </a:solidFill>
                <a:latin typeface="Arial"/>
              </a:rPr>
              <a:t>—  </a:t>
            </a:r>
            <a:r>
              <a:rPr sz="1250">
                <a:solidFill>
                  <a:srgbClr val="6E6E6E"/>
                </a:solidFill>
                <a:latin typeface="Arial"/>
              </a:rPr>
              <a:t>Clients: the sort of organization you work with.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250" b="1">
                <a:solidFill>
                  <a:srgbClr val="8A6A3D"/>
                </a:solidFill>
                <a:latin typeface="Arial"/>
              </a:rPr>
              <a:t>—  </a:t>
            </a:r>
            <a:r>
              <a:rPr sz="1250">
                <a:solidFill>
                  <a:srgbClr val="6E6E6E"/>
                </a:solidFill>
                <a:latin typeface="Arial"/>
              </a:rPr>
              <a:t>Scope: where you start and where you hand over.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250" b="1">
                <a:solidFill>
                  <a:srgbClr val="8A6A3D"/>
                </a:solidFill>
                <a:latin typeface="Arial"/>
              </a:rPr>
              <a:t>—  </a:t>
            </a:r>
            <a:r>
              <a:rPr sz="1250">
                <a:solidFill>
                  <a:srgbClr val="6E6E6E"/>
                </a:solidFill>
                <a:latin typeface="Arial"/>
              </a:rPr>
              <a:t>Availability: how far out you are booked.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64008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8A6A3D"/>
                </a:solidFill>
                <a:latin typeface="Arial"/>
              </a:rPr>
              <a:t>HOW I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A1A1A"/>
                </a:solidFill>
                <a:latin typeface="Times New Roman"/>
              </a:rPr>
              <a:t>Three phases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560320"/>
            <a:ext cx="3247125" cy="2788920"/>
          </a:xfrm>
          <a:prstGeom prst="rect">
            <a:avLst/>
          </a:prstGeom>
          <a:solidFill>
            <a:srgbClr val="FAFAF8"/>
          </a:solidFill>
          <a:ln w="9525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41248" y="25603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41248" y="2560320"/>
            <a:ext cx="3247125" cy="50292"/>
          </a:xfrm>
          <a:prstGeom prst="rect">
            <a:avLst/>
          </a:prstGeom>
          <a:solidFill>
            <a:srgbClr val="8A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316736" y="3218687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00" b="1" i="0" spc="160">
                <a:solidFill>
                  <a:srgbClr val="8A6A3D"/>
                </a:solidFill>
                <a:latin typeface="Times New Roman"/>
              </a:rPr>
              <a:t>01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50" b="1" i="0">
                <a:solidFill>
                  <a:srgbClr val="1A1A1A"/>
                </a:solidFill>
                <a:latin typeface="Times New Roman"/>
              </a:rPr>
              <a:t>Frame</a:t>
            </a:r>
          </a:p>
          <a:p>
            <a:pPr>
              <a:lnSpc>
                <a:spcPct val="140000"/>
              </a:lnSpc>
            </a:pPr>
            <a:r>
              <a:rPr sz="950" b="0" i="0">
                <a:solidFill>
                  <a:srgbClr val="6E6E6E"/>
                </a:solidFill>
                <a:latin typeface="Arial"/>
              </a:rPr>
              <a:t>A week. Understand the problem well enough to scope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2421" y="2560320"/>
            <a:ext cx="3247125" cy="2788920"/>
          </a:xfrm>
          <a:prstGeom prst="rect">
            <a:avLst/>
          </a:prstGeom>
          <a:solidFill>
            <a:srgbClr val="FAFAF8"/>
          </a:solidFill>
          <a:ln w="9525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472421" y="25603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72421" y="2560320"/>
            <a:ext cx="3247125" cy="50292"/>
          </a:xfrm>
          <a:prstGeom prst="rect">
            <a:avLst/>
          </a:prstGeom>
          <a:solidFill>
            <a:srgbClr val="CAB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947909" y="3218687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00" b="1" i="0" spc="160">
                <a:solidFill>
                  <a:srgbClr val="8A6A3D"/>
                </a:solidFill>
                <a:latin typeface="Times New Roman"/>
              </a:rPr>
              <a:t>02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50" b="1" i="0">
                <a:solidFill>
                  <a:srgbClr val="1A1A1A"/>
                </a:solidFill>
                <a:latin typeface="Times New Roman"/>
              </a:rPr>
              <a:t>Make</a:t>
            </a:r>
          </a:p>
          <a:p>
            <a:pPr>
              <a:lnSpc>
                <a:spcPct val="140000"/>
              </a:lnSpc>
            </a:pPr>
            <a:r>
              <a:rPr sz="950" b="0" i="0">
                <a:solidFill>
                  <a:srgbClr val="6E6E6E"/>
                </a:solidFill>
                <a:latin typeface="Arial"/>
              </a:rPr>
              <a:t>Four to eight weeks. Weekly reviews, nothing kept back.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3595" y="2560320"/>
            <a:ext cx="3247125" cy="2788920"/>
          </a:xfrm>
          <a:prstGeom prst="rect">
            <a:avLst/>
          </a:prstGeom>
          <a:solidFill>
            <a:srgbClr val="FAFAF8"/>
          </a:solidFill>
          <a:ln w="9525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103595" y="25603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103595" y="2560320"/>
            <a:ext cx="3247125" cy="50292"/>
          </a:xfrm>
          <a:prstGeom prst="rect">
            <a:avLst/>
          </a:prstGeom>
          <a:solidFill>
            <a:srgbClr val="CAB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579083" y="3218687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00" b="1" i="0" spc="160">
                <a:solidFill>
                  <a:srgbClr val="8A6A3D"/>
                </a:solidFill>
                <a:latin typeface="Times New Roman"/>
              </a:rPr>
              <a:t>03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50" b="1" i="0">
                <a:solidFill>
                  <a:srgbClr val="1A1A1A"/>
                </a:solidFill>
                <a:latin typeface="Times New Roman"/>
              </a:rPr>
              <a:t>Hand over</a:t>
            </a:r>
          </a:p>
          <a:p>
            <a:pPr>
              <a:lnSpc>
                <a:spcPct val="140000"/>
              </a:lnSpc>
            </a:pPr>
            <a:r>
              <a:rPr sz="950" b="0" i="0">
                <a:solidFill>
                  <a:srgbClr val="6E6E6E"/>
                </a:solidFill>
                <a:latin typeface="Arial"/>
              </a:rPr>
              <a:t>A week. Files, documentation and one walkthrough.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64008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8A6A3D"/>
                </a:solidFill>
                <a:latin typeface="Arial"/>
              </a:rPr>
              <a:t>TRACK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A1A1A"/>
                </a:solidFill>
                <a:latin typeface="Times New Roman"/>
              </a:rPr>
              <a:t>In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8A6A3D"/>
                </a:solidFill>
                <a:latin typeface="Times New Roman"/>
              </a:rPr>
              <a:t>42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1A1A1A"/>
                </a:solidFill>
                <a:latin typeface="Times New Roman"/>
              </a:rPr>
              <a:t>Projects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Since 2019, across six sectors.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194296" y="2697479"/>
            <a:ext cx="9525" cy="1783080"/>
          </a:xfrm>
          <a:prstGeom prst="rect">
            <a:avLst/>
          </a:prstGeom>
          <a:solidFill>
            <a:srgbClr val="DC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468616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1A1A1A"/>
                </a:solidFill>
                <a:latin typeface="Times New Roman"/>
              </a:rPr>
              <a:t>8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1A1A1A"/>
                </a:solidFill>
                <a:latin typeface="Times New Roman"/>
              </a:rPr>
              <a:t>Long-term clients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Two or more engagements.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21664" y="2697479"/>
            <a:ext cx="9525" cy="1783080"/>
          </a:xfrm>
          <a:prstGeom prst="rect">
            <a:avLst/>
          </a:prstGeom>
          <a:solidFill>
            <a:srgbClr val="DC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95984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1A1A1A"/>
                </a:solidFill>
                <a:latin typeface="Times New Roman"/>
              </a:rPr>
              <a:t>6 wk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1A1A1A"/>
                </a:solidFill>
                <a:latin typeface="Times New Roman"/>
              </a:rPr>
              <a:t>Typical length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From frame to hand-over.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49033" y="2697479"/>
            <a:ext cx="9525" cy="1783080"/>
          </a:xfrm>
          <a:prstGeom prst="rect">
            <a:avLst/>
          </a:prstGeom>
          <a:solidFill>
            <a:srgbClr val="DC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23353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1A1A1A"/>
                </a:solidFill>
                <a:latin typeface="Times New Roman"/>
              </a:rPr>
              <a:t>100%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1A1A1A"/>
                </a:solidFill>
                <a:latin typeface="Times New Roman"/>
              </a:rPr>
              <a:t>Delivered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No project abandoned mid-way.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892040"/>
            <a:ext cx="10509473" cy="914400"/>
          </a:xfrm>
          <a:prstGeom prst="rect">
            <a:avLst/>
          </a:prstGeom>
          <a:solidFill>
            <a:srgbClr val="EF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98448" y="5111496"/>
            <a:ext cx="959507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Arial"/>
              </a:rPr>
              <a:t>Numbers are only useful if they are checkable. Keep to the ones a client could verify by asking a reference.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23873" cy="6089904"/>
          </a:xfrm>
          <a:prstGeom prst="rect">
            <a:avLst/>
          </a:prstGeom>
          <a:noFill/>
          <a:ln w="12700">
            <a:solidFill>
              <a:srgbClr val="8A6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800" b="1" i="0">
                <a:solidFill>
                  <a:srgbClr val="8A6A3D"/>
                </a:solidFill>
                <a:latin typeface="Times New Roman"/>
              </a:rPr>
              <a:t>02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600" b="0" i="0">
                <a:solidFill>
                  <a:srgbClr val="1A1A1A"/>
                </a:solidFill>
                <a:latin typeface="Times New Roman"/>
              </a:rPr>
              <a:t>In detail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6A6A6A"/>
                </a:solidFill>
                <a:latin typeface="Arial"/>
              </a:rPr>
              <a:t>One project, from first sketch to shipped.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64008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8A6A3D"/>
                </a:solidFill>
                <a:latin typeface="Arial"/>
              </a:rPr>
              <a:t>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A1A1A"/>
                </a:solidFill>
                <a:latin typeface="Times New Roman"/>
              </a:rPr>
              <a:t>Brief to shipped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611879"/>
            <a:ext cx="10509473" cy="19050"/>
          </a:xfrm>
          <a:prstGeom prst="rect">
            <a:avLst/>
          </a:prstGeom>
          <a:solidFill>
            <a:srgbClr val="DC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63524" y="3543299"/>
            <a:ext cx="173736" cy="173736"/>
          </a:xfrm>
          <a:prstGeom prst="ellipse">
            <a:avLst/>
          </a:prstGeom>
          <a:solidFill>
            <a:srgbClr val="8A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8A6A3D"/>
                </a:solidFill>
                <a:latin typeface="Arial"/>
              </a:rPr>
              <a:t>WK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Times New Roman"/>
              </a:rPr>
              <a:t>Brief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Interviews, constraints, success criteria written down.</a:t>
            </a:r>
          </a:p>
        </p:txBody>
      </p:sp>
      <p:sp>
        <p:nvSpPr>
          <p:cNvPr id="9" name="Oval 8"/>
          <p:cNvSpPr/>
          <p:nvPr/>
        </p:nvSpPr>
        <p:spPr>
          <a:xfrm>
            <a:off x="2865418" y="3543299"/>
            <a:ext cx="173736" cy="173736"/>
          </a:xfrm>
          <a:prstGeom prst="ellipse">
            <a:avLst/>
          </a:prstGeom>
          <a:solidFill>
            <a:srgbClr val="8A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3142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8A6A3D"/>
                </a:solidFill>
                <a:latin typeface="Arial"/>
              </a:rPr>
              <a:t>WK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3142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Times New Roman"/>
              </a:rPr>
              <a:t>Directions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Three routes, one recommendation.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4967313" y="3543299"/>
            <a:ext cx="173736" cy="173736"/>
          </a:xfrm>
          <a:prstGeom prst="ellipse">
            <a:avLst/>
          </a:prstGeom>
          <a:solidFill>
            <a:srgbClr val="8A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5037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8A6A3D"/>
                </a:solidFill>
                <a:latin typeface="Arial"/>
              </a:rPr>
              <a:t>WK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5037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Times New Roman"/>
              </a:rPr>
              <a:t>Build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Chosen route, developed weekly in the open.</a:t>
            </a:r>
          </a:p>
        </p:txBody>
      </p:sp>
      <p:sp>
        <p:nvSpPr>
          <p:cNvPr id="15" name="Oval 14"/>
          <p:cNvSpPr/>
          <p:nvPr/>
        </p:nvSpPr>
        <p:spPr>
          <a:xfrm>
            <a:off x="7069208" y="3543299"/>
            <a:ext cx="173736" cy="173736"/>
          </a:xfrm>
          <a:prstGeom prst="ellipse">
            <a:avLst/>
          </a:prstGeom>
          <a:solidFill>
            <a:srgbClr val="8A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46932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8A6A3D"/>
                </a:solidFill>
                <a:latin typeface="Arial"/>
              </a:rPr>
              <a:t>WK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6932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Times New Roman"/>
              </a:rPr>
              <a:t>Test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With real users, on real content.</a:t>
            </a:r>
          </a:p>
        </p:txBody>
      </p:sp>
      <p:sp>
        <p:nvSpPr>
          <p:cNvPr id="18" name="Oval 17"/>
          <p:cNvSpPr/>
          <p:nvPr/>
        </p:nvSpPr>
        <p:spPr>
          <a:xfrm>
            <a:off x="9171102" y="3543299"/>
            <a:ext cx="173736" cy="173736"/>
          </a:xfrm>
          <a:prstGeom prst="ellipse">
            <a:avLst/>
          </a:prstGeom>
          <a:solidFill>
            <a:srgbClr val="8A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8826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8A6A3D"/>
                </a:solidFill>
                <a:latin typeface="Arial"/>
              </a:rPr>
              <a:t>WK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8826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Times New Roman"/>
              </a:rPr>
              <a:t>Hand over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Assets, documentation, one training session.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64008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8A6A3D"/>
                </a:solidFill>
                <a:latin typeface="Arial"/>
              </a:rPr>
              <a:t>SELECTED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A1A1A"/>
                </a:solidFill>
                <a:latin typeface="Times New Roman"/>
              </a:rPr>
              <a:t>Six projects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560320"/>
            <a:ext cx="10509473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40">
                <a:solidFill>
                  <a:srgbClr val="FFFFFF"/>
                </a:solidFill>
                <a:latin typeface="Arial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0500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40">
                <a:solidFill>
                  <a:srgbClr val="FFFFFF"/>
                </a:solidFill>
                <a:latin typeface="Arial"/>
              </a:rPr>
              <a:t>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2585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40">
                <a:solidFill>
                  <a:srgbClr val="FFFFFF"/>
                </a:solidFill>
                <a:latin typeface="Arial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4669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40">
                <a:solidFill>
                  <a:srgbClr val="FFFFFF"/>
                </a:solidFill>
                <a:latin typeface="Arial"/>
              </a:rPr>
              <a:t>YEAR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127248"/>
            <a:ext cx="10509473" cy="566928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841248" y="3694176"/>
            <a:ext cx="10509473" cy="6350"/>
          </a:xfrm>
          <a:prstGeom prst="rect">
            <a:avLst/>
          </a:prstGeom>
          <a:solidFill>
            <a:srgbClr val="DC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97280" y="3127248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1A1A"/>
                </a:solidFill>
                <a:latin typeface="Arial"/>
              </a:rPr>
              <a:t>Identity and 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0500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Arial"/>
              </a:rPr>
              <a:t>Independent gallery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2585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Arial"/>
              </a:rPr>
              <a:t>Lead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4669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Arial"/>
              </a:rPr>
              <a:t>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261104"/>
            <a:ext cx="10509473" cy="6350"/>
          </a:xfrm>
          <a:prstGeom prst="rect">
            <a:avLst/>
          </a:prstGeom>
          <a:solidFill>
            <a:srgbClr val="DC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97280" y="3694176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1A1A"/>
                </a:solidFill>
                <a:latin typeface="Arial"/>
              </a:rPr>
              <a:t>Product photography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0500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Arial"/>
              </a:rPr>
              <a:t>Furniture maker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2585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Arial"/>
              </a:rPr>
              <a:t>Photographer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4669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Arial"/>
              </a:rPr>
              <a:t>2025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4261104"/>
            <a:ext cx="10509473" cy="566928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41248" y="4828032"/>
            <a:ext cx="10509473" cy="6350"/>
          </a:xfrm>
          <a:prstGeom prst="rect">
            <a:avLst/>
          </a:prstGeom>
          <a:solidFill>
            <a:srgbClr val="DC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97280" y="4261104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1A1A"/>
                </a:solidFill>
                <a:latin typeface="Arial"/>
              </a:rPr>
              <a:t>Exhibition graphics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0500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Arial"/>
              </a:rPr>
              <a:t>City museum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2585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Arial"/>
              </a:rPr>
              <a:t>Designer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4669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Arial"/>
              </a:rPr>
              <a:t>2025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5394959"/>
            <a:ext cx="10509473" cy="6350"/>
          </a:xfrm>
          <a:prstGeom prst="rect">
            <a:avLst/>
          </a:prstGeom>
          <a:solidFill>
            <a:srgbClr val="DC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97280" y="4828031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1A1A"/>
                </a:solidFill>
                <a:latin typeface="Arial"/>
              </a:rPr>
              <a:t>Annual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0500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Arial"/>
              </a:rPr>
              <a:t>Regional charity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2585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Arial"/>
              </a:rPr>
              <a:t>Art direction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4669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Arial"/>
              </a:rPr>
              <a:t>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5650992"/>
            <a:ext cx="105094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Replace the rows with your own figures. Keep one unit per column.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64008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8A6A3D"/>
                </a:solidFill>
                <a:latin typeface="Arial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A1A1A"/>
                </a:solidFill>
                <a:latin typeface="Times New Roman"/>
              </a:rPr>
              <a:t>One image, one idea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560320"/>
            <a:ext cx="5464926" cy="2926080"/>
          </a:xfrm>
          <a:prstGeom prst="rect">
            <a:avLst/>
          </a:prstGeom>
          <a:solidFill>
            <a:srgbClr val="FAFAF8"/>
          </a:solidFill>
          <a:ln w="9525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4229502" y="3321100"/>
            <a:ext cx="457200" cy="457200"/>
          </a:xfrm>
          <a:prstGeom prst="ellipse">
            <a:avLst/>
          </a:prstGeom>
          <a:solidFill>
            <a:srgbClr val="B39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>
            <a:off x="1934233" y="3668572"/>
            <a:ext cx="1371600" cy="822960"/>
          </a:xfrm>
          <a:prstGeom prst="rtTriangl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Triangle 7"/>
          <p:cNvSpPr/>
          <p:nvPr/>
        </p:nvSpPr>
        <p:spPr>
          <a:xfrm>
            <a:off x="3136517" y="3348532"/>
            <a:ext cx="1737360" cy="1143000"/>
          </a:xfrm>
          <a:prstGeom prst="rtTriangle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15636" y="4491532"/>
            <a:ext cx="3716149" cy="12700"/>
          </a:xfrm>
          <a:prstGeom prst="rect">
            <a:avLst/>
          </a:prstGeom>
          <a:solidFill>
            <a:srgbClr val="8181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4700016"/>
            <a:ext cx="54649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spc="160">
                <a:solidFill>
                  <a:srgbClr val="6E6E6E"/>
                </a:solidFill>
                <a:latin typeface="Arial"/>
              </a:rPr>
              <a:t>DROP AN IMAGE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37694" y="2560320"/>
            <a:ext cx="4313027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750" b="0" i="0">
                <a:solidFill>
                  <a:srgbClr val="1A1A1A"/>
                </a:solidFill>
                <a:latin typeface="Times New Roman"/>
              </a:rPr>
              <a:t>Let the work be the argument</a:t>
            </a:r>
          </a:p>
          <a:p>
            <a:pPr>
              <a:lnSpc>
                <a:spcPct val="145000"/>
              </a:lnSpc>
              <a:spcAft>
                <a:spcPts val="1600"/>
              </a:spcAft>
            </a:pPr>
            <a:r>
              <a:rPr sz="1250" b="0" i="0">
                <a:solidFill>
                  <a:srgbClr val="6E6E6E"/>
                </a:solidFill>
                <a:latin typeface="Arial"/>
              </a:rPr>
              <a:t>One image per page, as large as the page allows, with a caption that says what it is and what you did on it. Resist the urge to explain the concept — if the image needs a paragraph, choose a different image.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37694" y="4617720"/>
            <a:ext cx="914400" cy="31750"/>
          </a:xfrm>
          <a:prstGeom prst="rect">
            <a:avLst/>
          </a:prstGeom>
          <a:solidFill>
            <a:srgbClr val="8A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37694" y="4864608"/>
            <a:ext cx="43130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Caption the image: what it shows and where it came from.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23873" cy="6089904"/>
          </a:xfrm>
          <a:prstGeom prst="rect">
            <a:avLst/>
          </a:prstGeom>
          <a:noFill/>
          <a:ln w="12700">
            <a:solidFill>
              <a:srgbClr val="8A6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800" b="1" i="0">
                <a:solidFill>
                  <a:srgbClr val="8A6A3D"/>
                </a:solidFill>
                <a:latin typeface="Times New Roman"/>
              </a:rPr>
              <a:t>03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600" b="0" i="0">
                <a:solidFill>
                  <a:srgbClr val="1A1A1A"/>
                </a:solidFill>
                <a:latin typeface="Times New Roman"/>
              </a:rPr>
              <a:t>Working together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6A6A6A"/>
                </a:solidFill>
                <a:latin typeface="Arial"/>
              </a:rPr>
              <a:t>Process, timelines and what I need from you.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8A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15568" y="1463040"/>
            <a:ext cx="10972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400" b="1" i="0">
                <a:solidFill>
                  <a:srgbClr val="A78F6E"/>
                </a:solidFill>
                <a:latin typeface="Times New Roman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2697480"/>
            <a:ext cx="904643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2200"/>
              </a:spcAft>
            </a:pPr>
            <a:r>
              <a:rPr sz="2800" b="0" i="1">
                <a:solidFill>
                  <a:srgbClr val="1A1A1A"/>
                </a:solidFill>
                <a:latin typeface="Times New Roman"/>
              </a:rPr>
              <a:t>They sent three directions and told us which one to pick, and why. That is the whole job.</a:t>
            </a:r>
          </a:p>
          <a:p>
            <a:pPr>
              <a:lnSpc>
                <a:spcPct val="115000"/>
              </a:lnSpc>
            </a:pPr>
            <a:r>
              <a:rPr sz="1000" b="1" i="0" spc="180">
                <a:solidFill>
                  <a:srgbClr val="6E6E6E"/>
                </a:solidFill>
                <a:latin typeface="Arial"/>
              </a:rPr>
              <a:t>GALLERY DIRECTOR,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23873" cy="6089904"/>
          </a:xfrm>
          <a:prstGeom prst="rect">
            <a:avLst/>
          </a:prstGeom>
          <a:noFill/>
          <a:ln w="12700">
            <a:solidFill>
              <a:srgbClr val="8A6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331720"/>
            <a:ext cx="693625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4600" b="0" i="0">
                <a:solidFill>
                  <a:srgbClr val="1A1A1A"/>
                </a:solidFill>
                <a:latin typeface="Times New Roman"/>
              </a:rPr>
              <a:t>Let's talk</a:t>
            </a:r>
          </a:p>
          <a:p>
            <a:pPr>
              <a:lnSpc>
                <a:spcPct val="140000"/>
              </a:lnSpc>
            </a:pPr>
            <a:r>
              <a:rPr sz="1500" b="0" i="0">
                <a:solidFill>
                  <a:srgbClr val="5F5F5F"/>
                </a:solidFill>
                <a:latin typeface="Arial"/>
              </a:rPr>
              <a:t>Tell me what the project is, when it needs to be finished, and what you have already tried.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349240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200">
                <a:solidFill>
                  <a:srgbClr val="818181"/>
                </a:solidFill>
                <a:latin typeface="Arial"/>
              </a:rPr>
              <a:t>YOUR.NAME@EXAMPLE.COM · +00 000 0000 · EXAMPLE.COM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5257800"/>
            <a:ext cx="1280160" cy="31750"/>
          </a:xfrm>
          <a:prstGeom prst="rect">
            <a:avLst/>
          </a:prstGeom>
          <a:solidFill>
            <a:srgbClr val="8A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FFFFFF"/>
      </a:dk2>
      <a:lt2>
        <a:srgbClr val="FAFAF8"/>
      </a:lt2>
      <a:accent1>
        <a:srgbClr val="8A6A3D"/>
      </a:accent1>
      <a:accent2>
        <a:srgbClr val="B39E81"/>
      </a:accent2>
      <a:accent3>
        <a:srgbClr val="1A1A1A"/>
      </a:accent3>
      <a:accent4>
        <a:srgbClr val="6E6E6E"/>
      </a:accent4>
      <a:accent5>
        <a:srgbClr val="A3A3A3"/>
      </a:accent5>
      <a:accent6>
        <a:srgbClr val="DCDCD8"/>
      </a:accent6>
      <a:hlink>
        <a:srgbClr val="8A6A3D"/>
      </a:hlink>
      <a:folHlink>
        <a:srgbClr val="6E6E6E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Passepartout — CubeOffice template</dc:title>
  <dc:subject>Portfolio</dc:subject>
  <dc:creator>CubeOffice</dc:creator>
  <cp:keywords>CubeOffice, template, portfolio, en</cp:keywords>
  <dc:description>CubeOffice original template. Free to use, edit and redistribute, with or without attribution, for personal and commercial work.</dc:description>
  <cp:lastModifiedBy>CubeOffice</cp:lastModifiedBy>
  <cp:revision>1</cp:revision>
  <dcterms:created xsi:type="dcterms:W3CDTF">2026-01-01T00:00:00Z</dcterms:created>
  <dcterms:modified xsi:type="dcterms:W3CDTF">2026-01-01T00:00:00Z</dcterms:modified>
  <cp:category>Portfolio</cp:category>
</cp:coreProperties>
</file>