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0"/>
            <a:ext cx="1463040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800" y="0"/>
            <a:ext cx="14630400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0"/>
            <a:ext cx="1463040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0"/>
            <a:ext cx="14630400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0"/>
            <a:ext cx="1463040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0"/>
            <a:ext cx="1463040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800" y="0"/>
            <a:ext cx="14630400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2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41248" y="4709160"/>
            <a:ext cx="68580" cy="685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15568" y="4709160"/>
            <a:ext cx="68580" cy="685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389888" y="4709160"/>
            <a:ext cx="68580" cy="685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664207" y="4709160"/>
            <a:ext cx="68580" cy="685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938528" y="4709160"/>
            <a:ext cx="68580" cy="685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212848" y="4709160"/>
            <a:ext cx="68580" cy="685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487168" y="4709160"/>
            <a:ext cx="68580" cy="685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61488" y="4709160"/>
            <a:ext cx="68580" cy="685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035808" y="4709160"/>
            <a:ext cx="68580" cy="685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8" y="4983480"/>
            <a:ext cx="68580" cy="685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15568" y="4983480"/>
            <a:ext cx="68580" cy="685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89888" y="4983480"/>
            <a:ext cx="68580" cy="685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664207" y="4983480"/>
            <a:ext cx="68580" cy="685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938528" y="4983480"/>
            <a:ext cx="68580" cy="685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212848" y="4983480"/>
            <a:ext cx="68580" cy="685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487168" y="4983480"/>
            <a:ext cx="68580" cy="685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761488" y="4983480"/>
            <a:ext cx="68580" cy="685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035808" y="4983480"/>
            <a:ext cx="68580" cy="685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41248" y="5257800"/>
            <a:ext cx="68580" cy="685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15568" y="5257800"/>
            <a:ext cx="68580" cy="685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389888" y="5257800"/>
            <a:ext cx="68580" cy="685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664207" y="5257800"/>
            <a:ext cx="68580" cy="685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938528" y="5257800"/>
            <a:ext cx="68580" cy="685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212848" y="5257800"/>
            <a:ext cx="68580" cy="685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487168" y="5257800"/>
            <a:ext cx="68580" cy="685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761488" y="5257800"/>
            <a:ext cx="68580" cy="685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035808" y="5257800"/>
            <a:ext cx="68580" cy="685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41248" y="5532120"/>
            <a:ext cx="68580" cy="685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115568" y="5532120"/>
            <a:ext cx="68580" cy="685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389888" y="5532120"/>
            <a:ext cx="68580" cy="685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664207" y="5532120"/>
            <a:ext cx="68580" cy="685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938528" y="5532120"/>
            <a:ext cx="68580" cy="685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212848" y="5532120"/>
            <a:ext cx="68580" cy="685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2487168" y="5532120"/>
            <a:ext cx="68580" cy="685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2761488" y="5532120"/>
            <a:ext cx="68580" cy="685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035808" y="5532120"/>
            <a:ext cx="68580" cy="685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41248" y="5806440"/>
            <a:ext cx="68580" cy="685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115568" y="5806440"/>
            <a:ext cx="68580" cy="685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389888" y="5806440"/>
            <a:ext cx="68580" cy="685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664207" y="5806440"/>
            <a:ext cx="68580" cy="685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938528" y="5806440"/>
            <a:ext cx="68580" cy="685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2212848" y="5806440"/>
            <a:ext cx="68580" cy="685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2487168" y="5806440"/>
            <a:ext cx="68580" cy="685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2761488" y="5806440"/>
            <a:ext cx="68580" cy="685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3035808" y="5806440"/>
            <a:ext cx="68580" cy="685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841248" y="6080760"/>
            <a:ext cx="68580" cy="685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115568" y="6080760"/>
            <a:ext cx="68580" cy="685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389888" y="6080760"/>
            <a:ext cx="68580" cy="685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664207" y="6080760"/>
            <a:ext cx="68580" cy="685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938528" y="6080760"/>
            <a:ext cx="68580" cy="685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2212848" y="6080760"/>
            <a:ext cx="68580" cy="685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2487168" y="6080760"/>
            <a:ext cx="68580" cy="685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2761488" y="6080760"/>
            <a:ext cx="68580" cy="685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3035808" y="6080760"/>
            <a:ext cx="68580" cy="685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442929" y="1051560"/>
            <a:ext cx="2651760" cy="2651760"/>
          </a:xfrm>
          <a:prstGeom prst="rect">
            <a:avLst/>
          </a:prstGeom>
          <a:noFill/>
          <a:ln w="38100">
            <a:solidFill>
              <a:srgbClr val="A240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841248" y="2084831"/>
            <a:ext cx="786384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950" b="1" i="0" spc="240">
                <a:solidFill>
                  <a:srgbClr val="FFFFFF"/>
                </a:solidFill>
                <a:latin typeface="Trebuchet MS"/>
              </a:rPr>
              <a:t>年度报告 · 2026</a:t>
            </a:r>
          </a:p>
          <a:p>
            <a:pPr>
              <a:lnSpc>
                <a:spcPct val="102000"/>
              </a:lnSpc>
              <a:spcAft>
                <a:spcPts val="1600"/>
              </a:spcAft>
            </a:pPr>
            <a:r>
              <a:rPr sz="5200" b="1" i="0">
                <a:solidFill>
                  <a:srgbClr val="FFFFFF"/>
                </a:solidFill>
                <a:latin typeface="Georgia"/>
              </a:rPr>
              <a:t>这一年的数字</a:t>
            </a:r>
          </a:p>
          <a:p>
            <a:pPr>
              <a:lnSpc>
                <a:spcPct val="135000"/>
              </a:lnSpc>
            </a:pPr>
            <a:r>
              <a:rPr sz="1500" b="0" i="0">
                <a:solidFill>
                  <a:srgbClr val="FFFFFF"/>
                </a:solidFill>
                <a:latin typeface="Trebuchet MS"/>
              </a:rPr>
              <a:t>我们原本打算做什么、数字说我们做到了什么，以及我们改了主意的地方。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41248" y="5687568"/>
            <a:ext cx="7863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 spc="180">
                <a:solidFill>
                  <a:srgbClr val="FFFFFF"/>
                </a:solidFill>
                <a:latin typeface="Trebuchet MS"/>
              </a:rPr>
              <a:t>团队名称 · 组织名称 · 2026 年 X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41248" y="859536"/>
            <a:ext cx="100584" cy="100584"/>
          </a:xfrm>
          <a:prstGeom prst="ellipse">
            <a:avLst/>
          </a:prstGeom>
          <a:solidFill>
            <a:srgbClr val="A24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33272" y="859536"/>
            <a:ext cx="100584" cy="100584"/>
          </a:xfrm>
          <a:prstGeom prst="ellipse">
            <a:avLst/>
          </a:prstGeom>
          <a:solidFill>
            <a:srgbClr val="A24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225296" y="859536"/>
            <a:ext cx="100584" cy="100584"/>
          </a:xfrm>
          <a:prstGeom prst="ellipse">
            <a:avLst/>
          </a:prstGeom>
          <a:solidFill>
            <a:srgbClr val="A24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115568"/>
            <a:ext cx="1050947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100" b="1" i="0">
                <a:solidFill>
                  <a:srgbClr val="1C1C1E"/>
                </a:solidFill>
                <a:latin typeface="Georgia"/>
              </a:rPr>
              <a:t>本次内容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176272"/>
            <a:ext cx="777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952" b="1" i="0">
                <a:solidFill>
                  <a:srgbClr val="A2402C"/>
                </a:solidFill>
                <a:latin typeface="Georgia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3035808"/>
            <a:ext cx="4843256" cy="9525"/>
          </a:xfrm>
          <a:prstGeom prst="rect">
            <a:avLst/>
          </a:prstGeom>
          <a:solidFill>
            <a:srgbClr val="D6D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755648" y="2139696"/>
            <a:ext cx="392885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 i="0">
                <a:solidFill>
                  <a:srgbClr val="1C1C1E"/>
                </a:solidFill>
                <a:latin typeface="Georgia"/>
              </a:rPr>
              <a:t>这一年</a:t>
            </a:r>
          </a:p>
          <a:p>
            <a:pPr>
              <a:lnSpc>
                <a:spcPct val="130000"/>
              </a:lnSpc>
            </a:pPr>
            <a:r>
              <a:rPr sz="950" b="0" i="0">
                <a:solidFill>
                  <a:srgbClr val="5A5A60"/>
                </a:solidFill>
                <a:latin typeface="Trebuchet MS"/>
              </a:rPr>
              <a:t>决定了这一年走向的三个抉择。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3383280"/>
            <a:ext cx="777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952" b="1" i="0">
                <a:solidFill>
                  <a:srgbClr val="A2402C"/>
                </a:solidFill>
                <a:latin typeface="Georgia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" y="4242816"/>
            <a:ext cx="4843256" cy="9525"/>
          </a:xfrm>
          <a:prstGeom prst="rect">
            <a:avLst/>
          </a:prstGeom>
          <a:solidFill>
            <a:srgbClr val="D6D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755648" y="3346704"/>
            <a:ext cx="392885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 i="0">
                <a:solidFill>
                  <a:srgbClr val="1C1C1E"/>
                </a:solidFill>
                <a:latin typeface="Georgia"/>
              </a:rPr>
              <a:t>业绩</a:t>
            </a:r>
          </a:p>
          <a:p>
            <a:pPr>
              <a:lnSpc>
                <a:spcPct val="130000"/>
              </a:lnSpc>
            </a:pPr>
            <a:r>
              <a:rPr sz="950" b="0" i="0">
                <a:solidFill>
                  <a:srgbClr val="5A5A60"/>
                </a:solidFill>
                <a:latin typeface="Trebuchet MS"/>
              </a:rPr>
              <a:t>收入、毛利、留存、人数。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4590288"/>
            <a:ext cx="777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952" b="1" i="0">
                <a:solidFill>
                  <a:srgbClr val="A2402C"/>
                </a:solidFill>
                <a:latin typeface="Georgia"/>
              </a:rPr>
              <a:t>03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8" y="5449823"/>
            <a:ext cx="4843256" cy="9525"/>
          </a:xfrm>
          <a:prstGeom prst="rect">
            <a:avLst/>
          </a:prstGeom>
          <a:solidFill>
            <a:srgbClr val="D6D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755648" y="4553712"/>
            <a:ext cx="392885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 i="0">
                <a:solidFill>
                  <a:srgbClr val="1C1C1E"/>
                </a:solidFill>
                <a:latin typeface="Georgia"/>
              </a:rPr>
              <a:t>分部</a:t>
            </a:r>
          </a:p>
          <a:p>
            <a:pPr>
              <a:lnSpc>
                <a:spcPct val="130000"/>
              </a:lnSpc>
            </a:pPr>
            <a:r>
              <a:rPr sz="950" b="0" i="0">
                <a:solidFill>
                  <a:srgbClr val="5A5A60"/>
                </a:solidFill>
                <a:latin typeface="Trebuchet MS"/>
              </a:rPr>
              <a:t>增长从哪里来，哪里没有来。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7464" y="2176272"/>
            <a:ext cx="777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952" b="1" i="0">
                <a:solidFill>
                  <a:srgbClr val="A2402C"/>
                </a:solidFill>
                <a:latin typeface="Georgia"/>
              </a:rPr>
              <a:t>04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07464" y="3035808"/>
            <a:ext cx="4843256" cy="9525"/>
          </a:xfrm>
          <a:prstGeom prst="rect">
            <a:avLst/>
          </a:prstGeom>
          <a:solidFill>
            <a:srgbClr val="D6D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421864" y="2139696"/>
            <a:ext cx="392885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 i="0">
                <a:solidFill>
                  <a:srgbClr val="1C1C1E"/>
                </a:solidFill>
                <a:latin typeface="Georgia"/>
              </a:rPr>
              <a:t>投入</a:t>
            </a:r>
          </a:p>
          <a:p>
            <a:pPr>
              <a:lnSpc>
                <a:spcPct val="130000"/>
              </a:lnSpc>
            </a:pPr>
            <a:r>
              <a:rPr sz="950" b="0" i="0">
                <a:solidFill>
                  <a:srgbClr val="5A5A60"/>
                </a:solidFill>
                <a:latin typeface="Trebuchet MS"/>
              </a:rPr>
              <a:t>我们出钱做了什么，停掉了什么。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7464" y="3383280"/>
            <a:ext cx="777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952" b="1" i="0">
                <a:solidFill>
                  <a:srgbClr val="A2402C"/>
                </a:solidFill>
                <a:latin typeface="Georgia"/>
              </a:rPr>
              <a:t>05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07464" y="4242816"/>
            <a:ext cx="4843256" cy="9525"/>
          </a:xfrm>
          <a:prstGeom prst="rect">
            <a:avLst/>
          </a:prstGeom>
          <a:solidFill>
            <a:srgbClr val="D6D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421864" y="3346704"/>
            <a:ext cx="392885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 i="0">
                <a:solidFill>
                  <a:srgbClr val="1C1C1E"/>
                </a:solidFill>
                <a:latin typeface="Georgia"/>
              </a:rPr>
              <a:t>风险</a:t>
            </a:r>
          </a:p>
          <a:p>
            <a:pPr>
              <a:lnSpc>
                <a:spcPct val="130000"/>
              </a:lnSpc>
            </a:pPr>
            <a:r>
              <a:rPr sz="950" b="0" i="0">
                <a:solidFill>
                  <a:srgbClr val="5A5A60"/>
                </a:solidFill>
                <a:latin typeface="Trebuchet MS"/>
              </a:rPr>
              <a:t>我们在盯什么，目前怎么看。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07464" y="4590288"/>
            <a:ext cx="777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952" b="1" i="0">
                <a:solidFill>
                  <a:srgbClr val="A2402C"/>
                </a:solidFill>
                <a:latin typeface="Georgia"/>
              </a:rPr>
              <a:t>06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07464" y="5449823"/>
            <a:ext cx="4843256" cy="9525"/>
          </a:xfrm>
          <a:prstGeom prst="rect">
            <a:avLst/>
          </a:prstGeom>
          <a:solidFill>
            <a:srgbClr val="D6D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421864" y="4553712"/>
            <a:ext cx="392885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 i="0">
                <a:solidFill>
                  <a:srgbClr val="1C1C1E"/>
                </a:solidFill>
                <a:latin typeface="Georgia"/>
              </a:rPr>
              <a:t>下一年</a:t>
            </a:r>
          </a:p>
          <a:p>
            <a:pPr>
              <a:lnSpc>
                <a:spcPct val="130000"/>
              </a:lnSpc>
            </a:pPr>
            <a:r>
              <a:rPr sz="950" b="0" i="0">
                <a:solidFill>
                  <a:srgbClr val="5A5A60"/>
                </a:solidFill>
                <a:latin typeface="Trebuchet MS"/>
              </a:rPr>
              <a:t>一页讲完的计划。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2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47104"/>
            <a:ext cx="12191969" cy="310896"/>
          </a:xfrm>
          <a:prstGeom prst="rect">
            <a:avLst/>
          </a:prstGeom>
          <a:solidFill>
            <a:srgbClr val="A24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41248" y="2286000"/>
            <a:ext cx="8680673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7600" b="1" i="0">
                <a:solidFill>
                  <a:srgbClr val="A2402C"/>
                </a:solidFill>
                <a:latin typeface="Georgia"/>
              </a:rPr>
              <a:t>01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3500" b="1" i="0">
                <a:solidFill>
                  <a:srgbClr val="FFFFFF"/>
                </a:solidFill>
                <a:latin typeface="Georgia"/>
              </a:rPr>
              <a:t>业绩</a:t>
            </a:r>
          </a:p>
          <a:p>
            <a:pPr>
              <a:lnSpc>
                <a:spcPct val="135000"/>
              </a:lnSpc>
            </a:pPr>
            <a:r>
              <a:rPr sz="1500" b="0" i="0">
                <a:solidFill>
                  <a:srgbClr val="FFFFFF"/>
                </a:solidFill>
                <a:latin typeface="Trebuchet MS"/>
              </a:rPr>
              <a:t>经审计的数字，对照我们公开过的计划。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41248" y="859536"/>
            <a:ext cx="100584" cy="100584"/>
          </a:xfrm>
          <a:prstGeom prst="ellipse">
            <a:avLst/>
          </a:prstGeom>
          <a:solidFill>
            <a:srgbClr val="A24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33272" y="859536"/>
            <a:ext cx="100584" cy="100584"/>
          </a:xfrm>
          <a:prstGeom prst="ellipse">
            <a:avLst/>
          </a:prstGeom>
          <a:solidFill>
            <a:srgbClr val="A24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225296" y="859536"/>
            <a:ext cx="100584" cy="100584"/>
          </a:xfrm>
          <a:prstGeom prst="ellipse">
            <a:avLst/>
          </a:prstGeom>
          <a:solidFill>
            <a:srgbClr val="A24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115568"/>
            <a:ext cx="1050947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 spc="220">
                <a:solidFill>
                  <a:srgbClr val="A2402C"/>
                </a:solidFill>
                <a:latin typeface="Trebuchet MS"/>
              </a:rPr>
              <a:t>致读者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499616"/>
            <a:ext cx="1050947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100" b="1" i="0">
                <a:solidFill>
                  <a:srgbClr val="1C1C1E"/>
                </a:solidFill>
                <a:latin typeface="Georgia"/>
              </a:rPr>
              <a:t>这一年教了我们什么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560320"/>
            <a:ext cx="4834357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1C1C1E"/>
                </a:solidFill>
                <a:latin typeface="Trebuchet MS"/>
              </a:rPr>
              <a:t>开头就把话说实：目标、结果、差距。相信第一段的人才会读下去。主动说一件做坏了的事以及后续处理，这会为后面所有内容换来可信度。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995645" y="2615184"/>
            <a:ext cx="9525" cy="2606040"/>
          </a:xfrm>
          <a:prstGeom prst="rect">
            <a:avLst/>
          </a:prstGeom>
          <a:solidFill>
            <a:srgbClr val="D6D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407125" y="2560320"/>
            <a:ext cx="4943595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A2402C"/>
                </a:solidFill>
                <a:latin typeface="Trebuchet MS"/>
              </a:rPr>
              <a:t>—  </a:t>
            </a:r>
            <a:r>
              <a:rPr sz="1300">
                <a:solidFill>
                  <a:srgbClr val="5A5A60"/>
                </a:solidFill>
                <a:latin typeface="Trebuchet MS"/>
              </a:rPr>
              <a:t>目标与实际，直说。</a:t>
            </a:r>
          </a:p>
          <a:p>
            <a:pPr>
              <a:lnSpc>
                <a:spcPct val="130000"/>
              </a:lnSpc>
              <a:spcBef>
                <a:spcPts val="1100"/>
              </a:spcBef>
            </a:pPr>
            <a:r>
              <a:rPr sz="1300" b="1">
                <a:solidFill>
                  <a:srgbClr val="A2402C"/>
                </a:solidFill>
                <a:latin typeface="Trebuchet MS"/>
              </a:rPr>
              <a:t>—  </a:t>
            </a:r>
            <a:r>
              <a:rPr sz="1300">
                <a:solidFill>
                  <a:srgbClr val="5A5A60"/>
                </a:solidFill>
                <a:latin typeface="Trebuchet MS"/>
              </a:rPr>
              <a:t>对数字影响最大的那一个决定。</a:t>
            </a:r>
          </a:p>
          <a:p>
            <a:pPr>
              <a:lnSpc>
                <a:spcPct val="130000"/>
              </a:lnSpc>
              <a:spcBef>
                <a:spcPts val="1100"/>
              </a:spcBef>
            </a:pPr>
            <a:r>
              <a:rPr sz="1300" b="1">
                <a:solidFill>
                  <a:srgbClr val="A2402C"/>
                </a:solidFill>
                <a:latin typeface="Trebuchet MS"/>
              </a:rPr>
              <a:t>—  </a:t>
            </a:r>
            <a:r>
              <a:rPr sz="1300">
                <a:solidFill>
                  <a:srgbClr val="5A5A60"/>
                </a:solidFill>
                <a:latin typeface="Trebuchet MS"/>
              </a:rPr>
              <a:t>没奏效的那一个，以及它的代价。</a:t>
            </a:r>
          </a:p>
          <a:p>
            <a:pPr>
              <a:lnSpc>
                <a:spcPct val="130000"/>
              </a:lnSpc>
              <a:spcBef>
                <a:spcPts val="1100"/>
              </a:spcBef>
            </a:pPr>
            <a:r>
              <a:rPr sz="1300" b="1">
                <a:solidFill>
                  <a:srgbClr val="A2402C"/>
                </a:solidFill>
                <a:latin typeface="Trebuchet MS"/>
              </a:rPr>
              <a:t>—  </a:t>
            </a:r>
            <a:r>
              <a:rPr sz="1300">
                <a:solidFill>
                  <a:srgbClr val="5A5A60"/>
                </a:solidFill>
                <a:latin typeface="Trebuchet MS"/>
              </a:rPr>
              <a:t>我们带进下一年的东西。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41248" y="859536"/>
            <a:ext cx="100584" cy="100584"/>
          </a:xfrm>
          <a:prstGeom prst="ellipse">
            <a:avLst/>
          </a:prstGeom>
          <a:solidFill>
            <a:srgbClr val="A24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33272" y="859536"/>
            <a:ext cx="100584" cy="100584"/>
          </a:xfrm>
          <a:prstGeom prst="ellipse">
            <a:avLst/>
          </a:prstGeom>
          <a:solidFill>
            <a:srgbClr val="A24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225296" y="859536"/>
            <a:ext cx="100584" cy="100584"/>
          </a:xfrm>
          <a:prstGeom prst="ellipse">
            <a:avLst/>
          </a:prstGeom>
          <a:solidFill>
            <a:srgbClr val="A24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115568"/>
            <a:ext cx="1050947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 spc="220">
                <a:solidFill>
                  <a:srgbClr val="A2402C"/>
                </a:solidFill>
                <a:latin typeface="Trebuchet MS"/>
              </a:rPr>
              <a:t>分部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499616"/>
            <a:ext cx="1050947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100" b="1" i="0">
                <a:solidFill>
                  <a:srgbClr val="1C1C1E"/>
                </a:solidFill>
                <a:latin typeface="Georgia"/>
              </a:rPr>
              <a:t>增长从哪里来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2560320"/>
            <a:ext cx="3247125" cy="2788920"/>
          </a:xfrm>
          <a:prstGeom prst="rect">
            <a:avLst/>
          </a:prstGeom>
          <a:solidFill>
            <a:srgbClr val="F5F4F2"/>
          </a:solidFill>
          <a:ln w="9525">
            <a:solidFill>
              <a:srgbClr val="D6D4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841248" y="2560320"/>
            <a:ext cx="0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841248" y="2560320"/>
            <a:ext cx="3247125" cy="50292"/>
          </a:xfrm>
          <a:prstGeom prst="rect">
            <a:avLst/>
          </a:prstGeom>
          <a:solidFill>
            <a:srgbClr val="A24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316736" y="3218687"/>
            <a:ext cx="2296149" cy="13258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950" b="1" i="0" spc="160">
                <a:solidFill>
                  <a:srgbClr val="A2402C"/>
                </a:solidFill>
                <a:latin typeface="Georgia"/>
              </a:rPr>
              <a:t>01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 i="0">
                <a:solidFill>
                  <a:srgbClr val="1C1C1E"/>
                </a:solidFill>
                <a:latin typeface="Georgia"/>
              </a:rPr>
              <a:t>主营</a:t>
            </a:r>
          </a:p>
          <a:p>
            <a:pPr>
              <a:lnSpc>
                <a:spcPct val="140000"/>
              </a:lnSpc>
            </a:pPr>
            <a:r>
              <a:rPr sz="1000" b="0" i="0">
                <a:solidFill>
                  <a:srgbClr val="5A5A60"/>
                </a:solidFill>
                <a:latin typeface="Trebuchet MS"/>
              </a:rPr>
              <a:t>稳、毛利高，现金主要来自这里。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72421" y="2560320"/>
            <a:ext cx="3247125" cy="2788920"/>
          </a:xfrm>
          <a:prstGeom prst="rect">
            <a:avLst/>
          </a:prstGeom>
          <a:solidFill>
            <a:srgbClr val="F5F4F2"/>
          </a:solidFill>
          <a:ln w="9525">
            <a:solidFill>
              <a:srgbClr val="D6D4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4472421" y="2560320"/>
            <a:ext cx="0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4472421" y="2560320"/>
            <a:ext cx="3247125" cy="50292"/>
          </a:xfrm>
          <a:prstGeom prst="rect">
            <a:avLst/>
          </a:prstGeom>
          <a:solidFill>
            <a:srgbClr val="D5A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947909" y="3218687"/>
            <a:ext cx="2296149" cy="13258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950" b="1" i="0" spc="160">
                <a:solidFill>
                  <a:srgbClr val="A2402C"/>
                </a:solidFill>
                <a:latin typeface="Georgia"/>
              </a:rPr>
              <a:t>02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 i="0">
                <a:solidFill>
                  <a:srgbClr val="1C1C1E"/>
                </a:solidFill>
                <a:latin typeface="Georgia"/>
              </a:rPr>
              <a:t>扩张</a:t>
            </a:r>
          </a:p>
          <a:p>
            <a:pPr>
              <a:lnSpc>
                <a:spcPct val="140000"/>
              </a:lnSpc>
            </a:pPr>
            <a:r>
              <a:rPr sz="1000" b="0" i="0">
                <a:solidFill>
                  <a:srgbClr val="5A5A60"/>
                </a:solidFill>
                <a:latin typeface="Trebuchet MS"/>
              </a:rPr>
              <a:t>增长最快、毛利最薄，招聘也最多。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03595" y="2560320"/>
            <a:ext cx="3247125" cy="2788920"/>
          </a:xfrm>
          <a:prstGeom prst="rect">
            <a:avLst/>
          </a:prstGeom>
          <a:solidFill>
            <a:srgbClr val="F5F4F2"/>
          </a:solidFill>
          <a:ln w="9525">
            <a:solidFill>
              <a:srgbClr val="D6D4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8103595" y="2560320"/>
            <a:ext cx="0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8103595" y="2560320"/>
            <a:ext cx="3247125" cy="50292"/>
          </a:xfrm>
          <a:prstGeom prst="rect">
            <a:avLst/>
          </a:prstGeom>
          <a:solidFill>
            <a:srgbClr val="D5A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579083" y="3218687"/>
            <a:ext cx="2296149" cy="13258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950" b="1" i="0" spc="160">
                <a:solidFill>
                  <a:srgbClr val="A2402C"/>
                </a:solidFill>
                <a:latin typeface="Georgia"/>
              </a:rPr>
              <a:t>03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 i="0">
                <a:solidFill>
                  <a:srgbClr val="1C1C1E"/>
                </a:solidFill>
                <a:latin typeface="Georgia"/>
              </a:rPr>
              <a:t>新兴</a:t>
            </a:r>
          </a:p>
          <a:p>
            <a:pPr>
              <a:lnSpc>
                <a:spcPct val="140000"/>
              </a:lnSpc>
            </a:pPr>
            <a:r>
              <a:rPr sz="1000" b="0" i="0">
                <a:solidFill>
                  <a:srgbClr val="5A5A60"/>
                </a:solidFill>
                <a:latin typeface="Trebuchet MS"/>
              </a:rPr>
              <a:t>基数小、未被验证，按期权而非赌注来投。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41248" y="859536"/>
            <a:ext cx="100584" cy="100584"/>
          </a:xfrm>
          <a:prstGeom prst="ellipse">
            <a:avLst/>
          </a:prstGeom>
          <a:solidFill>
            <a:srgbClr val="A24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33272" y="859536"/>
            <a:ext cx="100584" cy="100584"/>
          </a:xfrm>
          <a:prstGeom prst="ellipse">
            <a:avLst/>
          </a:prstGeom>
          <a:solidFill>
            <a:srgbClr val="A24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225296" y="859536"/>
            <a:ext cx="100584" cy="100584"/>
          </a:xfrm>
          <a:prstGeom prst="ellipse">
            <a:avLst/>
          </a:prstGeom>
          <a:solidFill>
            <a:srgbClr val="A24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115568"/>
            <a:ext cx="1050947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 spc="220">
                <a:solidFill>
                  <a:srgbClr val="A2402C"/>
                </a:solidFill>
                <a:latin typeface="Trebuchet MS"/>
              </a:rPr>
              <a:t>业绩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499616"/>
            <a:ext cx="1050947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100" b="1" i="0">
                <a:solidFill>
                  <a:srgbClr val="1C1C1E"/>
                </a:solidFill>
                <a:latin typeface="Georgia"/>
              </a:rPr>
              <a:t>主要数字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560320"/>
            <a:ext cx="2078728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800"/>
              </a:spcAft>
            </a:pPr>
            <a:r>
              <a:rPr sz="4400" b="1" i="0">
                <a:solidFill>
                  <a:srgbClr val="A2402C"/>
                </a:solidFill>
                <a:latin typeface="Georgia"/>
              </a:rPr>
              <a:t>+23%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 b="1" i="0">
                <a:solidFill>
                  <a:srgbClr val="1C1C1E"/>
                </a:solidFill>
                <a:latin typeface="Georgia"/>
              </a:rPr>
              <a:t>收入增长</a:t>
            </a:r>
          </a:p>
          <a:p>
            <a:pPr>
              <a:lnSpc>
                <a:spcPct val="135000"/>
              </a:lnSpc>
            </a:pPr>
            <a:r>
              <a:rPr sz="950" b="0" i="0">
                <a:solidFill>
                  <a:srgbClr val="5A5A60"/>
                </a:solidFill>
                <a:latin typeface="Trebuchet MS"/>
              </a:rPr>
              <a:t>公开计划中的目标为 +18%。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3194296" y="2697479"/>
            <a:ext cx="9525" cy="1783080"/>
          </a:xfrm>
          <a:prstGeom prst="rect">
            <a:avLst/>
          </a:prstGeom>
          <a:solidFill>
            <a:srgbClr val="D6D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468616" y="2560320"/>
            <a:ext cx="2078728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800"/>
              </a:spcAft>
            </a:pPr>
            <a:r>
              <a:rPr sz="4400" b="1" i="0">
                <a:solidFill>
                  <a:srgbClr val="1C1C1E"/>
                </a:solidFill>
                <a:latin typeface="Georgia"/>
              </a:rPr>
              <a:t>58%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 b="1" i="0">
                <a:solidFill>
                  <a:srgbClr val="1C1C1E"/>
                </a:solidFill>
                <a:latin typeface="Georgia"/>
              </a:rPr>
              <a:t>毛利率</a:t>
            </a:r>
          </a:p>
          <a:p>
            <a:pPr>
              <a:lnSpc>
                <a:spcPct val="135000"/>
              </a:lnSpc>
            </a:pPr>
            <a:r>
              <a:rPr sz="950" b="0" i="0">
                <a:solidFill>
                  <a:srgbClr val="5A5A60"/>
                </a:solidFill>
                <a:latin typeface="Trebuchet MS"/>
              </a:rPr>
              <a:t>下降两个点，源于结构而非降价。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21664" y="2697479"/>
            <a:ext cx="9525" cy="1783080"/>
          </a:xfrm>
          <a:prstGeom prst="rect">
            <a:avLst/>
          </a:prstGeom>
          <a:solidFill>
            <a:srgbClr val="D6D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095984" y="2560320"/>
            <a:ext cx="2078728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800"/>
              </a:spcAft>
            </a:pPr>
            <a:r>
              <a:rPr sz="4400" b="1" i="0">
                <a:solidFill>
                  <a:srgbClr val="1C1C1E"/>
                </a:solidFill>
                <a:latin typeface="Georgia"/>
              </a:rPr>
              <a:t>94%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 b="1" i="0">
                <a:solidFill>
                  <a:srgbClr val="1C1C1E"/>
                </a:solidFill>
                <a:latin typeface="Georgia"/>
              </a:rPr>
              <a:t>净留存</a:t>
            </a:r>
          </a:p>
          <a:p>
            <a:pPr>
              <a:lnSpc>
                <a:spcPct val="135000"/>
              </a:lnSpc>
            </a:pPr>
            <a:r>
              <a:rPr sz="950" b="0" i="0">
                <a:solidFill>
                  <a:srgbClr val="5A5A60"/>
                </a:solidFill>
                <a:latin typeface="Trebuchet MS"/>
              </a:rPr>
              <a:t>流失集中在某一批客户。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49033" y="2697479"/>
            <a:ext cx="9525" cy="1783080"/>
          </a:xfrm>
          <a:prstGeom prst="rect">
            <a:avLst/>
          </a:prstGeom>
          <a:solidFill>
            <a:srgbClr val="D6D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723353" y="2560320"/>
            <a:ext cx="2078728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800"/>
              </a:spcAft>
            </a:pPr>
            <a:r>
              <a:rPr sz="4400" b="1" i="0">
                <a:solidFill>
                  <a:srgbClr val="1C1C1E"/>
                </a:solidFill>
                <a:latin typeface="Georgia"/>
              </a:rPr>
              <a:t>2.1 倍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 b="1" i="0">
                <a:solidFill>
                  <a:srgbClr val="1C1C1E"/>
                </a:solidFill>
                <a:latin typeface="Georgia"/>
              </a:rPr>
              <a:t>现金覆盖</a:t>
            </a:r>
          </a:p>
          <a:p>
            <a:pPr>
              <a:lnSpc>
                <a:spcPct val="135000"/>
              </a:lnSpc>
            </a:pPr>
            <a:r>
              <a:rPr sz="950" b="0" i="0">
                <a:solidFill>
                  <a:srgbClr val="5A5A60"/>
                </a:solidFill>
                <a:latin typeface="Trebuchet MS"/>
              </a:rPr>
              <a:t>经营现金对固定成本。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1248" y="4892040"/>
            <a:ext cx="10509473" cy="914400"/>
          </a:xfrm>
          <a:prstGeom prst="rect">
            <a:avLst/>
          </a:prstGeom>
          <a:solidFill>
            <a:srgbClr val="F2E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298448" y="5111496"/>
            <a:ext cx="9595073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1C1C1E"/>
                </a:solidFill>
                <a:latin typeface="Trebuchet MS"/>
              </a:rPr>
              <a:t>数字为截至 12 月 31 日的十二个月。上年同期数据已按当前分部口径重述。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2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47104"/>
            <a:ext cx="12191969" cy="310896"/>
          </a:xfrm>
          <a:prstGeom prst="rect">
            <a:avLst/>
          </a:prstGeom>
          <a:solidFill>
            <a:srgbClr val="A24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41248" y="2286000"/>
            <a:ext cx="8680673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7600" b="1" i="0">
                <a:solidFill>
                  <a:srgbClr val="A2402C"/>
                </a:solidFill>
                <a:latin typeface="Georgia"/>
              </a:rPr>
              <a:t>02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3500" b="1" i="0">
                <a:solidFill>
                  <a:srgbClr val="FFFFFF"/>
                </a:solidFill>
                <a:latin typeface="Georgia"/>
              </a:rPr>
              <a:t>分部</a:t>
            </a:r>
          </a:p>
          <a:p>
            <a:pPr>
              <a:lnSpc>
                <a:spcPct val="135000"/>
              </a:lnSpc>
            </a:pPr>
            <a:r>
              <a:rPr sz="1500" b="0" i="0">
                <a:solidFill>
                  <a:srgbClr val="FFFFFF"/>
                </a:solidFill>
                <a:latin typeface="Trebuchet MS"/>
              </a:rPr>
              <a:t>按市场、产品与渠道拆开看。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41248" y="859536"/>
            <a:ext cx="100584" cy="100584"/>
          </a:xfrm>
          <a:prstGeom prst="ellipse">
            <a:avLst/>
          </a:prstGeom>
          <a:solidFill>
            <a:srgbClr val="A24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33272" y="859536"/>
            <a:ext cx="100584" cy="100584"/>
          </a:xfrm>
          <a:prstGeom prst="ellipse">
            <a:avLst/>
          </a:prstGeom>
          <a:solidFill>
            <a:srgbClr val="A24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225296" y="859536"/>
            <a:ext cx="100584" cy="100584"/>
          </a:xfrm>
          <a:prstGeom prst="ellipse">
            <a:avLst/>
          </a:prstGeom>
          <a:solidFill>
            <a:srgbClr val="A24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115568"/>
            <a:ext cx="1050947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 spc="220">
                <a:solidFill>
                  <a:srgbClr val="A2402C"/>
                </a:solidFill>
                <a:latin typeface="Trebuchet MS"/>
              </a:rPr>
              <a:t>这一年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499616"/>
            <a:ext cx="1050947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100" b="1" i="0">
                <a:solidFill>
                  <a:srgbClr val="1C1C1E"/>
                </a:solidFill>
                <a:latin typeface="Georgia"/>
              </a:rPr>
              <a:t>过程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3611879"/>
            <a:ext cx="10509473" cy="19050"/>
          </a:xfrm>
          <a:prstGeom prst="rect">
            <a:avLst/>
          </a:prstGeom>
          <a:solidFill>
            <a:srgbClr val="D6D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763524" y="3543299"/>
            <a:ext cx="173736" cy="173736"/>
          </a:xfrm>
          <a:prstGeom prst="ellipse">
            <a:avLst/>
          </a:prstGeom>
          <a:solidFill>
            <a:srgbClr val="A24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2953511"/>
            <a:ext cx="178185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 spc="160">
                <a:solidFill>
                  <a:srgbClr val="A2402C"/>
                </a:solidFill>
                <a:latin typeface="Trebuchet MS"/>
              </a:rPr>
              <a:t>Q1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3995928"/>
            <a:ext cx="1781854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 i="0">
                <a:solidFill>
                  <a:srgbClr val="1C1C1E"/>
                </a:solidFill>
                <a:latin typeface="Georgia"/>
              </a:rPr>
              <a:t>调价</a:t>
            </a:r>
          </a:p>
          <a:p>
            <a:pPr>
              <a:lnSpc>
                <a:spcPct val="135000"/>
              </a:lnSpc>
            </a:pPr>
            <a:r>
              <a:rPr sz="950" b="0" i="0">
                <a:solidFill>
                  <a:srgbClr val="5A5A60"/>
                </a:solidFill>
                <a:latin typeface="Trebuchet MS"/>
              </a:rPr>
              <a:t>新分层，先在续约中执行。</a:t>
            </a:r>
          </a:p>
        </p:txBody>
      </p:sp>
      <p:sp>
        <p:nvSpPr>
          <p:cNvPr id="11" name="Oval 10"/>
          <p:cNvSpPr/>
          <p:nvPr/>
        </p:nvSpPr>
        <p:spPr>
          <a:xfrm>
            <a:off x="2865418" y="3543299"/>
            <a:ext cx="173736" cy="173736"/>
          </a:xfrm>
          <a:prstGeom prst="ellipse">
            <a:avLst/>
          </a:prstGeom>
          <a:solidFill>
            <a:srgbClr val="A24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43142" y="2953511"/>
            <a:ext cx="178185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 spc="160">
                <a:solidFill>
                  <a:srgbClr val="A2402C"/>
                </a:solidFill>
                <a:latin typeface="Trebuchet MS"/>
              </a:rPr>
              <a:t>Q2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43142" y="3995928"/>
            <a:ext cx="1781854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 i="0">
                <a:solidFill>
                  <a:srgbClr val="1C1C1E"/>
                </a:solidFill>
                <a:latin typeface="Georgia"/>
              </a:rPr>
              <a:t>收拢</a:t>
            </a:r>
          </a:p>
          <a:p>
            <a:pPr>
              <a:lnSpc>
                <a:spcPct val="135000"/>
              </a:lnSpc>
            </a:pPr>
            <a:r>
              <a:rPr sz="950" b="0" i="0">
                <a:solidFill>
                  <a:srgbClr val="5A5A60"/>
                </a:solidFill>
                <a:latin typeface="Trebuchet MS"/>
              </a:rPr>
              <a:t>两条产品线并为一条。</a:t>
            </a:r>
          </a:p>
        </p:txBody>
      </p:sp>
      <p:sp>
        <p:nvSpPr>
          <p:cNvPr id="14" name="Oval 13"/>
          <p:cNvSpPr/>
          <p:nvPr/>
        </p:nvSpPr>
        <p:spPr>
          <a:xfrm>
            <a:off x="4967313" y="3543299"/>
            <a:ext cx="173736" cy="173736"/>
          </a:xfrm>
          <a:prstGeom prst="ellipse">
            <a:avLst/>
          </a:prstGeom>
          <a:solidFill>
            <a:srgbClr val="A24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45037" y="2953511"/>
            <a:ext cx="178185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 spc="160">
                <a:solidFill>
                  <a:srgbClr val="A2402C"/>
                </a:solidFill>
                <a:latin typeface="Trebuchet MS"/>
              </a:rPr>
              <a:t>Q3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45037" y="3995928"/>
            <a:ext cx="1781854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 i="0">
                <a:solidFill>
                  <a:srgbClr val="1C1C1E"/>
                </a:solidFill>
                <a:latin typeface="Georgia"/>
              </a:rPr>
              <a:t>扩张</a:t>
            </a:r>
          </a:p>
          <a:p>
            <a:pPr>
              <a:lnSpc>
                <a:spcPct val="135000"/>
              </a:lnSpc>
            </a:pPr>
            <a:r>
              <a:rPr sz="950" b="0" i="0">
                <a:solidFill>
                  <a:srgbClr val="5A5A60"/>
                </a:solidFill>
                <a:latin typeface="Trebuchet MS"/>
              </a:rPr>
              <a:t>与本地伙伴一起开了第二个区域。</a:t>
            </a:r>
          </a:p>
        </p:txBody>
      </p:sp>
      <p:sp>
        <p:nvSpPr>
          <p:cNvPr id="17" name="Oval 16"/>
          <p:cNvSpPr/>
          <p:nvPr/>
        </p:nvSpPr>
        <p:spPr>
          <a:xfrm>
            <a:off x="7069208" y="3543299"/>
            <a:ext cx="173736" cy="173736"/>
          </a:xfrm>
          <a:prstGeom prst="ellipse">
            <a:avLst/>
          </a:prstGeom>
          <a:solidFill>
            <a:srgbClr val="A24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46932" y="2953511"/>
            <a:ext cx="178185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 spc="160">
                <a:solidFill>
                  <a:srgbClr val="A2402C"/>
                </a:solidFill>
                <a:latin typeface="Trebuchet MS"/>
              </a:rPr>
              <a:t>Q4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46932" y="3995928"/>
            <a:ext cx="1781854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 i="0">
                <a:solidFill>
                  <a:srgbClr val="1C1C1E"/>
                </a:solidFill>
                <a:latin typeface="Georgia"/>
              </a:rPr>
              <a:t>收紧</a:t>
            </a:r>
          </a:p>
          <a:p>
            <a:pPr>
              <a:lnSpc>
                <a:spcPct val="135000"/>
              </a:lnSpc>
            </a:pPr>
            <a:r>
              <a:rPr sz="950" b="0" i="0">
                <a:solidFill>
                  <a:srgbClr val="5A5A60"/>
                </a:solidFill>
                <a:latin typeface="Trebuchet MS"/>
              </a:rPr>
              <a:t>暂停招聘，毛利回升一个点。</a:t>
            </a:r>
          </a:p>
        </p:txBody>
      </p:sp>
      <p:sp>
        <p:nvSpPr>
          <p:cNvPr id="20" name="Oval 19"/>
          <p:cNvSpPr/>
          <p:nvPr/>
        </p:nvSpPr>
        <p:spPr>
          <a:xfrm>
            <a:off x="9171102" y="3543299"/>
            <a:ext cx="173736" cy="1737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6D4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48826" y="2953511"/>
            <a:ext cx="178185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 spc="160">
                <a:solidFill>
                  <a:srgbClr val="5A5A60"/>
                </a:solidFill>
                <a:latin typeface="Trebuchet MS"/>
              </a:rPr>
              <a:t>2027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48826" y="3995928"/>
            <a:ext cx="1781854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 i="0">
                <a:solidFill>
                  <a:srgbClr val="1C1C1E"/>
                </a:solidFill>
                <a:latin typeface="Georgia"/>
              </a:rPr>
              <a:t>展望</a:t>
            </a:r>
          </a:p>
          <a:p>
            <a:pPr>
              <a:lnSpc>
                <a:spcPct val="135000"/>
              </a:lnSpc>
            </a:pPr>
            <a:r>
              <a:rPr sz="950" b="0" i="0">
                <a:solidFill>
                  <a:srgbClr val="5A5A60"/>
                </a:solidFill>
                <a:latin typeface="Trebuchet MS"/>
              </a:rPr>
              <a:t>增速快于市场，毛利保持不变。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41248" y="859536"/>
            <a:ext cx="100584" cy="100584"/>
          </a:xfrm>
          <a:prstGeom prst="ellipse">
            <a:avLst/>
          </a:prstGeom>
          <a:solidFill>
            <a:srgbClr val="A24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33272" y="859536"/>
            <a:ext cx="100584" cy="100584"/>
          </a:xfrm>
          <a:prstGeom prst="ellipse">
            <a:avLst/>
          </a:prstGeom>
          <a:solidFill>
            <a:srgbClr val="A24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225296" y="859536"/>
            <a:ext cx="100584" cy="100584"/>
          </a:xfrm>
          <a:prstGeom prst="ellipse">
            <a:avLst/>
          </a:prstGeom>
          <a:solidFill>
            <a:srgbClr val="A24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115568"/>
            <a:ext cx="1050947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 spc="220">
                <a:solidFill>
                  <a:srgbClr val="A2402C"/>
                </a:solidFill>
                <a:latin typeface="Trebuchet MS"/>
              </a:rPr>
              <a:t>分部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499616"/>
            <a:ext cx="1050947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100" b="1" i="0">
                <a:solidFill>
                  <a:srgbClr val="1C1C1E"/>
                </a:solidFill>
                <a:latin typeface="Georgia"/>
              </a:rPr>
              <a:t>各分部表现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2560320"/>
            <a:ext cx="10509473" cy="566928"/>
          </a:xfrm>
          <a:prstGeom prst="rect">
            <a:avLst/>
          </a:prstGeom>
          <a:solidFill>
            <a:srgbClr val="1C1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97280" y="2560320"/>
            <a:ext cx="32074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 spc="140">
                <a:solidFill>
                  <a:srgbClr val="FFFFFF"/>
                </a:solidFill>
                <a:latin typeface="Trebuchet MS"/>
              </a:rPr>
              <a:t>分部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70500" y="2560320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 spc="140">
                <a:solidFill>
                  <a:srgbClr val="FFFFFF"/>
                </a:solidFill>
                <a:latin typeface="Trebuchet MS"/>
              </a:rPr>
              <a:t>收入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2585" y="2560320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 spc="140">
                <a:solidFill>
                  <a:srgbClr val="FFFFFF"/>
                </a:solidFill>
                <a:latin typeface="Trebuchet MS"/>
              </a:rPr>
              <a:t>增长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94669" y="2560320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 spc="140">
                <a:solidFill>
                  <a:srgbClr val="FFFFFF"/>
                </a:solidFill>
                <a:latin typeface="Trebuchet MS"/>
              </a:rPr>
              <a:t>毛利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" y="3127248"/>
            <a:ext cx="10509473" cy="566928"/>
          </a:xfrm>
          <a:prstGeom prst="rect">
            <a:avLst/>
          </a:prstGeom>
          <a:solidFill>
            <a:srgbClr val="F5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841248" y="3694176"/>
            <a:ext cx="10509473" cy="6350"/>
          </a:xfrm>
          <a:prstGeom prst="rect">
            <a:avLst/>
          </a:prstGeom>
          <a:solidFill>
            <a:srgbClr val="D6D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097280" y="3127248"/>
            <a:ext cx="32074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C1C1E"/>
                </a:solidFill>
                <a:latin typeface="Trebuchet MS"/>
              </a:rPr>
              <a:t>主营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0500" y="3127248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A5A60"/>
                </a:solidFill>
                <a:latin typeface="Trebuchet MS"/>
              </a:rPr>
              <a:t>1840 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82585" y="3127248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A5A60"/>
                </a:solidFill>
                <a:latin typeface="Trebuchet MS"/>
              </a:rPr>
              <a:t>+9%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94669" y="3127248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A5A60"/>
                </a:solidFill>
                <a:latin typeface="Trebuchet MS"/>
              </a:rPr>
              <a:t>64%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" y="4261104"/>
            <a:ext cx="10509473" cy="6350"/>
          </a:xfrm>
          <a:prstGeom prst="rect">
            <a:avLst/>
          </a:prstGeom>
          <a:solidFill>
            <a:srgbClr val="D6D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097280" y="3694176"/>
            <a:ext cx="32074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C1C1E"/>
                </a:solidFill>
                <a:latin typeface="Trebuchet MS"/>
              </a:rPr>
              <a:t>扩张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70500" y="3694176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A5A60"/>
                </a:solidFill>
                <a:latin typeface="Trebuchet MS"/>
              </a:rPr>
              <a:t>790 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82585" y="3694176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A5A60"/>
                </a:solidFill>
                <a:latin typeface="Trebuchet MS"/>
              </a:rPr>
              <a:t>+58%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94669" y="3694176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A5A60"/>
                </a:solidFill>
                <a:latin typeface="Trebuchet MS"/>
              </a:rPr>
              <a:t>41%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41248" y="4261104"/>
            <a:ext cx="10509473" cy="566928"/>
          </a:xfrm>
          <a:prstGeom prst="rect">
            <a:avLst/>
          </a:prstGeom>
          <a:solidFill>
            <a:srgbClr val="F5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841248" y="4828032"/>
            <a:ext cx="10509473" cy="6350"/>
          </a:xfrm>
          <a:prstGeom prst="rect">
            <a:avLst/>
          </a:prstGeom>
          <a:solidFill>
            <a:srgbClr val="D6D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097280" y="4261104"/>
            <a:ext cx="32074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C1C1E"/>
                </a:solidFill>
                <a:latin typeface="Trebuchet MS"/>
              </a:rPr>
              <a:t>新兴市场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70500" y="4261104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A5A60"/>
                </a:solidFill>
                <a:latin typeface="Trebuchet MS"/>
              </a:rPr>
              <a:t>120 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82585" y="4261104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A5A60"/>
                </a:solidFill>
                <a:latin typeface="Trebuchet MS"/>
              </a:rPr>
              <a:t>+140%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94669" y="4261104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A5A60"/>
                </a:solidFill>
                <a:latin typeface="Trebuchet MS"/>
              </a:rPr>
              <a:t>22%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41248" y="5394959"/>
            <a:ext cx="10509473" cy="6350"/>
          </a:xfrm>
          <a:prstGeom prst="rect">
            <a:avLst/>
          </a:prstGeom>
          <a:solidFill>
            <a:srgbClr val="D6D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1097280" y="4828031"/>
            <a:ext cx="32074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C1C1E"/>
                </a:solidFill>
                <a:latin typeface="Trebuchet MS"/>
              </a:rPr>
              <a:t>合计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70500" y="4828031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A5A60"/>
                </a:solidFill>
                <a:latin typeface="Trebuchet MS"/>
              </a:rPr>
              <a:t>2750 万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82585" y="4828031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A5A60"/>
                </a:solidFill>
                <a:latin typeface="Trebuchet MS"/>
              </a:rPr>
              <a:t>+23%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94669" y="4828031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A5A60"/>
                </a:solidFill>
                <a:latin typeface="Trebuchet MS"/>
              </a:rPr>
              <a:t>58%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" y="5650992"/>
            <a:ext cx="1050947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5A5A60"/>
                </a:solidFill>
                <a:latin typeface="Trebuchet MS"/>
              </a:rPr>
              <a:t>把表格换成你自己的数字。每一列只用一种单位。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41248" y="859536"/>
            <a:ext cx="100584" cy="100584"/>
          </a:xfrm>
          <a:prstGeom prst="ellipse">
            <a:avLst/>
          </a:prstGeom>
          <a:solidFill>
            <a:srgbClr val="A24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33272" y="859536"/>
            <a:ext cx="100584" cy="100584"/>
          </a:xfrm>
          <a:prstGeom prst="ellipse">
            <a:avLst/>
          </a:prstGeom>
          <a:solidFill>
            <a:srgbClr val="A24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225296" y="859536"/>
            <a:ext cx="100584" cy="100584"/>
          </a:xfrm>
          <a:prstGeom prst="ellipse">
            <a:avLst/>
          </a:prstGeom>
          <a:solidFill>
            <a:srgbClr val="A24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115568"/>
            <a:ext cx="1050947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 spc="220">
                <a:solidFill>
                  <a:srgbClr val="A2402C"/>
                </a:solidFill>
                <a:latin typeface="Trebuchet MS"/>
              </a:rPr>
              <a:t>论据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499616"/>
            <a:ext cx="1050947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100" b="1" i="0">
                <a:solidFill>
                  <a:srgbClr val="1C1C1E"/>
                </a:solidFill>
                <a:latin typeface="Georgia"/>
              </a:rPr>
              <a:t>一张图，一个观点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2560320"/>
            <a:ext cx="5464926" cy="2926080"/>
          </a:xfrm>
          <a:prstGeom prst="rect">
            <a:avLst/>
          </a:prstGeom>
          <a:solidFill>
            <a:srgbClr val="F5F4F2"/>
          </a:solidFill>
          <a:ln w="9525">
            <a:solidFill>
              <a:srgbClr val="D6D4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4229502" y="3321100"/>
            <a:ext cx="457200" cy="457200"/>
          </a:xfrm>
          <a:prstGeom prst="ellipse">
            <a:avLst/>
          </a:prstGeom>
          <a:solidFill>
            <a:srgbClr val="C383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ight Triangle 8"/>
          <p:cNvSpPr/>
          <p:nvPr/>
        </p:nvSpPr>
        <p:spPr>
          <a:xfrm>
            <a:off x="1934233" y="3668572"/>
            <a:ext cx="1371600" cy="822960"/>
          </a:xfrm>
          <a:prstGeom prst="rtTriangle">
            <a:avLst/>
          </a:prstGeom>
          <a:solidFill>
            <a:srgbClr val="BFB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ight Triangle 9"/>
          <p:cNvSpPr/>
          <p:nvPr/>
        </p:nvSpPr>
        <p:spPr>
          <a:xfrm>
            <a:off x="3136517" y="3348532"/>
            <a:ext cx="1737360" cy="1143000"/>
          </a:xfrm>
          <a:prstGeom prst="rtTriangle">
            <a:avLst/>
          </a:prstGeom>
          <a:solidFill>
            <a:srgbClr val="9999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715636" y="4491532"/>
            <a:ext cx="3716149" cy="12700"/>
          </a:xfrm>
          <a:prstGeom prst="rect">
            <a:avLst/>
          </a:prstGeom>
          <a:solidFill>
            <a:srgbClr val="8282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41248" y="4700016"/>
            <a:ext cx="546492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 i="0" spc="160">
                <a:solidFill>
                  <a:srgbClr val="5A5A60"/>
                </a:solidFill>
                <a:latin typeface="Trebuchet MS"/>
              </a:rPr>
              <a:t>在此放入图片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37694" y="2560320"/>
            <a:ext cx="4313027" cy="1965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400"/>
              </a:spcAft>
            </a:pPr>
            <a:r>
              <a:rPr sz="1800" b="1" i="0">
                <a:solidFill>
                  <a:srgbClr val="1C1C1E"/>
                </a:solidFill>
                <a:latin typeface="Georgia"/>
              </a:rPr>
              <a:t>一张图，不要四张</a:t>
            </a:r>
          </a:p>
          <a:p>
            <a:pPr>
              <a:lnSpc>
                <a:spcPct val="145000"/>
              </a:lnSpc>
              <a:spcAft>
                <a:spcPts val="1600"/>
              </a:spcAft>
            </a:pPr>
            <a:r>
              <a:rPr sz="1300" b="0" i="0">
                <a:solidFill>
                  <a:srgbClr val="5A5A60"/>
                </a:solidFill>
                <a:latin typeface="Trebuchet MS"/>
              </a:rPr>
              <a:t>挑出能代表这一年的那一条数据，给它一整页。标好坐标轴、写清单位、下面注明来源。其余的放附录。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37694" y="4617720"/>
            <a:ext cx="914400" cy="31750"/>
          </a:xfrm>
          <a:prstGeom prst="rect">
            <a:avLst/>
          </a:prstGeom>
          <a:solidFill>
            <a:srgbClr val="A24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037694" y="4864608"/>
            <a:ext cx="43130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0">
                <a:solidFill>
                  <a:srgbClr val="5A5A60"/>
                </a:solidFill>
                <a:latin typeface="Trebuchet MS"/>
              </a:rPr>
              <a:t>为图片写说明：它展示了什么，来源是哪里。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2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47104"/>
            <a:ext cx="12191969" cy="310896"/>
          </a:xfrm>
          <a:prstGeom prst="rect">
            <a:avLst/>
          </a:prstGeom>
          <a:solidFill>
            <a:srgbClr val="A24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41248" y="2286000"/>
            <a:ext cx="8680673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7600" b="1" i="0">
                <a:solidFill>
                  <a:srgbClr val="A2402C"/>
                </a:solidFill>
                <a:latin typeface="Georgia"/>
              </a:rPr>
              <a:t>03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3500" b="1" i="0">
                <a:solidFill>
                  <a:srgbClr val="FFFFFF"/>
                </a:solidFill>
                <a:latin typeface="Georgia"/>
              </a:rPr>
              <a:t>展望</a:t>
            </a:r>
          </a:p>
          <a:p>
            <a:pPr>
              <a:lnSpc>
                <a:spcPct val="135000"/>
              </a:lnSpc>
            </a:pPr>
            <a:r>
              <a:rPr sz="1500" b="0" i="0">
                <a:solidFill>
                  <a:srgbClr val="FFFFFF"/>
                </a:solidFill>
                <a:latin typeface="Trebuchet MS"/>
              </a:rPr>
              <a:t>假设、区间，以及围绕它们的风险。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1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A24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15568" y="1463040"/>
            <a:ext cx="109728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8400" b="1" i="0">
                <a:solidFill>
                  <a:srgbClr val="B97061"/>
                </a:solidFill>
                <a:latin typeface="Georgia"/>
              </a:rPr>
              <a:t>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" y="2697480"/>
            <a:ext cx="9046433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2200"/>
              </a:spcAft>
            </a:pPr>
            <a:r>
              <a:rPr sz="2700" b="0" i="0">
                <a:solidFill>
                  <a:srgbClr val="1C1C1E"/>
                </a:solidFill>
                <a:latin typeface="Georgia"/>
              </a:rPr>
              <a:t>计划把方向说对了，把节奏说错了。我们宁愿直说，而不是重述一遍。</a:t>
            </a:r>
          </a:p>
          <a:p>
            <a:pPr>
              <a:lnSpc>
                <a:spcPct val="115000"/>
              </a:lnSpc>
            </a:pPr>
            <a:r>
              <a:rPr sz="1050" b="1" i="0" spc="180">
                <a:solidFill>
                  <a:srgbClr val="5A5A60"/>
                </a:solidFill>
                <a:latin typeface="Trebuchet MS"/>
              </a:rPr>
              <a:t>首席执行官 · 年度致辞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2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310896"/>
          </a:xfrm>
          <a:prstGeom prst="rect">
            <a:avLst/>
          </a:prstGeom>
          <a:solidFill>
            <a:srgbClr val="A24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41248" y="2331720"/>
            <a:ext cx="6936252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400"/>
              </a:spcAft>
            </a:pPr>
            <a:r>
              <a:rPr sz="4400" b="1" i="0">
                <a:solidFill>
                  <a:srgbClr val="FFFFFF"/>
                </a:solidFill>
                <a:latin typeface="Georgia"/>
              </a:rPr>
              <a:t>下一年</a:t>
            </a:r>
          </a:p>
          <a:p>
            <a:pPr>
              <a:lnSpc>
                <a:spcPct val="140000"/>
              </a:lnSpc>
            </a:pPr>
            <a:r>
              <a:rPr sz="1500" b="0" i="0">
                <a:solidFill>
                  <a:srgbClr val="FFFFFF"/>
                </a:solidFill>
                <a:latin typeface="Trebuchet MS"/>
              </a:rPr>
              <a:t>三条承诺，每一条都带一个数字和一个可以判定的日期。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5349240"/>
            <a:ext cx="1050947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 spc="200">
                <a:solidFill>
                  <a:srgbClr val="FFFFFF"/>
                </a:solidFill>
                <a:latin typeface="Trebuchet MS"/>
              </a:rPr>
              <a:t>YOUR.NAME@EXAMPLE.COM · +86 000 0000 0000 · EXAMPLE.COM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5257800"/>
            <a:ext cx="1280160" cy="31750"/>
          </a:xfrm>
          <a:prstGeom prst="rect">
            <a:avLst/>
          </a:prstGeom>
          <a:solidFill>
            <a:srgbClr val="A24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C1C1E"/>
      </a:dk1>
      <a:lt1>
        <a:srgbClr val="FFFFFF"/>
      </a:lt1>
      <a:dk2>
        <a:srgbClr val="24242A"/>
      </a:dk2>
      <a:lt2>
        <a:srgbClr val="F5F4F2"/>
      </a:lt2>
      <a:accent1>
        <a:srgbClr val="A2402C"/>
      </a:accent1>
      <a:accent2>
        <a:srgbClr val="C38376"/>
      </a:accent2>
      <a:accent3>
        <a:srgbClr val="1C1C1E"/>
      </a:accent3>
      <a:accent4>
        <a:srgbClr val="5A5A60"/>
      </a:accent4>
      <a:accent5>
        <a:srgbClr val="A4A4A5"/>
      </a:accent5>
      <a:accent6>
        <a:srgbClr val="D6D4D0"/>
      </a:accent6>
      <a:hlink>
        <a:srgbClr val="A2402C"/>
      </a:hlink>
      <a:folHlink>
        <a:srgbClr val="5A5A60"/>
      </a:folHlink>
    </a:clrScheme>
    <a:fontScheme name="Office">
      <a:majorFont>
        <a:latin typeface="Georg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Lattice — CubeOffice template</dc:title>
  <dc:subject>Annual report</dc:subject>
  <dc:creator>CubeOffice</dc:creator>
  <cp:keywords>CubeOffice, template, annual report, zh-CN</cp:keywords>
  <dc:description>CubeOffice 原创模板。可自由使用、修改和再分发，用于个人或商业用途，无需署名。</dc:description>
  <cp:lastModifiedBy>CubeOffice</cp:lastModifiedBy>
  <cp:revision>1</cp:revision>
  <dcterms:created xsi:type="dcterms:W3CDTF">2026-01-01T00:00:00Z</dcterms:created>
  <dcterms:modified xsi:type="dcterms:W3CDTF">2026-01-01T00:00:00Z</dcterms:modified>
  <cp:category>Annual report</cp:category>
</cp:coreProperties>
</file>