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0"/>
            <a:ext cx="1463040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437089" y="3108960"/>
            <a:ext cx="5486400" cy="4480560"/>
          </a:xfrm>
          <a:prstGeom prst="roundRect">
            <a:avLst>
              <a:gd name="adj" fmla="val 30612"/>
            </a:avLst>
          </a:prstGeom>
          <a:solidFill>
            <a:srgbClr val="93B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8625809" y="4114800"/>
            <a:ext cx="4754880" cy="3840480"/>
          </a:xfrm>
          <a:prstGeom prst="roundRect">
            <a:avLst>
              <a:gd name="adj" fmla="val 30952"/>
            </a:avLst>
          </a:prstGeom>
          <a:solidFill>
            <a:srgbClr val="0E6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41248" y="2084831"/>
            <a:ext cx="676656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950" b="1" i="0" spc="240">
                <a:solidFill>
                  <a:srgbClr val="FFFFFF"/>
                </a:solidFill>
                <a:latin typeface="Trebuchet MS"/>
              </a:rPr>
              <a:t>销售策略 · 2026 上半年</a:t>
            </a:r>
          </a:p>
          <a:p>
            <a:pPr>
              <a:lnSpc>
                <a:spcPct val="102000"/>
              </a:lnSpc>
              <a:spcAft>
                <a:spcPts val="1600"/>
              </a:spcAft>
            </a:pPr>
            <a:r>
              <a:rPr sz="5000" b="1" i="0">
                <a:solidFill>
                  <a:srgbClr val="FFFFFF"/>
                </a:solidFill>
                <a:latin typeface="Trebuchet MS"/>
              </a:rPr>
              <a:t>少做单，做好单</a:t>
            </a:r>
          </a:p>
          <a:p>
            <a:pPr>
              <a:lnSpc>
                <a:spcPct val="135000"/>
              </a:lnSpc>
            </a:pPr>
            <a:r>
              <a:rPr sz="1500" b="0" i="0">
                <a:solidFill>
                  <a:srgbClr val="FFFFFF"/>
                </a:solidFill>
                <a:latin typeface="Trebuchet MS"/>
              </a:rPr>
              <a:t>我们在哪里竞争、怎么筛客户，以及不再追什么。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5687568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 spc="180">
                <a:solidFill>
                  <a:srgbClr val="FFFFFF"/>
                </a:solidFill>
                <a:latin typeface="Trebuchet MS"/>
              </a:rPr>
              <a:t>团队名称 · 组织名称 · 2026 年 X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41248" y="841247"/>
            <a:ext cx="822960" cy="164592"/>
          </a:xfrm>
          <a:prstGeom prst="roundRect">
            <a:avLst>
              <a:gd name="adj" fmla="val 50000"/>
            </a:avLst>
          </a:prstGeom>
          <a:solidFill>
            <a:srgbClr val="0E6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0333A"/>
                </a:solidFill>
                <a:latin typeface="Trebuchet MS"/>
              </a:rPr>
              <a:t>本次内容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176272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48" b="1" i="0">
                <a:solidFill>
                  <a:srgbClr val="0E6E7C"/>
                </a:solidFill>
                <a:latin typeface="Trebuchet MS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3035808"/>
            <a:ext cx="4843256" cy="9525"/>
          </a:xfrm>
          <a:prstGeom prst="rect">
            <a:avLst/>
          </a:prstGeom>
          <a:solidFill>
            <a:srgbClr val="C9D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755648" y="2139696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10333A"/>
                </a:solidFill>
                <a:latin typeface="Trebuchet MS"/>
              </a:rPr>
              <a:t>管道</a:t>
            </a:r>
          </a:p>
          <a:p>
            <a:pPr>
              <a:lnSpc>
                <a:spcPct val="130000"/>
              </a:lnSpc>
            </a:pPr>
            <a:r>
              <a:rPr sz="950" b="0" i="0">
                <a:solidFill>
                  <a:srgbClr val="4A6B72"/>
                </a:solidFill>
                <a:latin typeface="Trebuchet MS"/>
              </a:rPr>
              <a:t>里面真正有什么，各在什么阶段。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383280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48" b="1" i="0">
                <a:solidFill>
                  <a:srgbClr val="0E6E7C"/>
                </a:solidFill>
                <a:latin typeface="Trebuchet MS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4242816"/>
            <a:ext cx="4843256" cy="9525"/>
          </a:xfrm>
          <a:prstGeom prst="rect">
            <a:avLst/>
          </a:prstGeom>
          <a:solidFill>
            <a:srgbClr val="C9D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755648" y="3346704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10333A"/>
                </a:solidFill>
                <a:latin typeface="Trebuchet MS"/>
              </a:rPr>
              <a:t>赢在哪里</a:t>
            </a:r>
          </a:p>
          <a:p>
            <a:pPr>
              <a:lnSpc>
                <a:spcPct val="130000"/>
              </a:lnSpc>
            </a:pPr>
            <a:r>
              <a:rPr sz="950" b="0" i="0">
                <a:solidFill>
                  <a:srgbClr val="4A6B72"/>
                </a:solidFill>
                <a:latin typeface="Trebuchet MS"/>
              </a:rPr>
              <a:t>成单里的共同规律。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590288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48" b="1" i="0">
                <a:solidFill>
                  <a:srgbClr val="0E6E7C"/>
                </a:solidFill>
                <a:latin typeface="Trebuchet MS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5449823"/>
            <a:ext cx="4843256" cy="9525"/>
          </a:xfrm>
          <a:prstGeom prst="rect">
            <a:avLst/>
          </a:prstGeom>
          <a:solidFill>
            <a:srgbClr val="C9D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755648" y="4553712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10333A"/>
                </a:solidFill>
                <a:latin typeface="Trebuchet MS"/>
              </a:rPr>
              <a:t>输在哪里</a:t>
            </a:r>
          </a:p>
          <a:p>
            <a:pPr>
              <a:lnSpc>
                <a:spcPct val="130000"/>
              </a:lnSpc>
            </a:pPr>
            <a:r>
              <a:rPr sz="950" b="0" i="0">
                <a:solidFill>
                  <a:srgbClr val="4A6B72"/>
                </a:solidFill>
                <a:latin typeface="Trebuchet MS"/>
              </a:rPr>
              <a:t>没成的那些里的共同规律。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464" y="2176272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48" b="1" i="0">
                <a:solidFill>
                  <a:srgbClr val="0E6E7C"/>
                </a:solidFill>
                <a:latin typeface="Trebuchet MS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07464" y="3035808"/>
            <a:ext cx="4843256" cy="9525"/>
          </a:xfrm>
          <a:prstGeom prst="rect">
            <a:avLst/>
          </a:prstGeom>
          <a:solidFill>
            <a:srgbClr val="C9D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421864" y="2139696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10333A"/>
                </a:solidFill>
                <a:latin typeface="Trebuchet MS"/>
              </a:rPr>
              <a:t>筛选标准</a:t>
            </a:r>
          </a:p>
          <a:p>
            <a:pPr>
              <a:lnSpc>
                <a:spcPct val="130000"/>
              </a:lnSpc>
            </a:pPr>
            <a:r>
              <a:rPr sz="950" b="0" i="0">
                <a:solidFill>
                  <a:srgbClr val="4A6B72"/>
                </a:solidFill>
                <a:latin typeface="Trebuchet MS"/>
              </a:rPr>
              <a:t>线画在哪，谁来把关。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7464" y="3383280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48" b="1" i="0">
                <a:solidFill>
                  <a:srgbClr val="0E6E7C"/>
                </a:solidFill>
                <a:latin typeface="Trebuchet MS"/>
              </a:rPr>
              <a:t>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07464" y="4242816"/>
            <a:ext cx="4843256" cy="9525"/>
          </a:xfrm>
          <a:prstGeom prst="rect">
            <a:avLst/>
          </a:prstGeom>
          <a:solidFill>
            <a:srgbClr val="C9D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421864" y="3346704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10333A"/>
                </a:solidFill>
                <a:latin typeface="Trebuchet MS"/>
              </a:rPr>
              <a:t>覆盖</a:t>
            </a:r>
          </a:p>
          <a:p>
            <a:pPr>
              <a:lnSpc>
                <a:spcPct val="130000"/>
              </a:lnSpc>
            </a:pPr>
            <a:r>
              <a:rPr sz="950" b="0" i="0">
                <a:solidFill>
                  <a:srgbClr val="4A6B72"/>
                </a:solidFill>
                <a:latin typeface="Trebuchet MS"/>
              </a:rPr>
              <a:t>区域、指标、产能。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7464" y="4590288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48" b="1" i="0">
                <a:solidFill>
                  <a:srgbClr val="0E6E7C"/>
                </a:solidFill>
                <a:latin typeface="Trebuchet MS"/>
              </a:rPr>
              <a:t>06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07464" y="5449823"/>
            <a:ext cx="4843256" cy="9525"/>
          </a:xfrm>
          <a:prstGeom prst="rect">
            <a:avLst/>
          </a:prstGeom>
          <a:solidFill>
            <a:srgbClr val="C9D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421864" y="4553712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10333A"/>
                </a:solidFill>
                <a:latin typeface="Trebuchet MS"/>
              </a:rPr>
              <a:t>这半年</a:t>
            </a:r>
          </a:p>
          <a:p>
            <a:pPr>
              <a:lnSpc>
                <a:spcPct val="130000"/>
              </a:lnSpc>
            </a:pPr>
            <a:r>
              <a:rPr sz="950" b="0" i="0">
                <a:solidFill>
                  <a:srgbClr val="4A6B72"/>
                </a:solidFill>
                <a:latin typeface="Trebuchet MS"/>
              </a:rPr>
              <a:t>目标与复盘节奏。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47104"/>
            <a:ext cx="12191969" cy="310896"/>
          </a:xfrm>
          <a:prstGeom prst="rect">
            <a:avLst/>
          </a:prstGeom>
          <a:solidFill>
            <a:srgbClr val="0E6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2286000"/>
            <a:ext cx="8680673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7400" b="1" i="0">
                <a:solidFill>
                  <a:srgbClr val="0E6E7C"/>
                </a:solidFill>
                <a:latin typeface="Trebuchet MS"/>
              </a:rPr>
              <a:t>01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3400" b="1" i="0">
                <a:solidFill>
                  <a:srgbClr val="FFFFFF"/>
                </a:solidFill>
                <a:latin typeface="Trebuchet MS"/>
              </a:rPr>
              <a:t>诊断</a:t>
            </a:r>
          </a:p>
          <a:p>
            <a:pPr>
              <a:lnSpc>
                <a:spcPct val="135000"/>
              </a:lnSpc>
            </a:pPr>
            <a:r>
              <a:rPr sz="1500" b="0" i="0">
                <a:solidFill>
                  <a:srgbClr val="FFFFFF"/>
                </a:solidFill>
                <a:latin typeface="Trebuchet MS"/>
              </a:rPr>
              <a:t>管道数据到底说明了什么。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41248" y="841247"/>
            <a:ext cx="822960" cy="164592"/>
          </a:xfrm>
          <a:prstGeom prst="roundRect">
            <a:avLst>
              <a:gd name="adj" fmla="val 50000"/>
            </a:avLst>
          </a:prstGeom>
          <a:solidFill>
            <a:srgbClr val="0E6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220">
                <a:solidFill>
                  <a:srgbClr val="0E6E7C"/>
                </a:solidFill>
                <a:latin typeface="Trebuchet MS"/>
              </a:rPr>
              <a:t>诊断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0333A"/>
                </a:solidFill>
                <a:latin typeface="Trebuchet MS"/>
              </a:rPr>
              <a:t>我们不缺线索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560320"/>
            <a:ext cx="4834357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10333A"/>
                </a:solidFill>
                <a:latin typeface="Trebuchet MS"/>
              </a:rPr>
              <a:t>说清真正的瓶颈。多数团队不是输在管道不够，而是输在管道里太多东西从来没被筛过。指出哪一环在漏、漏多少、你认为原因是什么——然后只承诺改一件事，而不是五件。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995645" y="2615184"/>
            <a:ext cx="9525" cy="2606040"/>
          </a:xfrm>
          <a:prstGeom prst="rect">
            <a:avLst/>
          </a:prstGeom>
          <a:solidFill>
            <a:srgbClr val="C9D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7125" y="2560320"/>
            <a:ext cx="4943595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E6E7C"/>
                </a:solidFill>
                <a:latin typeface="Trebuchet MS"/>
              </a:rPr>
              <a:t>—  </a:t>
            </a:r>
            <a:r>
              <a:rPr sz="1300">
                <a:solidFill>
                  <a:srgbClr val="4A6B72"/>
                </a:solidFill>
                <a:latin typeface="Trebuchet MS"/>
              </a:rPr>
              <a:t>量消失的地方是二阶段到三阶段之间。</a:t>
            </a:r>
          </a:p>
          <a:p>
            <a:pPr>
              <a:lnSpc>
                <a:spcPct val="130000"/>
              </a:lnSpc>
              <a:spcBef>
                <a:spcPts val="1100"/>
              </a:spcBef>
            </a:pPr>
            <a:r>
              <a:rPr sz="1300" b="1">
                <a:solidFill>
                  <a:srgbClr val="0E6E7C"/>
                </a:solidFill>
                <a:latin typeface="Trebuchet MS"/>
              </a:rPr>
              <a:t>—  </a:t>
            </a:r>
            <a:r>
              <a:rPr sz="1300">
                <a:solidFill>
                  <a:srgbClr val="4A6B72"/>
                </a:solidFill>
                <a:latin typeface="Trebuchet MS"/>
              </a:rPr>
              <a:t>有明确决策人的单子，成单率高出三倍。</a:t>
            </a:r>
          </a:p>
          <a:p>
            <a:pPr>
              <a:lnSpc>
                <a:spcPct val="130000"/>
              </a:lnSpc>
              <a:spcBef>
                <a:spcPts val="1100"/>
              </a:spcBef>
            </a:pPr>
            <a:r>
              <a:rPr sz="1300" b="1">
                <a:solidFill>
                  <a:srgbClr val="0E6E7C"/>
                </a:solidFill>
                <a:latin typeface="Trebuchet MS"/>
              </a:rPr>
              <a:t>—  </a:t>
            </a:r>
            <a:r>
              <a:rPr sz="1300">
                <a:solidFill>
                  <a:srgbClr val="4A6B72"/>
                </a:solidFill>
                <a:latin typeface="Trebuchet MS"/>
              </a:rPr>
              <a:t>没有书面成功标准，周期就会翻倍。</a:t>
            </a:r>
          </a:p>
          <a:p>
            <a:pPr>
              <a:lnSpc>
                <a:spcPct val="130000"/>
              </a:lnSpc>
              <a:spcBef>
                <a:spcPts val="1100"/>
              </a:spcBef>
            </a:pPr>
            <a:r>
              <a:rPr sz="1300" b="1">
                <a:solidFill>
                  <a:srgbClr val="0E6E7C"/>
                </a:solidFill>
                <a:latin typeface="Trebuchet MS"/>
              </a:rPr>
              <a:t>—  </a:t>
            </a:r>
            <a:r>
              <a:rPr sz="1300">
                <a:solidFill>
                  <a:srgbClr val="4A6B72"/>
                </a:solidFill>
                <a:latin typeface="Trebuchet MS"/>
              </a:rPr>
              <a:t>这半年只改一件事：筛选标准，在复盘会上强制执行。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41248" y="841247"/>
            <a:ext cx="822960" cy="164592"/>
          </a:xfrm>
          <a:prstGeom prst="roundRect">
            <a:avLst>
              <a:gd name="adj" fmla="val 50000"/>
            </a:avLst>
          </a:prstGeom>
          <a:solidFill>
            <a:srgbClr val="0E6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220">
                <a:solidFill>
                  <a:srgbClr val="0E6E7C"/>
                </a:solidFill>
                <a:latin typeface="Trebuchet MS"/>
              </a:rPr>
              <a:t>打法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0333A"/>
                </a:solidFill>
                <a:latin typeface="Trebuchet MS"/>
              </a:rPr>
              <a:t>三个动作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560320"/>
            <a:ext cx="3247125" cy="2788920"/>
          </a:xfrm>
          <a:prstGeom prst="roundRect">
            <a:avLst>
              <a:gd name="adj" fmla="val 5901"/>
            </a:avLst>
          </a:prstGeom>
          <a:solidFill>
            <a:srgbClr val="EF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841248" y="2560320"/>
            <a:ext cx="324712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316736" y="3108960"/>
            <a:ext cx="274320" cy="274320"/>
          </a:xfrm>
          <a:prstGeom prst="ellipse">
            <a:avLst/>
          </a:prstGeom>
          <a:solidFill>
            <a:srgbClr val="0E6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6736" y="3584448"/>
            <a:ext cx="2296149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950" b="1" i="0" spc="160">
                <a:solidFill>
                  <a:srgbClr val="0E6E7C"/>
                </a:solidFill>
                <a:latin typeface="Trebuchet MS"/>
              </a:rPr>
              <a:t>01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0333A"/>
                </a:solidFill>
                <a:latin typeface="Trebuchet MS"/>
              </a:rPr>
              <a:t>收窄</a:t>
            </a:r>
          </a:p>
          <a:p>
            <a:pPr>
              <a:lnSpc>
                <a:spcPct val="140000"/>
              </a:lnSpc>
            </a:pPr>
            <a:r>
              <a:rPr sz="1000" b="0" i="0">
                <a:solidFill>
                  <a:srgbClr val="4A6B72"/>
                </a:solidFill>
                <a:latin typeface="Trebuchet MS"/>
              </a:rPr>
              <a:t>两个客群、指定客户名单，名单之外一律不碰。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72421" y="2560320"/>
            <a:ext cx="3247125" cy="2788920"/>
          </a:xfrm>
          <a:prstGeom prst="roundRect">
            <a:avLst>
              <a:gd name="adj" fmla="val 5901"/>
            </a:avLst>
          </a:prstGeom>
          <a:solidFill>
            <a:srgbClr val="EF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472421" y="2560320"/>
            <a:ext cx="324712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947909" y="3108960"/>
            <a:ext cx="274320" cy="274320"/>
          </a:xfrm>
          <a:prstGeom prst="ellipse">
            <a:avLst/>
          </a:prstGeom>
          <a:solidFill>
            <a:srgbClr val="86B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47909" y="3584448"/>
            <a:ext cx="2296149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950" b="1" i="0" spc="160">
                <a:solidFill>
                  <a:srgbClr val="0E6E7C"/>
                </a:solidFill>
                <a:latin typeface="Trebuchet MS"/>
              </a:rPr>
              <a:t>02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0333A"/>
                </a:solidFill>
                <a:latin typeface="Trebuchet MS"/>
              </a:rPr>
              <a:t>筛选</a:t>
            </a:r>
          </a:p>
          <a:p>
            <a:pPr>
              <a:lnSpc>
                <a:spcPct val="140000"/>
              </a:lnSpc>
            </a:pPr>
            <a:r>
              <a:rPr sz="1000" b="0" i="0">
                <a:solidFill>
                  <a:srgbClr val="4A6B72"/>
                </a:solidFill>
                <a:latin typeface="Trebuchet MS"/>
              </a:rPr>
              <a:t>没有决策人、预算和时间点，不许进三阶段。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3595" y="2560320"/>
            <a:ext cx="3247125" cy="2788920"/>
          </a:xfrm>
          <a:prstGeom prst="roundRect">
            <a:avLst>
              <a:gd name="adj" fmla="val 5901"/>
            </a:avLst>
          </a:prstGeom>
          <a:solidFill>
            <a:srgbClr val="EF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8103595" y="2560320"/>
            <a:ext cx="324712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579083" y="3108960"/>
            <a:ext cx="274320" cy="274320"/>
          </a:xfrm>
          <a:prstGeom prst="ellipse">
            <a:avLst/>
          </a:prstGeom>
          <a:solidFill>
            <a:srgbClr val="86B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9083" y="3584448"/>
            <a:ext cx="2296149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950" b="1" i="0" spc="160">
                <a:solidFill>
                  <a:srgbClr val="0E6E7C"/>
                </a:solidFill>
                <a:latin typeface="Trebuchet MS"/>
              </a:rPr>
              <a:t>03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0333A"/>
                </a:solidFill>
                <a:latin typeface="Trebuchet MS"/>
              </a:rPr>
              <a:t>举证</a:t>
            </a:r>
          </a:p>
          <a:p>
            <a:pPr>
              <a:lnSpc>
                <a:spcPct val="140000"/>
              </a:lnSpc>
            </a:pPr>
            <a:r>
              <a:rPr sz="1000" b="0" i="0">
                <a:solidFill>
                  <a:srgbClr val="4A6B72"/>
                </a:solidFill>
                <a:latin typeface="Trebuchet MS"/>
              </a:rPr>
              <a:t>每个单子都配一个买方可以直接打电话的参考客户。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41248" y="841247"/>
            <a:ext cx="822960" cy="164592"/>
          </a:xfrm>
          <a:prstGeom prst="roundRect">
            <a:avLst>
              <a:gd name="adj" fmla="val 50000"/>
            </a:avLst>
          </a:prstGeom>
          <a:solidFill>
            <a:srgbClr val="0E6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220">
                <a:solidFill>
                  <a:srgbClr val="0E6E7C"/>
                </a:solidFill>
                <a:latin typeface="Trebuchet MS"/>
              </a:rPr>
              <a:t>管道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0333A"/>
                </a:solidFill>
                <a:latin typeface="Trebuchet MS"/>
              </a:rPr>
              <a:t>今天的状态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560320"/>
            <a:ext cx="207872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4400" b="1" i="0">
                <a:solidFill>
                  <a:srgbClr val="0E6E7C"/>
                </a:solidFill>
                <a:latin typeface="Trebuchet MS"/>
              </a:rPr>
              <a:t>3.1 倍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 b="1" i="0">
                <a:solidFill>
                  <a:srgbClr val="10333A"/>
                </a:solidFill>
                <a:latin typeface="Trebuchet MS"/>
              </a:rPr>
              <a:t>覆盖倍数</a:t>
            </a:r>
          </a:p>
          <a:p>
            <a:pPr>
              <a:lnSpc>
                <a:spcPct val="135000"/>
              </a:lnSpc>
            </a:pPr>
            <a:r>
              <a:rPr sz="950" b="0" i="0">
                <a:solidFill>
                  <a:srgbClr val="4A6B72"/>
                </a:solidFill>
                <a:latin typeface="Trebuchet MS"/>
              </a:rPr>
              <a:t>本半年目标为 4 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3194296" y="2697479"/>
            <a:ext cx="9525" cy="1783080"/>
          </a:xfrm>
          <a:prstGeom prst="rect">
            <a:avLst/>
          </a:prstGeom>
          <a:solidFill>
            <a:srgbClr val="C9D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468616" y="2560320"/>
            <a:ext cx="207872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4400" b="1" i="0">
                <a:solidFill>
                  <a:srgbClr val="10333A"/>
                </a:solidFill>
                <a:latin typeface="Trebuchet MS"/>
              </a:rPr>
              <a:t>38%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 b="1" i="0">
                <a:solidFill>
                  <a:srgbClr val="10333A"/>
                </a:solidFill>
                <a:latin typeface="Trebuchet MS"/>
              </a:rPr>
              <a:t>三阶段成单率</a:t>
            </a:r>
          </a:p>
          <a:p>
            <a:pPr>
              <a:lnSpc>
                <a:spcPct val="135000"/>
              </a:lnSpc>
            </a:pPr>
            <a:r>
              <a:rPr sz="950" b="0" i="0">
                <a:solidFill>
                  <a:srgbClr val="4A6B72"/>
                </a:solidFill>
                <a:latin typeface="Trebuchet MS"/>
              </a:rPr>
              <a:t>仅统计合格单，此前为 29%。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821664" y="2697479"/>
            <a:ext cx="9525" cy="1783080"/>
          </a:xfrm>
          <a:prstGeom prst="rect">
            <a:avLst/>
          </a:prstGeom>
          <a:solidFill>
            <a:srgbClr val="C9D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095984" y="2560320"/>
            <a:ext cx="207872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4400" b="1" i="0">
                <a:solidFill>
                  <a:srgbClr val="10333A"/>
                </a:solidFill>
                <a:latin typeface="Trebuchet MS"/>
              </a:rPr>
              <a:t>71 天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 b="1" i="0">
                <a:solidFill>
                  <a:srgbClr val="10333A"/>
                </a:solidFill>
                <a:latin typeface="Trebuchet MS"/>
              </a:rPr>
              <a:t>成单周期</a:t>
            </a:r>
          </a:p>
          <a:p>
            <a:pPr>
              <a:lnSpc>
                <a:spcPct val="135000"/>
              </a:lnSpc>
            </a:pPr>
            <a:r>
              <a:rPr sz="950" b="0" i="0">
                <a:solidFill>
                  <a:srgbClr val="4A6B72"/>
                </a:solidFill>
                <a:latin typeface="Trebuchet MS"/>
              </a:rPr>
              <a:t>首次会面到签约的中位数。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49033" y="2697479"/>
            <a:ext cx="9525" cy="1783080"/>
          </a:xfrm>
          <a:prstGeom prst="rect">
            <a:avLst/>
          </a:prstGeom>
          <a:solidFill>
            <a:srgbClr val="C9D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723353" y="2560320"/>
            <a:ext cx="207872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4400" b="1" i="0">
                <a:solidFill>
                  <a:srgbClr val="10333A"/>
                </a:solidFill>
                <a:latin typeface="Trebuchet MS"/>
              </a:rPr>
              <a:t>4.6 万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 b="1" i="0">
                <a:solidFill>
                  <a:srgbClr val="10333A"/>
                </a:solidFill>
                <a:latin typeface="Trebuchet MS"/>
              </a:rPr>
              <a:t>平均单价</a:t>
            </a:r>
          </a:p>
          <a:p>
            <a:pPr>
              <a:lnSpc>
                <a:spcPct val="135000"/>
              </a:lnSpc>
            </a:pPr>
            <a:r>
              <a:rPr sz="950" b="0" i="0">
                <a:solidFill>
                  <a:srgbClr val="4A6B72"/>
                </a:solidFill>
                <a:latin typeface="Trebuchet MS"/>
              </a:rPr>
              <a:t>持平，来自结构而非折扣。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4892040"/>
            <a:ext cx="10509473" cy="914400"/>
          </a:xfrm>
          <a:prstGeom prst="roundRect">
            <a:avLst>
              <a:gd name="adj" fmla="val 18000"/>
            </a:avLst>
          </a:prstGeom>
          <a:solidFill>
            <a:srgbClr val="DDE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298448" y="5111496"/>
            <a:ext cx="9595073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0333A"/>
                </a:solidFill>
                <a:latin typeface="Trebuchet MS"/>
              </a:rPr>
              <a:t>覆盖倍数为合格管道除以指标。未通过筛选的机会有意不计入。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47104"/>
            <a:ext cx="12191969" cy="310896"/>
          </a:xfrm>
          <a:prstGeom prst="rect">
            <a:avLst/>
          </a:prstGeom>
          <a:solidFill>
            <a:srgbClr val="0E6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2286000"/>
            <a:ext cx="8680673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7400" b="1" i="0">
                <a:solidFill>
                  <a:srgbClr val="0E6E7C"/>
                </a:solidFill>
                <a:latin typeface="Trebuchet MS"/>
              </a:rPr>
              <a:t>02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3400" b="1" i="0">
                <a:solidFill>
                  <a:srgbClr val="FFFFFF"/>
                </a:solidFill>
                <a:latin typeface="Trebuchet MS"/>
              </a:rPr>
              <a:t>打法</a:t>
            </a:r>
          </a:p>
          <a:p>
            <a:pPr>
              <a:lnSpc>
                <a:spcPct val="135000"/>
              </a:lnSpc>
            </a:pPr>
            <a:r>
              <a:rPr sz="1500" b="0" i="0">
                <a:solidFill>
                  <a:srgbClr val="FFFFFF"/>
                </a:solidFill>
                <a:latin typeface="Trebuchet MS"/>
              </a:rPr>
              <a:t>客群、话术、动作。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41248" y="841247"/>
            <a:ext cx="822960" cy="164592"/>
          </a:xfrm>
          <a:prstGeom prst="roundRect">
            <a:avLst>
              <a:gd name="adj" fmla="val 50000"/>
            </a:avLst>
          </a:prstGeom>
          <a:solidFill>
            <a:srgbClr val="0E6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220">
                <a:solidFill>
                  <a:srgbClr val="0E6E7C"/>
                </a:solidFill>
                <a:latin typeface="Trebuchet MS"/>
              </a:rPr>
              <a:t>这半年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0333A"/>
                </a:solidFill>
                <a:latin typeface="Trebuchet MS"/>
              </a:rPr>
              <a:t>节奏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3611879"/>
            <a:ext cx="10509473" cy="19050"/>
          </a:xfrm>
          <a:prstGeom prst="rect">
            <a:avLst/>
          </a:prstGeom>
          <a:solidFill>
            <a:srgbClr val="C9D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763524" y="3543299"/>
            <a:ext cx="173736" cy="173736"/>
          </a:xfrm>
          <a:prstGeom prst="ellipse">
            <a:avLst/>
          </a:prstGeom>
          <a:solidFill>
            <a:srgbClr val="0E6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953511"/>
            <a:ext cx="17818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60">
                <a:solidFill>
                  <a:srgbClr val="0E6E7C"/>
                </a:solidFill>
                <a:latin typeface="Trebuchet MS"/>
              </a:rPr>
              <a:t>第 1 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995928"/>
            <a:ext cx="178185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 i="0">
                <a:solidFill>
                  <a:srgbClr val="10333A"/>
                </a:solidFill>
                <a:latin typeface="Trebuchet MS"/>
              </a:rPr>
              <a:t>重置</a:t>
            </a:r>
          </a:p>
          <a:p>
            <a:pPr>
              <a:lnSpc>
                <a:spcPct val="135000"/>
              </a:lnSpc>
            </a:pPr>
            <a:r>
              <a:rPr sz="950" b="0" i="0">
                <a:solidFill>
                  <a:srgbClr val="4A6B72"/>
                </a:solidFill>
                <a:latin typeface="Trebuchet MS"/>
              </a:rPr>
              <a:t>按新标准把管道过一遍。</a:t>
            </a:r>
          </a:p>
        </p:txBody>
      </p:sp>
      <p:sp>
        <p:nvSpPr>
          <p:cNvPr id="9" name="Oval 8"/>
          <p:cNvSpPr/>
          <p:nvPr/>
        </p:nvSpPr>
        <p:spPr>
          <a:xfrm>
            <a:off x="2865418" y="3543299"/>
            <a:ext cx="173736" cy="173736"/>
          </a:xfrm>
          <a:prstGeom prst="ellipse">
            <a:avLst/>
          </a:prstGeom>
          <a:solidFill>
            <a:srgbClr val="0E6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43142" y="2953511"/>
            <a:ext cx="17818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60">
                <a:solidFill>
                  <a:srgbClr val="0E6E7C"/>
                </a:solidFill>
                <a:latin typeface="Trebuchet MS"/>
              </a:rPr>
              <a:t>第 2 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43142" y="3995928"/>
            <a:ext cx="178185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 i="0">
                <a:solidFill>
                  <a:srgbClr val="10333A"/>
                </a:solidFill>
                <a:latin typeface="Trebuchet MS"/>
              </a:rPr>
              <a:t>再培训</a:t>
            </a:r>
          </a:p>
          <a:p>
            <a:pPr>
              <a:lnSpc>
                <a:spcPct val="135000"/>
              </a:lnSpc>
            </a:pPr>
            <a:r>
              <a:rPr sz="950" b="0" i="0">
                <a:solidFill>
                  <a:srgbClr val="4A6B72"/>
                </a:solidFill>
                <a:latin typeface="Trebuchet MS"/>
              </a:rPr>
              <a:t>一次工作坊、一套话术、一张清单。</a:t>
            </a:r>
          </a:p>
        </p:txBody>
      </p:sp>
      <p:sp>
        <p:nvSpPr>
          <p:cNvPr id="12" name="Oval 11"/>
          <p:cNvSpPr/>
          <p:nvPr/>
        </p:nvSpPr>
        <p:spPr>
          <a:xfrm>
            <a:off x="4967313" y="3543299"/>
            <a:ext cx="173736" cy="1737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D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5037" y="2953511"/>
            <a:ext cx="17818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60">
                <a:solidFill>
                  <a:srgbClr val="4A6B72"/>
                </a:solidFill>
                <a:latin typeface="Trebuchet MS"/>
              </a:rPr>
              <a:t>第 6 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5037" y="3995928"/>
            <a:ext cx="178185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 i="0">
                <a:solidFill>
                  <a:srgbClr val="10333A"/>
                </a:solidFill>
                <a:latin typeface="Trebuchet MS"/>
              </a:rPr>
              <a:t>首次回看</a:t>
            </a:r>
          </a:p>
          <a:p>
            <a:pPr>
              <a:lnSpc>
                <a:spcPct val="135000"/>
              </a:lnSpc>
            </a:pPr>
            <a:r>
              <a:rPr sz="950" b="0" i="0">
                <a:solidFill>
                  <a:srgbClr val="4A6B72"/>
                </a:solidFill>
                <a:latin typeface="Trebuchet MS"/>
              </a:rPr>
              <a:t>按客群看成单率和周期。</a:t>
            </a:r>
          </a:p>
        </p:txBody>
      </p:sp>
      <p:sp>
        <p:nvSpPr>
          <p:cNvPr id="15" name="Oval 14"/>
          <p:cNvSpPr/>
          <p:nvPr/>
        </p:nvSpPr>
        <p:spPr>
          <a:xfrm>
            <a:off x="7069208" y="3543299"/>
            <a:ext cx="173736" cy="1737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D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46932" y="2953511"/>
            <a:ext cx="17818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60">
                <a:solidFill>
                  <a:srgbClr val="4A6B72"/>
                </a:solidFill>
                <a:latin typeface="Trebuchet MS"/>
              </a:rPr>
              <a:t>第 12 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46932" y="3995928"/>
            <a:ext cx="178185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 i="0">
                <a:solidFill>
                  <a:srgbClr val="10333A"/>
                </a:solidFill>
                <a:latin typeface="Trebuchet MS"/>
              </a:rPr>
              <a:t>校正</a:t>
            </a:r>
          </a:p>
          <a:p>
            <a:pPr>
              <a:lnSpc>
                <a:spcPct val="135000"/>
              </a:lnSpc>
            </a:pPr>
            <a:r>
              <a:rPr sz="950" b="0" i="0">
                <a:solidFill>
                  <a:srgbClr val="4A6B72"/>
                </a:solidFill>
                <a:latin typeface="Trebuchet MS"/>
              </a:rPr>
              <a:t>必要时调整区域与指标。</a:t>
            </a:r>
          </a:p>
        </p:txBody>
      </p:sp>
      <p:sp>
        <p:nvSpPr>
          <p:cNvPr id="18" name="Oval 17"/>
          <p:cNvSpPr/>
          <p:nvPr/>
        </p:nvSpPr>
        <p:spPr>
          <a:xfrm>
            <a:off x="9171102" y="3543299"/>
            <a:ext cx="173736" cy="1737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D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48826" y="2953511"/>
            <a:ext cx="17818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60">
                <a:solidFill>
                  <a:srgbClr val="4A6B72"/>
                </a:solidFill>
                <a:latin typeface="Trebuchet MS"/>
              </a:rPr>
              <a:t>第 24 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8826" y="3995928"/>
            <a:ext cx="178185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 i="0">
                <a:solidFill>
                  <a:srgbClr val="10333A"/>
                </a:solidFill>
                <a:latin typeface="Trebuchet MS"/>
              </a:rPr>
              <a:t>收尾</a:t>
            </a:r>
          </a:p>
          <a:p>
            <a:pPr>
              <a:lnSpc>
                <a:spcPct val="135000"/>
              </a:lnSpc>
            </a:pPr>
            <a:r>
              <a:rPr sz="950" b="0" i="0">
                <a:solidFill>
                  <a:srgbClr val="4A6B72"/>
                </a:solidFill>
                <a:latin typeface="Trebuchet MS"/>
              </a:rPr>
              <a:t>对照两个目标复盘整个半年。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41248" y="841247"/>
            <a:ext cx="822960" cy="164592"/>
          </a:xfrm>
          <a:prstGeom prst="roundRect">
            <a:avLst>
              <a:gd name="adj" fmla="val 50000"/>
            </a:avLst>
          </a:prstGeom>
          <a:solidFill>
            <a:srgbClr val="0E6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220">
                <a:solidFill>
                  <a:srgbClr val="0E6E7C"/>
                </a:solidFill>
                <a:latin typeface="Trebuchet MS"/>
              </a:rPr>
              <a:t>覆盖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0333A"/>
                </a:solidFill>
                <a:latin typeface="Trebuchet MS"/>
              </a:rPr>
              <a:t>区域与指标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2560320"/>
            <a:ext cx="10509473" cy="566928"/>
          </a:xfrm>
          <a:prstGeom prst="rect">
            <a:avLst/>
          </a:prstGeom>
          <a:solidFill>
            <a:srgbClr val="103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32074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40">
                <a:solidFill>
                  <a:srgbClr val="FFFFFF"/>
                </a:solidFill>
                <a:latin typeface="Trebuchet MS"/>
              </a:rPr>
              <a:t>区域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70500" y="2560320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40">
                <a:solidFill>
                  <a:srgbClr val="FFFFFF"/>
                </a:solidFill>
                <a:latin typeface="Trebuchet MS"/>
              </a:rPr>
              <a:t>人数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2585" y="2560320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40">
                <a:solidFill>
                  <a:srgbClr val="FFFFFF"/>
                </a:solidFill>
                <a:latin typeface="Trebuchet MS"/>
              </a:rPr>
              <a:t>指标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94669" y="2560320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40">
                <a:solidFill>
                  <a:srgbClr val="FFFFFF"/>
                </a:solidFill>
                <a:latin typeface="Trebuchet MS"/>
              </a:rPr>
              <a:t>覆盖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3127248"/>
            <a:ext cx="10509473" cy="566928"/>
          </a:xfrm>
          <a:prstGeom prst="rect">
            <a:avLst/>
          </a:prstGeom>
          <a:solidFill>
            <a:srgbClr val="EF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841248" y="3694176"/>
            <a:ext cx="10509473" cy="6350"/>
          </a:xfrm>
          <a:prstGeom prst="rect">
            <a:avLst/>
          </a:prstGeom>
          <a:solidFill>
            <a:srgbClr val="C9D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97280" y="3127248"/>
            <a:ext cx="32074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0333A"/>
                </a:solidFill>
                <a:latin typeface="Trebuchet MS"/>
              </a:rPr>
              <a:t>华北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0500" y="3127248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A6B72"/>
                </a:solidFill>
                <a:latin typeface="Trebuchet M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82585" y="3127248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A6B72"/>
                </a:solidFill>
                <a:latin typeface="Trebuchet MS"/>
              </a:rPr>
              <a:t>240 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94669" y="3127248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A6B72"/>
                </a:solidFill>
                <a:latin typeface="Trebuchet MS"/>
              </a:rPr>
              <a:t>3.6 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4261104"/>
            <a:ext cx="10509473" cy="6350"/>
          </a:xfrm>
          <a:prstGeom prst="rect">
            <a:avLst/>
          </a:prstGeom>
          <a:solidFill>
            <a:srgbClr val="C9D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97280" y="3694176"/>
            <a:ext cx="32074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0333A"/>
                </a:solidFill>
                <a:latin typeface="Trebuchet MS"/>
              </a:rPr>
              <a:t>华南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0500" y="3694176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A6B72"/>
                </a:solidFill>
                <a:latin typeface="Trebuchet M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82585" y="3694176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A6B72"/>
                </a:solidFill>
                <a:latin typeface="Trebuchet MS"/>
              </a:rPr>
              <a:t>180 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4669" y="3694176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A6B72"/>
                </a:solidFill>
                <a:latin typeface="Trebuchet MS"/>
              </a:rPr>
              <a:t>2.9 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" y="4261104"/>
            <a:ext cx="10509473" cy="566928"/>
          </a:xfrm>
          <a:prstGeom prst="rect">
            <a:avLst/>
          </a:prstGeom>
          <a:solidFill>
            <a:srgbClr val="EF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841248" y="4828032"/>
            <a:ext cx="10509473" cy="6350"/>
          </a:xfrm>
          <a:prstGeom prst="rect">
            <a:avLst/>
          </a:prstGeom>
          <a:solidFill>
            <a:srgbClr val="C9D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097280" y="4261104"/>
            <a:ext cx="32074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0333A"/>
                </a:solidFill>
                <a:latin typeface="Trebuchet MS"/>
              </a:rPr>
              <a:t>大客户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70500" y="4261104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A6B72"/>
                </a:solidFill>
                <a:latin typeface="Trebuchet M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82585" y="4261104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A6B72"/>
                </a:solidFill>
                <a:latin typeface="Trebuchet MS"/>
              </a:rPr>
              <a:t>200 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4669" y="4261104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A6B72"/>
                </a:solidFill>
                <a:latin typeface="Trebuchet MS"/>
              </a:rPr>
              <a:t>3.4 倍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" y="5394959"/>
            <a:ext cx="10509473" cy="6350"/>
          </a:xfrm>
          <a:prstGeom prst="rect">
            <a:avLst/>
          </a:prstGeom>
          <a:solidFill>
            <a:srgbClr val="C9D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097280" y="4828031"/>
            <a:ext cx="32074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0333A"/>
                </a:solidFill>
                <a:latin typeface="Trebuchet MS"/>
              </a:rPr>
              <a:t>渠道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70500" y="4828031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A6B72"/>
                </a:solidFill>
                <a:latin typeface="Trebuchet MS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2585" y="4828031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A6B72"/>
                </a:solidFill>
                <a:latin typeface="Trebuchet MS"/>
              </a:rPr>
              <a:t>60 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94669" y="4828031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A6B72"/>
                </a:solidFill>
                <a:latin typeface="Trebuchet MS"/>
              </a:rPr>
              <a:t>2.1 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5650992"/>
            <a:ext cx="1050947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4A6B72"/>
                </a:solidFill>
                <a:latin typeface="Trebuchet MS"/>
              </a:rPr>
              <a:t>把表格换成你自己的数字。每一列只用一种单位。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41248" y="841247"/>
            <a:ext cx="822960" cy="164592"/>
          </a:xfrm>
          <a:prstGeom prst="roundRect">
            <a:avLst>
              <a:gd name="adj" fmla="val 50000"/>
            </a:avLst>
          </a:prstGeom>
          <a:solidFill>
            <a:srgbClr val="0E6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220">
                <a:solidFill>
                  <a:srgbClr val="0E6E7C"/>
                </a:solidFill>
                <a:latin typeface="Trebuchet MS"/>
              </a:rPr>
              <a:t>论据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0333A"/>
                </a:solidFill>
                <a:latin typeface="Trebuchet MS"/>
              </a:rPr>
              <a:t>一张图，一个观点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560320"/>
            <a:ext cx="5464926" cy="2926080"/>
          </a:xfrm>
          <a:prstGeom prst="roundRect">
            <a:avLst>
              <a:gd name="adj" fmla="val 5624"/>
            </a:avLst>
          </a:prstGeom>
          <a:solidFill>
            <a:srgbClr val="EFF6F7"/>
          </a:solidFill>
          <a:ln w="9525">
            <a:solidFill>
              <a:srgbClr val="C9D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4229502" y="3321100"/>
            <a:ext cx="457200" cy="457200"/>
          </a:xfrm>
          <a:prstGeom prst="ellipse">
            <a:avLst/>
          </a:prstGeom>
          <a:solidFill>
            <a:srgbClr val="62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Triangle 6"/>
          <p:cNvSpPr/>
          <p:nvPr/>
        </p:nvSpPr>
        <p:spPr>
          <a:xfrm>
            <a:off x="1934233" y="3668572"/>
            <a:ext cx="1371600" cy="822960"/>
          </a:xfrm>
          <a:prstGeom prst="rtTriangle">
            <a:avLst/>
          </a:prstGeom>
          <a:solidFill>
            <a:srgbClr val="BCC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Triangle 7"/>
          <p:cNvSpPr/>
          <p:nvPr/>
        </p:nvSpPr>
        <p:spPr>
          <a:xfrm>
            <a:off x="3136517" y="3348532"/>
            <a:ext cx="1737360" cy="1143000"/>
          </a:xfrm>
          <a:prstGeom prst="rtTriangle">
            <a:avLst/>
          </a:prstGeom>
          <a:solidFill>
            <a:srgbClr val="93A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15636" y="4491532"/>
            <a:ext cx="3716149" cy="12700"/>
          </a:xfrm>
          <a:prstGeom prst="rect">
            <a:avLst/>
          </a:prstGeom>
          <a:solidFill>
            <a:srgbClr val="7C8F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8" y="4700016"/>
            <a:ext cx="546492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 spc="160">
                <a:solidFill>
                  <a:srgbClr val="4A6B72"/>
                </a:solidFill>
                <a:latin typeface="Trebuchet MS"/>
              </a:rPr>
              <a:t>在此放入图片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37694" y="2560320"/>
            <a:ext cx="4313027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800" b="1" i="0">
                <a:solidFill>
                  <a:srgbClr val="10333A"/>
                </a:solidFill>
                <a:latin typeface="Trebuchet MS"/>
              </a:rPr>
              <a:t>给出漏斗，而不是预测数</a:t>
            </a:r>
          </a:p>
          <a:p>
            <a:pPr>
              <a:lnSpc>
                <a:spcPct val="145000"/>
              </a:lnSpc>
              <a:spcAft>
                <a:spcPts val="1600"/>
              </a:spcAft>
            </a:pPr>
            <a:r>
              <a:rPr sz="1300" b="0" i="0">
                <a:solidFill>
                  <a:srgbClr val="4A6B72"/>
                </a:solidFill>
                <a:latin typeface="Trebuchet MS"/>
              </a:rPr>
              <a:t>按阶段的转化图能告诉团队该往哪使劲；一个预测数字只能告诉他们该有多紧张。前者贴墙上，后者留在复盘会里。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37694" y="4617720"/>
            <a:ext cx="914400" cy="31750"/>
          </a:xfrm>
          <a:prstGeom prst="rect">
            <a:avLst/>
          </a:prstGeom>
          <a:solidFill>
            <a:srgbClr val="0E6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037694" y="4864608"/>
            <a:ext cx="43130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4A6B72"/>
                </a:solidFill>
                <a:latin typeface="Trebuchet MS"/>
              </a:rPr>
              <a:t>为图片写说明：它展示了什么，来源是哪里。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47104"/>
            <a:ext cx="12191969" cy="310896"/>
          </a:xfrm>
          <a:prstGeom prst="rect">
            <a:avLst/>
          </a:prstGeom>
          <a:solidFill>
            <a:srgbClr val="0E6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2286000"/>
            <a:ext cx="8680673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7400" b="1" i="0">
                <a:solidFill>
                  <a:srgbClr val="0E6E7C"/>
                </a:solidFill>
                <a:latin typeface="Trebuchet MS"/>
              </a:rPr>
              <a:t>03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3400" b="1" i="0">
                <a:solidFill>
                  <a:srgbClr val="FFFFFF"/>
                </a:solidFill>
                <a:latin typeface="Trebuchet MS"/>
              </a:rPr>
              <a:t>执行</a:t>
            </a:r>
          </a:p>
          <a:p>
            <a:pPr>
              <a:lnSpc>
                <a:spcPct val="135000"/>
              </a:lnSpc>
            </a:pPr>
            <a:r>
              <a:rPr sz="1500" b="0" i="0">
                <a:solidFill>
                  <a:srgbClr val="FFFFFF"/>
                </a:solidFill>
                <a:latin typeface="Trebuchet MS"/>
              </a:rPr>
              <a:t>覆盖、指标与节奏。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3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0E6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15568" y="1463040"/>
            <a:ext cx="10972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400" b="1" i="0">
                <a:solidFill>
                  <a:srgbClr val="4A929D"/>
                </a:solidFill>
                <a:latin typeface="Trebuchet MS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2697480"/>
            <a:ext cx="9046433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2200"/>
              </a:spcAft>
            </a:pPr>
            <a:r>
              <a:rPr sz="2600" b="0" i="0">
                <a:solidFill>
                  <a:srgbClr val="10333A"/>
                </a:solidFill>
                <a:latin typeface="Trebuchet MS"/>
              </a:rPr>
              <a:t>我们输掉的那些单子，本来就不该去做。</a:t>
            </a:r>
          </a:p>
          <a:p>
            <a:pPr>
              <a:lnSpc>
                <a:spcPct val="115000"/>
              </a:lnSpc>
            </a:pPr>
            <a:r>
              <a:rPr sz="1050" b="1" i="0" spc="180">
                <a:solidFill>
                  <a:srgbClr val="4A6B72"/>
                </a:solidFill>
                <a:latin typeface="Trebuchet MS"/>
              </a:rPr>
              <a:t>区域负责人 · 季度复盘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310896"/>
          </a:xfrm>
          <a:prstGeom prst="rect">
            <a:avLst/>
          </a:prstGeom>
          <a:solidFill>
            <a:srgbClr val="0E6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2331720"/>
            <a:ext cx="6936252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4200" b="1" i="0">
                <a:solidFill>
                  <a:srgbClr val="FFFFFF"/>
                </a:solidFill>
                <a:latin typeface="Trebuchet MS"/>
              </a:rPr>
              <a:t>我们需要什么</a:t>
            </a:r>
          </a:p>
          <a:p>
            <a:pPr>
              <a:lnSpc>
                <a:spcPct val="140000"/>
              </a:lnSpc>
            </a:pPr>
            <a:r>
              <a:rPr sz="1500" b="0" i="0">
                <a:solidFill>
                  <a:srgbClr val="FFFFFF"/>
                </a:solidFill>
                <a:latin typeface="Trebuchet MS"/>
              </a:rPr>
              <a:t>两个编制、一周赋能时间，以及无需层层上报即可判定客户不合格的权限。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5349240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 spc="200">
                <a:solidFill>
                  <a:srgbClr val="FFFFFF"/>
                </a:solidFill>
                <a:latin typeface="Trebuchet MS"/>
              </a:rPr>
              <a:t>YOUR.NAME@EXAMPLE.COM · +86 000 0000 0000 · EXAMPLE.COM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5257800"/>
            <a:ext cx="1280160" cy="31750"/>
          </a:xfrm>
          <a:prstGeom prst="rect">
            <a:avLst/>
          </a:prstGeom>
          <a:solidFill>
            <a:srgbClr val="0E6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0333A"/>
      </a:dk1>
      <a:lt1>
        <a:srgbClr val="FFFFFF"/>
      </a:lt1>
      <a:dk2>
        <a:srgbClr val="0B2A30"/>
      </a:dk2>
      <a:lt2>
        <a:srgbClr val="EFF6F7"/>
      </a:lt2>
      <a:accent1>
        <a:srgbClr val="0E6E7C"/>
      </a:accent1>
      <a:accent2>
        <a:srgbClr val="62A1AA"/>
      </a:accent2>
      <a:accent3>
        <a:srgbClr val="10333A"/>
      </a:accent3>
      <a:accent4>
        <a:srgbClr val="4A6B72"/>
      </a:accent4>
      <a:accent5>
        <a:srgbClr val="9FADB0"/>
      </a:accent5>
      <a:accent6>
        <a:srgbClr val="C9DCDF"/>
      </a:accent6>
      <a:hlink>
        <a:srgbClr val="0E6E7C"/>
      </a:hlink>
      <a:folHlink>
        <a:srgbClr val="4A6B72"/>
      </a:folHlink>
    </a:clrScheme>
    <a:fontScheme name="Office">
      <a:majorFont>
        <a:latin typeface="Trebuchet M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Tidewater — CubeOffice template</dc:title>
  <dc:subject>Sales strategy</dc:subject>
  <dc:creator>CubeOffice</dc:creator>
  <cp:keywords>CubeOffice, template, sales strategy, zh-CN</cp:keywords>
  <dc:description>CubeOffice 原创模板。可自由使用、修改和再分发，用于个人或商业用途，无需署名。</dc:description>
  <cp:lastModifiedBy>CubeOffice</cp:lastModifiedBy>
  <cp:revision>1</cp:revision>
  <dcterms:created xsi:type="dcterms:W3CDTF">2026-01-01T00:00:00Z</dcterms:created>
  <dcterms:modified xsi:type="dcterms:W3CDTF">2026-01-01T00:00:00Z</dcterms:modified>
  <cp:category>Sales strategy</cp:category>
</cp:coreProperties>
</file>