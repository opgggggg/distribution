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800" y="0"/>
            <a:ext cx="14630400"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4133" y="0"/>
            <a:ext cx="5147733" cy="0"/>
          </a:xfrm>
        </p:spPr>
        <p:txBody>
          <a:bodyPr/>
          <a:lstStyle/>
          <a:p>
            <a:endParaRPr lang="en-US"/>
          </a:p>
        </p:txBody>
      </p:sp>
      <p:sp>
        <p:nvSpPr>
          <p:cNvPr id="9" name="Slide Number Placeholder 8"/>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4133" y="0"/>
            <a:ext cx="5147733" cy="0"/>
          </a:xfrm>
        </p:spPr>
        <p:txBody>
          <a:bodyPr/>
          <a:lstStyle/>
          <a:p>
            <a:endParaRPr lang="en-US"/>
          </a:p>
        </p:txBody>
      </p:sp>
      <p:sp>
        <p:nvSpPr>
          <p:cNvPr id="5" name="Slide Number Placeholder 4"/>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4133" y="0"/>
            <a:ext cx="5147733" cy="0"/>
          </a:xfrm>
        </p:spPr>
        <p:txBody>
          <a:bodyPr/>
          <a:lstStyle/>
          <a:p>
            <a:endParaRPr lang="en-US"/>
          </a:p>
        </p:txBody>
      </p:sp>
      <p:sp>
        <p:nvSpPr>
          <p:cNvPr id="4" name="Slide Number Placeholder 3"/>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0"/>
            <a:ext cx="14630400"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22960"/>
            <a:ext cx="10509473" cy="381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41248" y="5486400"/>
            <a:ext cx="329184" cy="32918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316736" y="5486400"/>
            <a:ext cx="329184" cy="329184"/>
          </a:xfrm>
          <a:prstGeom prst="rect">
            <a:avLst/>
          </a:prstGeom>
          <a:solidFill>
            <a:srgbClr val="6C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792224" y="5486400"/>
            <a:ext cx="329184" cy="329184"/>
          </a:xfrm>
          <a:prstGeom prst="rect">
            <a:avLst/>
          </a:prstGeom>
          <a:solidFill>
            <a:srgbClr val="A9B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67712" y="5486400"/>
            <a:ext cx="329184" cy="329184"/>
          </a:xfrm>
          <a:prstGeom prst="rect">
            <a:avLst/>
          </a:prstGeom>
          <a:solidFill>
            <a:srgbClr val="D6D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8" y="2084831"/>
            <a:ext cx="7863840" cy="2834640"/>
          </a:xfrm>
          <a:prstGeom prst="rect">
            <a:avLst/>
          </a:prstGeom>
          <a:noFill/>
        </p:spPr>
        <p:txBody>
          <a:bodyPr wrap="square" anchor="t" lIns="0" rIns="0" tIns="0" bIns="0">
            <a:spAutoFit/>
          </a:bodyPr>
          <a:lstStyle/>
          <a:p>
            <a:pPr algn="l">
              <a:lnSpc>
                <a:spcPct val="115000"/>
              </a:lnSpc>
              <a:spcAft>
                <a:spcPts val="1400"/>
              </a:spcAft>
            </a:pPr>
            <a:r>
              <a:rPr sz="900" b="1" i="0" spc="240">
                <a:solidFill>
                  <a:srgbClr val="1F2429"/>
                </a:solidFill>
                <a:latin typeface="Arial"/>
              </a:rPr>
              <a:t>STATUS REPORT · WEEK 24</a:t>
            </a:r>
          </a:p>
          <a:p>
            <a:pPr>
              <a:lnSpc>
                <a:spcPct val="102000"/>
              </a:lnSpc>
              <a:spcAft>
                <a:spcPts val="1600"/>
              </a:spcAft>
            </a:pPr>
            <a:r>
              <a:rPr sz="4600" b="1" i="0">
                <a:solidFill>
                  <a:srgbClr val="1F2429"/>
                </a:solidFill>
                <a:latin typeface="Arial"/>
              </a:rPr>
              <a:t>Project status</a:t>
            </a:r>
          </a:p>
          <a:p>
            <a:pPr>
              <a:lnSpc>
                <a:spcPct val="135000"/>
              </a:lnSpc>
            </a:pPr>
            <a:r>
              <a:rPr sz="1400" b="0" i="0">
                <a:solidFill>
                  <a:srgbClr val="626669"/>
                </a:solidFill>
                <a:latin typeface="Arial"/>
              </a:rPr>
              <a:t>Scope, schedule, risk and the two decisions we need from this meeting.</a:t>
            </a:r>
          </a:p>
        </p:txBody>
      </p:sp>
      <p:sp>
        <p:nvSpPr>
          <p:cNvPr id="8" name="TextBox 7"/>
          <p:cNvSpPr txBox="1"/>
          <p:nvPr/>
        </p:nvSpPr>
        <p:spPr>
          <a:xfrm>
            <a:off x="841248" y="5687568"/>
            <a:ext cx="7863840" cy="457200"/>
          </a:xfrm>
          <a:prstGeom prst="rect">
            <a:avLst/>
          </a:prstGeom>
          <a:noFill/>
        </p:spPr>
        <p:txBody>
          <a:bodyPr wrap="square" anchor="t" lIns="0" rIns="0" tIns="0" bIns="0">
            <a:spAutoFit/>
          </a:bodyPr>
          <a:lstStyle/>
          <a:p>
            <a:pPr algn="l">
              <a:lnSpc>
                <a:spcPct val="115000"/>
              </a:lnSpc>
            </a:pPr>
            <a:r>
              <a:rPr sz="900" b="0" i="0" spc="180">
                <a:solidFill>
                  <a:srgbClr val="848789"/>
                </a:solidFill>
                <a:latin typeface="Arial"/>
              </a:rPr>
              <a:t>YOUR TEAM · YOUR ORGANIZATION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What we will cover</a:t>
            </a:r>
          </a:p>
        </p:txBody>
      </p:sp>
      <p:sp>
        <p:nvSpPr>
          <p:cNvPr id="4" name="TextBox 3"/>
          <p:cNvSpPr txBox="1"/>
          <p:nvPr/>
        </p:nvSpPr>
        <p:spPr>
          <a:xfrm>
            <a:off x="841248" y="2176272"/>
            <a:ext cx="777240" cy="731520"/>
          </a:xfrm>
          <a:prstGeom prst="rect">
            <a:avLst/>
          </a:prstGeom>
          <a:noFill/>
        </p:spPr>
        <p:txBody>
          <a:bodyPr wrap="square" anchor="t" lIns="0" rIns="0" tIns="0" bIns="0">
            <a:spAutoFit/>
          </a:bodyPr>
          <a:lstStyle/>
          <a:p>
            <a:pPr algn="l">
              <a:lnSpc>
                <a:spcPct val="115000"/>
              </a:lnSpc>
            </a:pPr>
            <a:r>
              <a:rPr sz="3536" b="1" i="0">
                <a:solidFill>
                  <a:srgbClr val="1D4ED8"/>
                </a:solidFill>
                <a:latin typeface="Arial"/>
              </a:rPr>
              <a:t>01</a:t>
            </a:r>
          </a:p>
        </p:txBody>
      </p:sp>
      <p:sp>
        <p:nvSpPr>
          <p:cNvPr id="5" name="Rectangle 4"/>
          <p:cNvSpPr/>
          <p:nvPr/>
        </p:nvSpPr>
        <p:spPr>
          <a:xfrm>
            <a:off x="841248" y="3035808"/>
            <a:ext cx="4843256" cy="9525"/>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755648" y="2139696"/>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1F2429"/>
                </a:solidFill>
                <a:latin typeface="Arial"/>
              </a:rPr>
              <a:t>Headline</a:t>
            </a:r>
          </a:p>
          <a:p>
            <a:pPr>
              <a:lnSpc>
                <a:spcPct val="130000"/>
              </a:lnSpc>
            </a:pPr>
            <a:r>
              <a:rPr sz="900" b="0" i="0">
                <a:solidFill>
                  <a:srgbClr val="5C646C"/>
                </a:solidFill>
                <a:latin typeface="Arial"/>
              </a:rPr>
              <a:t>One line: on track, at risk, or off track.</a:t>
            </a:r>
          </a:p>
        </p:txBody>
      </p:sp>
      <p:sp>
        <p:nvSpPr>
          <p:cNvPr id="7" name="TextBox 6"/>
          <p:cNvSpPr txBox="1"/>
          <p:nvPr/>
        </p:nvSpPr>
        <p:spPr>
          <a:xfrm>
            <a:off x="841248" y="3383280"/>
            <a:ext cx="777240" cy="731520"/>
          </a:xfrm>
          <a:prstGeom prst="rect">
            <a:avLst/>
          </a:prstGeom>
          <a:noFill/>
        </p:spPr>
        <p:txBody>
          <a:bodyPr wrap="square" anchor="t" lIns="0" rIns="0" tIns="0" bIns="0">
            <a:spAutoFit/>
          </a:bodyPr>
          <a:lstStyle/>
          <a:p>
            <a:pPr algn="l">
              <a:lnSpc>
                <a:spcPct val="115000"/>
              </a:lnSpc>
            </a:pPr>
            <a:r>
              <a:rPr sz="3536" b="1" i="0">
                <a:solidFill>
                  <a:srgbClr val="1D4ED8"/>
                </a:solidFill>
                <a:latin typeface="Arial"/>
              </a:rPr>
              <a:t>02</a:t>
            </a:r>
          </a:p>
        </p:txBody>
      </p:sp>
      <p:sp>
        <p:nvSpPr>
          <p:cNvPr id="8" name="Rectangle 7"/>
          <p:cNvSpPr/>
          <p:nvPr/>
        </p:nvSpPr>
        <p:spPr>
          <a:xfrm>
            <a:off x="841248" y="4242816"/>
            <a:ext cx="4843256" cy="9525"/>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755648" y="3346704"/>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1F2429"/>
                </a:solidFill>
                <a:latin typeface="Arial"/>
              </a:rPr>
              <a:t>Progress</a:t>
            </a:r>
          </a:p>
          <a:p>
            <a:pPr>
              <a:lnSpc>
                <a:spcPct val="130000"/>
              </a:lnSpc>
            </a:pPr>
            <a:r>
              <a:rPr sz="900" b="0" i="0">
                <a:solidFill>
                  <a:srgbClr val="5C646C"/>
                </a:solidFill>
                <a:latin typeface="Arial"/>
              </a:rPr>
              <a:t>What closed since the last report.</a:t>
            </a:r>
          </a:p>
        </p:txBody>
      </p:sp>
      <p:sp>
        <p:nvSpPr>
          <p:cNvPr id="10" name="TextBox 9"/>
          <p:cNvSpPr txBox="1"/>
          <p:nvPr/>
        </p:nvSpPr>
        <p:spPr>
          <a:xfrm>
            <a:off x="841248" y="4590288"/>
            <a:ext cx="777240" cy="731520"/>
          </a:xfrm>
          <a:prstGeom prst="rect">
            <a:avLst/>
          </a:prstGeom>
          <a:noFill/>
        </p:spPr>
        <p:txBody>
          <a:bodyPr wrap="square" anchor="t" lIns="0" rIns="0" tIns="0" bIns="0">
            <a:spAutoFit/>
          </a:bodyPr>
          <a:lstStyle/>
          <a:p>
            <a:pPr algn="l">
              <a:lnSpc>
                <a:spcPct val="115000"/>
              </a:lnSpc>
            </a:pPr>
            <a:r>
              <a:rPr sz="3536" b="1" i="0">
                <a:solidFill>
                  <a:srgbClr val="1D4ED8"/>
                </a:solidFill>
                <a:latin typeface="Arial"/>
              </a:rPr>
              <a:t>03</a:t>
            </a:r>
          </a:p>
        </p:txBody>
      </p:sp>
      <p:sp>
        <p:nvSpPr>
          <p:cNvPr id="11" name="Rectangle 10"/>
          <p:cNvSpPr/>
          <p:nvPr/>
        </p:nvSpPr>
        <p:spPr>
          <a:xfrm>
            <a:off x="841248" y="5449823"/>
            <a:ext cx="4843256" cy="9525"/>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755648" y="4553712"/>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1F2429"/>
                </a:solidFill>
                <a:latin typeface="Arial"/>
              </a:rPr>
              <a:t>Schedule</a:t>
            </a:r>
          </a:p>
          <a:p>
            <a:pPr>
              <a:lnSpc>
                <a:spcPct val="130000"/>
              </a:lnSpc>
            </a:pPr>
            <a:r>
              <a:rPr sz="900" b="0" i="0">
                <a:solidFill>
                  <a:srgbClr val="5C646C"/>
                </a:solidFill>
                <a:latin typeface="Arial"/>
              </a:rPr>
              <a:t>Milestones, and any date that moved.</a:t>
            </a:r>
          </a:p>
        </p:txBody>
      </p:sp>
      <p:sp>
        <p:nvSpPr>
          <p:cNvPr id="13" name="TextBox 12"/>
          <p:cNvSpPr txBox="1"/>
          <p:nvPr/>
        </p:nvSpPr>
        <p:spPr>
          <a:xfrm>
            <a:off x="6507464" y="2176272"/>
            <a:ext cx="777240" cy="731520"/>
          </a:xfrm>
          <a:prstGeom prst="rect">
            <a:avLst/>
          </a:prstGeom>
          <a:noFill/>
        </p:spPr>
        <p:txBody>
          <a:bodyPr wrap="square" anchor="t" lIns="0" rIns="0" tIns="0" bIns="0">
            <a:spAutoFit/>
          </a:bodyPr>
          <a:lstStyle/>
          <a:p>
            <a:pPr algn="l">
              <a:lnSpc>
                <a:spcPct val="115000"/>
              </a:lnSpc>
            </a:pPr>
            <a:r>
              <a:rPr sz="3536" b="1" i="0">
                <a:solidFill>
                  <a:srgbClr val="1D4ED8"/>
                </a:solidFill>
                <a:latin typeface="Arial"/>
              </a:rPr>
              <a:t>04</a:t>
            </a:r>
          </a:p>
        </p:txBody>
      </p:sp>
      <p:sp>
        <p:nvSpPr>
          <p:cNvPr id="14" name="Rectangle 13"/>
          <p:cNvSpPr/>
          <p:nvPr/>
        </p:nvSpPr>
        <p:spPr>
          <a:xfrm>
            <a:off x="6507464" y="3035808"/>
            <a:ext cx="4843256" cy="9525"/>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21864" y="2139696"/>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1F2429"/>
                </a:solidFill>
                <a:latin typeface="Arial"/>
              </a:rPr>
              <a:t>Risks</a:t>
            </a:r>
          </a:p>
          <a:p>
            <a:pPr>
              <a:lnSpc>
                <a:spcPct val="130000"/>
              </a:lnSpc>
            </a:pPr>
            <a:r>
              <a:rPr sz="900" b="0" i="0">
                <a:solidFill>
                  <a:srgbClr val="5C646C"/>
                </a:solidFill>
                <a:latin typeface="Arial"/>
              </a:rPr>
              <a:t>Ranked, with an owner and a next action.</a:t>
            </a:r>
          </a:p>
        </p:txBody>
      </p:sp>
      <p:sp>
        <p:nvSpPr>
          <p:cNvPr id="16" name="TextBox 15"/>
          <p:cNvSpPr txBox="1"/>
          <p:nvPr/>
        </p:nvSpPr>
        <p:spPr>
          <a:xfrm>
            <a:off x="6507464" y="3383280"/>
            <a:ext cx="777240" cy="731520"/>
          </a:xfrm>
          <a:prstGeom prst="rect">
            <a:avLst/>
          </a:prstGeom>
          <a:noFill/>
        </p:spPr>
        <p:txBody>
          <a:bodyPr wrap="square" anchor="t" lIns="0" rIns="0" tIns="0" bIns="0">
            <a:spAutoFit/>
          </a:bodyPr>
          <a:lstStyle/>
          <a:p>
            <a:pPr algn="l">
              <a:lnSpc>
                <a:spcPct val="115000"/>
              </a:lnSpc>
            </a:pPr>
            <a:r>
              <a:rPr sz="3536" b="1" i="0">
                <a:solidFill>
                  <a:srgbClr val="1D4ED8"/>
                </a:solidFill>
                <a:latin typeface="Arial"/>
              </a:rPr>
              <a:t>05</a:t>
            </a:r>
          </a:p>
        </p:txBody>
      </p:sp>
      <p:sp>
        <p:nvSpPr>
          <p:cNvPr id="17" name="Rectangle 16"/>
          <p:cNvSpPr/>
          <p:nvPr/>
        </p:nvSpPr>
        <p:spPr>
          <a:xfrm>
            <a:off x="6507464" y="4242816"/>
            <a:ext cx="4843256" cy="9525"/>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21864" y="3346704"/>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1F2429"/>
                </a:solidFill>
                <a:latin typeface="Arial"/>
              </a:rPr>
              <a:t>Budget</a:t>
            </a:r>
          </a:p>
          <a:p>
            <a:pPr>
              <a:lnSpc>
                <a:spcPct val="130000"/>
              </a:lnSpc>
            </a:pPr>
            <a:r>
              <a:rPr sz="900" b="0" i="0">
                <a:solidFill>
                  <a:srgbClr val="5C646C"/>
                </a:solidFill>
                <a:latin typeface="Arial"/>
              </a:rPr>
              <a:t>Spend against plan, and the forecast.</a:t>
            </a:r>
          </a:p>
        </p:txBody>
      </p:sp>
      <p:sp>
        <p:nvSpPr>
          <p:cNvPr id="19" name="TextBox 18"/>
          <p:cNvSpPr txBox="1"/>
          <p:nvPr/>
        </p:nvSpPr>
        <p:spPr>
          <a:xfrm>
            <a:off x="6507464" y="4590288"/>
            <a:ext cx="777240" cy="731520"/>
          </a:xfrm>
          <a:prstGeom prst="rect">
            <a:avLst/>
          </a:prstGeom>
          <a:noFill/>
        </p:spPr>
        <p:txBody>
          <a:bodyPr wrap="square" anchor="t" lIns="0" rIns="0" tIns="0" bIns="0">
            <a:spAutoFit/>
          </a:bodyPr>
          <a:lstStyle/>
          <a:p>
            <a:pPr algn="l">
              <a:lnSpc>
                <a:spcPct val="115000"/>
              </a:lnSpc>
            </a:pPr>
            <a:r>
              <a:rPr sz="3536" b="1" i="0">
                <a:solidFill>
                  <a:srgbClr val="1D4ED8"/>
                </a:solidFill>
                <a:latin typeface="Arial"/>
              </a:rPr>
              <a:t>06</a:t>
            </a:r>
          </a:p>
        </p:txBody>
      </p:sp>
      <p:sp>
        <p:nvSpPr>
          <p:cNvPr id="20" name="Rectangle 19"/>
          <p:cNvSpPr/>
          <p:nvPr/>
        </p:nvSpPr>
        <p:spPr>
          <a:xfrm>
            <a:off x="6507464" y="5449823"/>
            <a:ext cx="4843256" cy="9525"/>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21864" y="4553712"/>
            <a:ext cx="3928856" cy="822960"/>
          </a:xfrm>
          <a:prstGeom prst="rect">
            <a:avLst/>
          </a:prstGeom>
          <a:noFill/>
        </p:spPr>
        <p:txBody>
          <a:bodyPr wrap="square" anchor="t" lIns="0" rIns="0" tIns="0" bIns="0">
            <a:spAutoFit/>
          </a:bodyPr>
          <a:lstStyle/>
          <a:p>
            <a:pPr algn="l">
              <a:lnSpc>
                <a:spcPct val="115000"/>
              </a:lnSpc>
              <a:spcAft>
                <a:spcPts val="400"/>
              </a:spcAft>
            </a:pPr>
            <a:r>
              <a:rPr sz="1400" b="1" i="0">
                <a:solidFill>
                  <a:srgbClr val="1F2429"/>
                </a:solidFill>
                <a:latin typeface="Arial"/>
              </a:rPr>
              <a:t>Decisions</a:t>
            </a:r>
          </a:p>
          <a:p>
            <a:pPr>
              <a:lnSpc>
                <a:spcPct val="130000"/>
              </a:lnSpc>
            </a:pPr>
            <a:r>
              <a:rPr sz="900" b="0" i="0">
                <a:solidFill>
                  <a:srgbClr val="5C646C"/>
                </a:solidFill>
                <a:latin typeface="Arial"/>
              </a:rPr>
              <a:t>What we need agreed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6800" b="1" i="0">
                <a:solidFill>
                  <a:srgbClr val="1D4ED8"/>
                </a:solidFill>
                <a:latin typeface="Arial"/>
              </a:rPr>
              <a:t>01</a:t>
            </a:r>
          </a:p>
          <a:p>
            <a:pPr>
              <a:lnSpc>
                <a:spcPct val="115000"/>
              </a:lnSpc>
              <a:spcAft>
                <a:spcPts val="1200"/>
              </a:spcAft>
            </a:pPr>
            <a:r>
              <a:rPr sz="3100" b="1" i="0">
                <a:solidFill>
                  <a:srgbClr val="1F2429"/>
                </a:solidFill>
                <a:latin typeface="Arial"/>
              </a:rPr>
              <a:t>Progress</a:t>
            </a:r>
          </a:p>
          <a:p>
            <a:pPr>
              <a:lnSpc>
                <a:spcPct val="135000"/>
              </a:lnSpc>
            </a:pPr>
            <a:r>
              <a:rPr sz="1400" b="0" i="0">
                <a:solidFill>
                  <a:srgbClr val="6D7174"/>
                </a:solidFill>
                <a:latin typeface="Arial"/>
              </a:rPr>
              <a:t>Delivered, in flight, and not started.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1D4ED8"/>
                </a:solidFill>
                <a:latin typeface="Arial"/>
              </a:rPr>
              <a:t>HEADLINE</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On track, with one date at risk</a:t>
            </a:r>
          </a:p>
        </p:txBody>
      </p:sp>
      <p:sp>
        <p:nvSpPr>
          <p:cNvPr id="5" name="TextBox 4"/>
          <p:cNvSpPr txBox="1"/>
          <p:nvPr/>
        </p:nvSpPr>
        <p:spPr>
          <a:xfrm>
            <a:off x="841248" y="2560320"/>
            <a:ext cx="4834357" cy="2743200"/>
          </a:xfrm>
          <a:prstGeom prst="rect">
            <a:avLst/>
          </a:prstGeom>
          <a:noFill/>
        </p:spPr>
        <p:txBody>
          <a:bodyPr wrap="square" anchor="t" lIns="0" rIns="0" tIns="0" bIns="0">
            <a:spAutoFit/>
          </a:bodyPr>
          <a:lstStyle/>
          <a:p>
            <a:pPr algn="l">
              <a:lnSpc>
                <a:spcPct val="142000"/>
              </a:lnSpc>
            </a:pPr>
            <a:r>
              <a:rPr sz="1400" b="0" i="0">
                <a:solidFill>
                  <a:srgbClr val="1F2429"/>
                </a:solidFill>
                <a:latin typeface="Arial"/>
              </a:rPr>
              <a:t>Lead with the verdict, not the narrative. State the overall status in one sentence, name the single thing most likely to change it, and say what you need in order to hold the date. Detail follows for the people who want it.</a:t>
            </a:r>
          </a:p>
        </p:txBody>
      </p:sp>
      <p:sp>
        <p:nvSpPr>
          <p:cNvPr id="6" name="Rectangle 5"/>
          <p:cNvSpPr/>
          <p:nvPr/>
        </p:nvSpPr>
        <p:spPr>
          <a:xfrm>
            <a:off x="5995645" y="2615184"/>
            <a:ext cx="9525" cy="260604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7125" y="2560320"/>
            <a:ext cx="4943595" cy="2743200"/>
          </a:xfrm>
          <a:prstGeom prst="rect">
            <a:avLst/>
          </a:prstGeom>
          <a:noFill/>
        </p:spPr>
        <p:txBody>
          <a:bodyPr wrap="square" anchor="t" lIns="0" rIns="0" tIns="0" bIns="0">
            <a:spAutoFit/>
          </a:bodyPr>
          <a:lstStyle/>
          <a:p>
            <a:pPr algn="l">
              <a:lnSpc>
                <a:spcPct val="130000"/>
              </a:lnSpc>
            </a:pPr>
            <a:r>
              <a:rPr sz="1200" b="1">
                <a:solidFill>
                  <a:srgbClr val="1D4ED8"/>
                </a:solidFill>
                <a:latin typeface="Arial"/>
              </a:rPr>
              <a:t>—  </a:t>
            </a:r>
            <a:r>
              <a:rPr sz="1200">
                <a:solidFill>
                  <a:srgbClr val="5C646C"/>
                </a:solidFill>
                <a:latin typeface="Arial"/>
              </a:rPr>
              <a:t>Overall: on track for the September milestone.</a:t>
            </a:r>
          </a:p>
          <a:p>
            <a:pPr>
              <a:lnSpc>
                <a:spcPct val="130000"/>
              </a:lnSpc>
              <a:spcBef>
                <a:spcPts val="1100"/>
              </a:spcBef>
            </a:pPr>
            <a:r>
              <a:rPr sz="1200" b="1">
                <a:solidFill>
                  <a:srgbClr val="1D4ED8"/>
                </a:solidFill>
                <a:latin typeface="Arial"/>
              </a:rPr>
              <a:t>—  </a:t>
            </a:r>
            <a:r>
              <a:rPr sz="1200">
                <a:solidFill>
                  <a:srgbClr val="5C646C"/>
                </a:solidFill>
                <a:latin typeface="Arial"/>
              </a:rPr>
              <a:t>At risk: the integration date, pending a third-party fix.</a:t>
            </a:r>
          </a:p>
          <a:p>
            <a:pPr>
              <a:lnSpc>
                <a:spcPct val="130000"/>
              </a:lnSpc>
              <a:spcBef>
                <a:spcPts val="1100"/>
              </a:spcBef>
            </a:pPr>
            <a:r>
              <a:rPr sz="1200" b="1">
                <a:solidFill>
                  <a:srgbClr val="1D4ED8"/>
                </a:solidFill>
                <a:latin typeface="Arial"/>
              </a:rPr>
              <a:t>—  </a:t>
            </a:r>
            <a:r>
              <a:rPr sz="1200">
                <a:solidFill>
                  <a:srgbClr val="5C646C"/>
                </a:solidFill>
                <a:latin typeface="Arial"/>
              </a:rPr>
              <a:t>Mitigation: parallel path agreed, costs two weeks of effort.</a:t>
            </a:r>
          </a:p>
          <a:p>
            <a:pPr>
              <a:lnSpc>
                <a:spcPct val="130000"/>
              </a:lnSpc>
              <a:spcBef>
                <a:spcPts val="1100"/>
              </a:spcBef>
            </a:pPr>
            <a:r>
              <a:rPr sz="1200" b="1">
                <a:solidFill>
                  <a:srgbClr val="1D4ED8"/>
                </a:solidFill>
                <a:latin typeface="Arial"/>
              </a:rPr>
              <a:t>—  </a:t>
            </a:r>
            <a:r>
              <a:rPr sz="1200">
                <a:solidFill>
                  <a:srgbClr val="5C646C"/>
                </a:solidFill>
                <a:latin typeface="Arial"/>
              </a:rPr>
              <a:t>Needed today: a decision on scope for the second phase.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1D4ED8"/>
                </a:solidFill>
                <a:latin typeface="Arial"/>
              </a:rPr>
              <a:t>WORKSTREAMS</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Three streams, three states</a:t>
            </a:r>
          </a:p>
        </p:txBody>
      </p:sp>
      <p:sp>
        <p:nvSpPr>
          <p:cNvPr id="5" name="Rectangle 4"/>
          <p:cNvSpPr/>
          <p:nvPr/>
        </p:nvSpPr>
        <p:spPr>
          <a:xfrm>
            <a:off x="841248" y="2560320"/>
            <a:ext cx="3247125" cy="2788920"/>
          </a:xfrm>
          <a:prstGeom prst="rect">
            <a:avLst/>
          </a:prstGeom>
          <a:solidFill>
            <a:srgbClr val="F4F6F8"/>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41248" y="2560320"/>
            <a:ext cx="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841248" y="2560320"/>
            <a:ext cx="3247125"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16736" y="3218687"/>
            <a:ext cx="2296149" cy="1325879"/>
          </a:xfrm>
          <a:prstGeom prst="rect">
            <a:avLst/>
          </a:prstGeom>
          <a:noFill/>
        </p:spPr>
        <p:txBody>
          <a:bodyPr wrap="square" anchor="t" lIns="0" rIns="0" tIns="0" bIns="0">
            <a:spAutoFit/>
          </a:bodyPr>
          <a:lstStyle/>
          <a:p>
            <a:pPr algn="l">
              <a:lnSpc>
                <a:spcPct val="115000"/>
              </a:lnSpc>
              <a:spcAft>
                <a:spcPts val="1000"/>
              </a:spcAft>
            </a:pPr>
            <a:r>
              <a:rPr sz="900" b="1" i="0" spc="160">
                <a:solidFill>
                  <a:srgbClr val="1D4ED8"/>
                </a:solidFill>
                <a:latin typeface="Arial"/>
              </a:rPr>
              <a:t>01</a:t>
            </a:r>
          </a:p>
          <a:p>
            <a:pPr>
              <a:lnSpc>
                <a:spcPct val="115000"/>
              </a:lnSpc>
              <a:spcAft>
                <a:spcPts val="800"/>
              </a:spcAft>
            </a:pPr>
            <a:r>
              <a:rPr sz="1500" b="1" i="0">
                <a:solidFill>
                  <a:srgbClr val="1F2429"/>
                </a:solidFill>
                <a:latin typeface="Arial"/>
              </a:rPr>
              <a:t>Delivery</a:t>
            </a:r>
          </a:p>
          <a:p>
            <a:pPr>
              <a:lnSpc>
                <a:spcPct val="140000"/>
              </a:lnSpc>
            </a:pPr>
            <a:r>
              <a:rPr sz="950" b="0" i="0">
                <a:solidFill>
                  <a:srgbClr val="5C646C"/>
                </a:solidFill>
                <a:latin typeface="Arial"/>
              </a:rPr>
              <a:t>On plan. Six of eight components accepted.</a:t>
            </a:r>
          </a:p>
        </p:txBody>
      </p:sp>
      <p:sp>
        <p:nvSpPr>
          <p:cNvPr id="9" name="Rectangle 8"/>
          <p:cNvSpPr/>
          <p:nvPr/>
        </p:nvSpPr>
        <p:spPr>
          <a:xfrm>
            <a:off x="4472421" y="2560320"/>
            <a:ext cx="3247125" cy="2788920"/>
          </a:xfrm>
          <a:prstGeom prst="rect">
            <a:avLst/>
          </a:prstGeom>
          <a:solidFill>
            <a:srgbClr val="F4F6F8"/>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472421" y="2560320"/>
            <a:ext cx="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472421" y="2560320"/>
            <a:ext cx="3247125" cy="50292"/>
          </a:xfrm>
          <a:prstGeom prst="rect">
            <a:avLst/>
          </a:prstGeom>
          <a:solidFill>
            <a:srgbClr val="99A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47909" y="3218687"/>
            <a:ext cx="2296149" cy="1325879"/>
          </a:xfrm>
          <a:prstGeom prst="rect">
            <a:avLst/>
          </a:prstGeom>
          <a:noFill/>
        </p:spPr>
        <p:txBody>
          <a:bodyPr wrap="square" anchor="t" lIns="0" rIns="0" tIns="0" bIns="0">
            <a:spAutoFit/>
          </a:bodyPr>
          <a:lstStyle/>
          <a:p>
            <a:pPr algn="l">
              <a:lnSpc>
                <a:spcPct val="115000"/>
              </a:lnSpc>
              <a:spcAft>
                <a:spcPts val="1000"/>
              </a:spcAft>
            </a:pPr>
            <a:r>
              <a:rPr sz="900" b="1" i="0" spc="160">
                <a:solidFill>
                  <a:srgbClr val="1D4ED8"/>
                </a:solidFill>
                <a:latin typeface="Arial"/>
              </a:rPr>
              <a:t>02</a:t>
            </a:r>
          </a:p>
          <a:p>
            <a:pPr>
              <a:lnSpc>
                <a:spcPct val="115000"/>
              </a:lnSpc>
              <a:spcAft>
                <a:spcPts val="800"/>
              </a:spcAft>
            </a:pPr>
            <a:r>
              <a:rPr sz="1500" b="1" i="0">
                <a:solidFill>
                  <a:srgbClr val="1F2429"/>
                </a:solidFill>
                <a:latin typeface="Arial"/>
              </a:rPr>
              <a:t>Integration</a:t>
            </a:r>
          </a:p>
          <a:p>
            <a:pPr>
              <a:lnSpc>
                <a:spcPct val="140000"/>
              </a:lnSpc>
            </a:pPr>
            <a:r>
              <a:rPr sz="950" b="0" i="0">
                <a:solidFill>
                  <a:srgbClr val="5C646C"/>
                </a:solidFill>
                <a:latin typeface="Arial"/>
              </a:rPr>
              <a:t>At risk. Blocked on an external dependency.</a:t>
            </a:r>
          </a:p>
        </p:txBody>
      </p:sp>
      <p:sp>
        <p:nvSpPr>
          <p:cNvPr id="13" name="Rectangle 12"/>
          <p:cNvSpPr/>
          <p:nvPr/>
        </p:nvSpPr>
        <p:spPr>
          <a:xfrm>
            <a:off x="8103595" y="2560320"/>
            <a:ext cx="3247125" cy="2788920"/>
          </a:xfrm>
          <a:prstGeom prst="rect">
            <a:avLst/>
          </a:prstGeom>
          <a:solidFill>
            <a:srgbClr val="F4F6F8"/>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03595" y="2560320"/>
            <a:ext cx="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103595" y="2560320"/>
            <a:ext cx="3247125" cy="50292"/>
          </a:xfrm>
          <a:prstGeom prst="rect">
            <a:avLst/>
          </a:prstGeom>
          <a:solidFill>
            <a:srgbClr val="99A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79083" y="3218687"/>
            <a:ext cx="2296149" cy="1325879"/>
          </a:xfrm>
          <a:prstGeom prst="rect">
            <a:avLst/>
          </a:prstGeom>
          <a:noFill/>
        </p:spPr>
        <p:txBody>
          <a:bodyPr wrap="square" anchor="t" lIns="0" rIns="0" tIns="0" bIns="0">
            <a:spAutoFit/>
          </a:bodyPr>
          <a:lstStyle/>
          <a:p>
            <a:pPr algn="l">
              <a:lnSpc>
                <a:spcPct val="115000"/>
              </a:lnSpc>
              <a:spcAft>
                <a:spcPts val="1000"/>
              </a:spcAft>
            </a:pPr>
            <a:r>
              <a:rPr sz="900" b="1" i="0" spc="160">
                <a:solidFill>
                  <a:srgbClr val="1D4ED8"/>
                </a:solidFill>
                <a:latin typeface="Arial"/>
              </a:rPr>
              <a:t>03</a:t>
            </a:r>
          </a:p>
          <a:p>
            <a:pPr>
              <a:lnSpc>
                <a:spcPct val="115000"/>
              </a:lnSpc>
              <a:spcAft>
                <a:spcPts val="800"/>
              </a:spcAft>
            </a:pPr>
            <a:r>
              <a:rPr sz="1500" b="1" i="0">
                <a:solidFill>
                  <a:srgbClr val="1F2429"/>
                </a:solidFill>
                <a:latin typeface="Arial"/>
              </a:rPr>
              <a:t>Rollout</a:t>
            </a:r>
          </a:p>
          <a:p>
            <a:pPr>
              <a:lnSpc>
                <a:spcPct val="140000"/>
              </a:lnSpc>
            </a:pPr>
            <a:r>
              <a:rPr sz="950" b="0" i="0">
                <a:solidFill>
                  <a:srgbClr val="5C646C"/>
                </a:solidFill>
                <a:latin typeface="Arial"/>
              </a:rPr>
              <a:t>Not started. Begins once integration is accepted.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1D4ED8"/>
                </a:solidFill>
                <a:latin typeface="Arial"/>
              </a:rPr>
              <a:t>THIS PERIOD</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Progress and spend</a:t>
            </a:r>
          </a:p>
        </p:txBody>
      </p:sp>
      <p:sp>
        <p:nvSpPr>
          <p:cNvPr id="5" name="TextBox 4"/>
          <p:cNvSpPr txBox="1"/>
          <p:nvPr/>
        </p:nvSpPr>
        <p:spPr>
          <a:xfrm>
            <a:off x="841248" y="2560320"/>
            <a:ext cx="2078728" cy="2103120"/>
          </a:xfrm>
          <a:prstGeom prst="rect">
            <a:avLst/>
          </a:prstGeom>
          <a:noFill/>
        </p:spPr>
        <p:txBody>
          <a:bodyPr wrap="square" anchor="t" lIns="0" rIns="0" tIns="0" bIns="0">
            <a:spAutoFit/>
          </a:bodyPr>
          <a:lstStyle/>
          <a:p>
            <a:pPr algn="l">
              <a:lnSpc>
                <a:spcPct val="98000"/>
              </a:lnSpc>
              <a:spcAft>
                <a:spcPts val="800"/>
              </a:spcAft>
            </a:pPr>
            <a:r>
              <a:rPr sz="4000" b="1" i="0">
                <a:solidFill>
                  <a:srgbClr val="1D4ED8"/>
                </a:solidFill>
                <a:latin typeface="Arial"/>
              </a:rPr>
              <a:t>74%</a:t>
            </a:r>
          </a:p>
          <a:p>
            <a:pPr>
              <a:lnSpc>
                <a:spcPct val="115000"/>
              </a:lnSpc>
              <a:spcAft>
                <a:spcPts val="500"/>
              </a:spcAft>
            </a:pPr>
            <a:r>
              <a:rPr sz="1200" b="1" i="0">
                <a:solidFill>
                  <a:srgbClr val="1F2429"/>
                </a:solidFill>
                <a:latin typeface="Arial"/>
              </a:rPr>
              <a:t>Scope complete</a:t>
            </a:r>
          </a:p>
          <a:p>
            <a:pPr>
              <a:lnSpc>
                <a:spcPct val="135000"/>
              </a:lnSpc>
            </a:pPr>
            <a:r>
              <a:rPr sz="900" b="0" i="0">
                <a:solidFill>
                  <a:srgbClr val="5C646C"/>
                </a:solidFill>
                <a:latin typeface="Arial"/>
              </a:rPr>
              <a:t>Accepted deliverables over total.</a:t>
            </a:r>
          </a:p>
        </p:txBody>
      </p:sp>
      <p:sp>
        <p:nvSpPr>
          <p:cNvPr id="6" name="Rectangle 5"/>
          <p:cNvSpPr/>
          <p:nvPr/>
        </p:nvSpPr>
        <p:spPr>
          <a:xfrm>
            <a:off x="3194296" y="2697479"/>
            <a:ext cx="9525" cy="178308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8616" y="2560320"/>
            <a:ext cx="2078728" cy="2103120"/>
          </a:xfrm>
          <a:prstGeom prst="rect">
            <a:avLst/>
          </a:prstGeom>
          <a:noFill/>
        </p:spPr>
        <p:txBody>
          <a:bodyPr wrap="square" anchor="t" lIns="0" rIns="0" tIns="0" bIns="0">
            <a:spAutoFit/>
          </a:bodyPr>
          <a:lstStyle/>
          <a:p>
            <a:pPr algn="l">
              <a:lnSpc>
                <a:spcPct val="98000"/>
              </a:lnSpc>
              <a:spcAft>
                <a:spcPts val="800"/>
              </a:spcAft>
            </a:pPr>
            <a:r>
              <a:rPr sz="4000" b="1" i="0">
                <a:solidFill>
                  <a:srgbClr val="1F2429"/>
                </a:solidFill>
                <a:latin typeface="Arial"/>
              </a:rPr>
              <a:t>+3 d</a:t>
            </a:r>
          </a:p>
          <a:p>
            <a:pPr>
              <a:lnSpc>
                <a:spcPct val="115000"/>
              </a:lnSpc>
              <a:spcAft>
                <a:spcPts val="500"/>
              </a:spcAft>
            </a:pPr>
            <a:r>
              <a:rPr sz="1200" b="1" i="0">
                <a:solidFill>
                  <a:srgbClr val="1F2429"/>
                </a:solidFill>
                <a:latin typeface="Arial"/>
              </a:rPr>
              <a:t>Schedule variance</a:t>
            </a:r>
          </a:p>
          <a:p>
            <a:pPr>
              <a:lnSpc>
                <a:spcPct val="135000"/>
              </a:lnSpc>
            </a:pPr>
            <a:r>
              <a:rPr sz="900" b="0" i="0">
                <a:solidFill>
                  <a:srgbClr val="5C646C"/>
                </a:solidFill>
                <a:latin typeface="Arial"/>
              </a:rPr>
              <a:t>Against the baseline plan.</a:t>
            </a:r>
          </a:p>
        </p:txBody>
      </p:sp>
      <p:sp>
        <p:nvSpPr>
          <p:cNvPr id="8" name="Rectangle 7"/>
          <p:cNvSpPr/>
          <p:nvPr/>
        </p:nvSpPr>
        <p:spPr>
          <a:xfrm>
            <a:off x="5821664" y="2697479"/>
            <a:ext cx="9525" cy="178308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5984" y="2560320"/>
            <a:ext cx="2078728" cy="2103120"/>
          </a:xfrm>
          <a:prstGeom prst="rect">
            <a:avLst/>
          </a:prstGeom>
          <a:noFill/>
        </p:spPr>
        <p:txBody>
          <a:bodyPr wrap="square" anchor="t" lIns="0" rIns="0" tIns="0" bIns="0">
            <a:spAutoFit/>
          </a:bodyPr>
          <a:lstStyle/>
          <a:p>
            <a:pPr algn="l">
              <a:lnSpc>
                <a:spcPct val="98000"/>
              </a:lnSpc>
              <a:spcAft>
                <a:spcPts val="800"/>
              </a:spcAft>
            </a:pPr>
            <a:r>
              <a:rPr sz="4000" b="1" i="0">
                <a:solidFill>
                  <a:srgbClr val="1F2429"/>
                </a:solidFill>
                <a:latin typeface="Arial"/>
              </a:rPr>
              <a:t>68%</a:t>
            </a:r>
          </a:p>
          <a:p>
            <a:pPr>
              <a:lnSpc>
                <a:spcPct val="115000"/>
              </a:lnSpc>
              <a:spcAft>
                <a:spcPts val="500"/>
              </a:spcAft>
            </a:pPr>
            <a:r>
              <a:rPr sz="1200" b="1" i="0">
                <a:solidFill>
                  <a:srgbClr val="1F2429"/>
                </a:solidFill>
                <a:latin typeface="Arial"/>
              </a:rPr>
              <a:t>Budget used</a:t>
            </a:r>
          </a:p>
          <a:p>
            <a:pPr>
              <a:lnSpc>
                <a:spcPct val="135000"/>
              </a:lnSpc>
            </a:pPr>
            <a:r>
              <a:rPr sz="900" b="0" i="0">
                <a:solidFill>
                  <a:srgbClr val="5C646C"/>
                </a:solidFill>
                <a:latin typeface="Arial"/>
              </a:rPr>
              <a:t>At 74% of scope — favourable.</a:t>
            </a:r>
          </a:p>
        </p:txBody>
      </p:sp>
      <p:sp>
        <p:nvSpPr>
          <p:cNvPr id="10" name="Rectangle 9"/>
          <p:cNvSpPr/>
          <p:nvPr/>
        </p:nvSpPr>
        <p:spPr>
          <a:xfrm>
            <a:off x="8449033" y="2697479"/>
            <a:ext cx="9525" cy="178308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23353" y="2560320"/>
            <a:ext cx="2078728" cy="2103120"/>
          </a:xfrm>
          <a:prstGeom prst="rect">
            <a:avLst/>
          </a:prstGeom>
          <a:noFill/>
        </p:spPr>
        <p:txBody>
          <a:bodyPr wrap="square" anchor="t" lIns="0" rIns="0" tIns="0" bIns="0">
            <a:spAutoFit/>
          </a:bodyPr>
          <a:lstStyle/>
          <a:p>
            <a:pPr algn="l">
              <a:lnSpc>
                <a:spcPct val="98000"/>
              </a:lnSpc>
              <a:spcAft>
                <a:spcPts val="800"/>
              </a:spcAft>
            </a:pPr>
            <a:r>
              <a:rPr sz="4000" b="1" i="0">
                <a:solidFill>
                  <a:srgbClr val="1F2429"/>
                </a:solidFill>
                <a:latin typeface="Arial"/>
              </a:rPr>
              <a:t>2</a:t>
            </a:r>
          </a:p>
          <a:p>
            <a:pPr>
              <a:lnSpc>
                <a:spcPct val="115000"/>
              </a:lnSpc>
              <a:spcAft>
                <a:spcPts val="500"/>
              </a:spcAft>
            </a:pPr>
            <a:r>
              <a:rPr sz="1200" b="1" i="0">
                <a:solidFill>
                  <a:srgbClr val="1F2429"/>
                </a:solidFill>
                <a:latin typeface="Arial"/>
              </a:rPr>
              <a:t>Open risks</a:t>
            </a:r>
          </a:p>
          <a:p>
            <a:pPr>
              <a:lnSpc>
                <a:spcPct val="135000"/>
              </a:lnSpc>
            </a:pPr>
            <a:r>
              <a:rPr sz="900" b="0" i="0">
                <a:solidFill>
                  <a:srgbClr val="5C646C"/>
                </a:solidFill>
                <a:latin typeface="Arial"/>
              </a:rPr>
              <a:t>Both with an owner and a date.</a:t>
            </a:r>
          </a:p>
        </p:txBody>
      </p:sp>
      <p:sp>
        <p:nvSpPr>
          <p:cNvPr id="12" name="Rectangle 11"/>
          <p:cNvSpPr/>
          <p:nvPr/>
        </p:nvSpPr>
        <p:spPr>
          <a:xfrm>
            <a:off x="841248" y="4892040"/>
            <a:ext cx="10509473" cy="914400"/>
          </a:xfrm>
          <a:prstGeom prst="rect">
            <a:avLst/>
          </a:prstGeom>
          <a:solidFill>
            <a:srgbClr val="DFE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8448" y="5111496"/>
            <a:ext cx="9595073" cy="502920"/>
          </a:xfrm>
          <a:prstGeom prst="rect">
            <a:avLst/>
          </a:prstGeom>
          <a:noFill/>
        </p:spPr>
        <p:txBody>
          <a:bodyPr wrap="square" anchor="ctr" lIns="0" rIns="0" tIns="0" bIns="0">
            <a:spAutoFit/>
          </a:bodyPr>
          <a:lstStyle/>
          <a:p>
            <a:pPr algn="l">
              <a:lnSpc>
                <a:spcPct val="130000"/>
              </a:lnSpc>
            </a:pPr>
            <a:r>
              <a:rPr sz="950" b="0" i="0">
                <a:solidFill>
                  <a:srgbClr val="1F2429"/>
                </a:solidFill>
                <a:latin typeface="Arial"/>
              </a:rPr>
              <a:t>Variance is measured against the baseline agreed in week 4, not against the last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6800" b="1" i="0">
                <a:solidFill>
                  <a:srgbClr val="1D4ED8"/>
                </a:solidFill>
                <a:latin typeface="Arial"/>
              </a:rPr>
              <a:t>02</a:t>
            </a:r>
          </a:p>
          <a:p>
            <a:pPr>
              <a:lnSpc>
                <a:spcPct val="115000"/>
              </a:lnSpc>
              <a:spcAft>
                <a:spcPts val="1200"/>
              </a:spcAft>
            </a:pPr>
            <a:r>
              <a:rPr sz="3100" b="1" i="0">
                <a:solidFill>
                  <a:srgbClr val="1F2429"/>
                </a:solidFill>
                <a:latin typeface="Arial"/>
              </a:rPr>
              <a:t>Risk</a:t>
            </a:r>
          </a:p>
          <a:p>
            <a:pPr>
              <a:lnSpc>
                <a:spcPct val="135000"/>
              </a:lnSpc>
            </a:pPr>
            <a:r>
              <a:rPr sz="1400" b="0" i="0">
                <a:solidFill>
                  <a:srgbClr val="6D7174"/>
                </a:solidFill>
                <a:latin typeface="Arial"/>
              </a:rPr>
              <a:t>What could move the date, ranked by exposure.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1D4ED8"/>
                </a:solidFill>
                <a:latin typeface="Arial"/>
              </a:rPr>
              <a:t>MILESTONES</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Where the date stands</a:t>
            </a:r>
          </a:p>
        </p:txBody>
      </p:sp>
      <p:sp>
        <p:nvSpPr>
          <p:cNvPr id="5" name="Rectangle 4"/>
          <p:cNvSpPr/>
          <p:nvPr/>
        </p:nvSpPr>
        <p:spPr>
          <a:xfrm>
            <a:off x="841248" y="3611879"/>
            <a:ext cx="10509473" cy="1905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3524" y="3543299"/>
            <a:ext cx="173736" cy="17373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953511"/>
            <a:ext cx="1781854" cy="365760"/>
          </a:xfrm>
          <a:prstGeom prst="rect">
            <a:avLst/>
          </a:prstGeom>
          <a:noFill/>
        </p:spPr>
        <p:txBody>
          <a:bodyPr wrap="square" anchor="t" lIns="0" rIns="0" tIns="0" bIns="0">
            <a:spAutoFit/>
          </a:bodyPr>
          <a:lstStyle/>
          <a:p>
            <a:pPr algn="l">
              <a:lnSpc>
                <a:spcPct val="115000"/>
              </a:lnSpc>
            </a:pPr>
            <a:r>
              <a:rPr sz="900" b="1" i="0" spc="160">
                <a:solidFill>
                  <a:srgbClr val="1D4ED8"/>
                </a:solidFill>
                <a:latin typeface="Arial"/>
              </a:rPr>
              <a:t>WK 4</a:t>
            </a:r>
          </a:p>
        </p:txBody>
      </p:sp>
      <p:sp>
        <p:nvSpPr>
          <p:cNvPr id="8" name="TextBox 7"/>
          <p:cNvSpPr txBox="1"/>
          <p:nvPr/>
        </p:nvSpPr>
        <p:spPr>
          <a:xfrm>
            <a:off x="841248"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1F2429"/>
                </a:solidFill>
                <a:latin typeface="Arial"/>
              </a:rPr>
              <a:t>Baseline</a:t>
            </a:r>
          </a:p>
          <a:p>
            <a:pPr>
              <a:lnSpc>
                <a:spcPct val="135000"/>
              </a:lnSpc>
            </a:pPr>
            <a:r>
              <a:rPr sz="900" b="0" i="0">
                <a:solidFill>
                  <a:srgbClr val="5C646C"/>
                </a:solidFill>
                <a:latin typeface="Arial"/>
              </a:rPr>
              <a:t>Scope and plan agreed and frozen.</a:t>
            </a:r>
          </a:p>
        </p:txBody>
      </p:sp>
      <p:sp>
        <p:nvSpPr>
          <p:cNvPr id="9" name="Oval 8"/>
          <p:cNvSpPr/>
          <p:nvPr/>
        </p:nvSpPr>
        <p:spPr>
          <a:xfrm>
            <a:off x="2865418" y="3543299"/>
            <a:ext cx="173736" cy="17373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3142" y="2953511"/>
            <a:ext cx="1781854" cy="365760"/>
          </a:xfrm>
          <a:prstGeom prst="rect">
            <a:avLst/>
          </a:prstGeom>
          <a:noFill/>
        </p:spPr>
        <p:txBody>
          <a:bodyPr wrap="square" anchor="t" lIns="0" rIns="0" tIns="0" bIns="0">
            <a:spAutoFit/>
          </a:bodyPr>
          <a:lstStyle/>
          <a:p>
            <a:pPr algn="l">
              <a:lnSpc>
                <a:spcPct val="115000"/>
              </a:lnSpc>
            </a:pPr>
            <a:r>
              <a:rPr sz="900" b="1" i="0" spc="160">
                <a:solidFill>
                  <a:srgbClr val="1D4ED8"/>
                </a:solidFill>
                <a:latin typeface="Arial"/>
              </a:rPr>
              <a:t>WK 12</a:t>
            </a:r>
          </a:p>
        </p:txBody>
      </p:sp>
      <p:sp>
        <p:nvSpPr>
          <p:cNvPr id="11" name="TextBox 10"/>
          <p:cNvSpPr txBox="1"/>
          <p:nvPr/>
        </p:nvSpPr>
        <p:spPr>
          <a:xfrm>
            <a:off x="2943142"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1F2429"/>
                </a:solidFill>
                <a:latin typeface="Arial"/>
              </a:rPr>
              <a:t>Build start</a:t>
            </a:r>
          </a:p>
          <a:p>
            <a:pPr>
              <a:lnSpc>
                <a:spcPct val="135000"/>
              </a:lnSpc>
            </a:pPr>
            <a:r>
              <a:rPr sz="900" b="0" i="0">
                <a:solidFill>
                  <a:srgbClr val="5C646C"/>
                </a:solidFill>
                <a:latin typeface="Arial"/>
              </a:rPr>
              <a:t>Environments handed over.</a:t>
            </a:r>
          </a:p>
        </p:txBody>
      </p:sp>
      <p:sp>
        <p:nvSpPr>
          <p:cNvPr id="12" name="Oval 11"/>
          <p:cNvSpPr/>
          <p:nvPr/>
        </p:nvSpPr>
        <p:spPr>
          <a:xfrm>
            <a:off x="4967313" y="3543299"/>
            <a:ext cx="173736" cy="173736"/>
          </a:xfrm>
          <a:prstGeom prst="ellipse">
            <a:avLst/>
          </a:prstGeom>
          <a:solidFill>
            <a:srgbClr val="FFFFFF"/>
          </a:solidFill>
          <a:ln w="1905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5037" y="2953511"/>
            <a:ext cx="1781854" cy="365760"/>
          </a:xfrm>
          <a:prstGeom prst="rect">
            <a:avLst/>
          </a:prstGeom>
          <a:noFill/>
        </p:spPr>
        <p:txBody>
          <a:bodyPr wrap="square" anchor="t" lIns="0" rIns="0" tIns="0" bIns="0">
            <a:spAutoFit/>
          </a:bodyPr>
          <a:lstStyle/>
          <a:p>
            <a:pPr algn="l">
              <a:lnSpc>
                <a:spcPct val="115000"/>
              </a:lnSpc>
            </a:pPr>
            <a:r>
              <a:rPr sz="900" b="1" i="0" spc="160">
                <a:solidFill>
                  <a:srgbClr val="5C646C"/>
                </a:solidFill>
                <a:latin typeface="Arial"/>
              </a:rPr>
              <a:t>WK 24</a:t>
            </a:r>
          </a:p>
        </p:txBody>
      </p:sp>
      <p:sp>
        <p:nvSpPr>
          <p:cNvPr id="14" name="TextBox 13"/>
          <p:cNvSpPr txBox="1"/>
          <p:nvPr/>
        </p:nvSpPr>
        <p:spPr>
          <a:xfrm>
            <a:off x="5045037"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1F2429"/>
                </a:solidFill>
                <a:latin typeface="Arial"/>
              </a:rPr>
              <a:t>Integration</a:t>
            </a:r>
          </a:p>
          <a:p>
            <a:pPr>
              <a:lnSpc>
                <a:spcPct val="135000"/>
              </a:lnSpc>
            </a:pPr>
            <a:r>
              <a:rPr sz="900" b="0" i="0">
                <a:solidFill>
                  <a:srgbClr val="5C646C"/>
                </a:solidFill>
                <a:latin typeface="Arial"/>
              </a:rPr>
              <a:t>External dependency outstanding.</a:t>
            </a:r>
          </a:p>
        </p:txBody>
      </p:sp>
      <p:sp>
        <p:nvSpPr>
          <p:cNvPr id="15" name="Oval 14"/>
          <p:cNvSpPr/>
          <p:nvPr/>
        </p:nvSpPr>
        <p:spPr>
          <a:xfrm>
            <a:off x="7069208" y="3543299"/>
            <a:ext cx="173736" cy="173736"/>
          </a:xfrm>
          <a:prstGeom prst="ellipse">
            <a:avLst/>
          </a:prstGeom>
          <a:solidFill>
            <a:srgbClr val="FFFFFF"/>
          </a:solidFill>
          <a:ln w="1905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6932" y="2953511"/>
            <a:ext cx="1781854" cy="365760"/>
          </a:xfrm>
          <a:prstGeom prst="rect">
            <a:avLst/>
          </a:prstGeom>
          <a:noFill/>
        </p:spPr>
        <p:txBody>
          <a:bodyPr wrap="square" anchor="t" lIns="0" rIns="0" tIns="0" bIns="0">
            <a:spAutoFit/>
          </a:bodyPr>
          <a:lstStyle/>
          <a:p>
            <a:pPr algn="l">
              <a:lnSpc>
                <a:spcPct val="115000"/>
              </a:lnSpc>
            </a:pPr>
            <a:r>
              <a:rPr sz="900" b="1" i="0" spc="160">
                <a:solidFill>
                  <a:srgbClr val="5C646C"/>
                </a:solidFill>
                <a:latin typeface="Arial"/>
              </a:rPr>
              <a:t>WK 32</a:t>
            </a:r>
          </a:p>
        </p:txBody>
      </p:sp>
      <p:sp>
        <p:nvSpPr>
          <p:cNvPr id="17" name="TextBox 16"/>
          <p:cNvSpPr txBox="1"/>
          <p:nvPr/>
        </p:nvSpPr>
        <p:spPr>
          <a:xfrm>
            <a:off x="7146932"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1F2429"/>
                </a:solidFill>
                <a:latin typeface="Arial"/>
              </a:rPr>
              <a:t>Acceptance</a:t>
            </a:r>
          </a:p>
          <a:p>
            <a:pPr>
              <a:lnSpc>
                <a:spcPct val="135000"/>
              </a:lnSpc>
            </a:pPr>
            <a:r>
              <a:rPr sz="900" b="0" i="0">
                <a:solidFill>
                  <a:srgbClr val="5C646C"/>
                </a:solidFill>
                <a:latin typeface="Arial"/>
              </a:rPr>
              <a:t>User testing, two-week window.</a:t>
            </a:r>
          </a:p>
        </p:txBody>
      </p:sp>
      <p:sp>
        <p:nvSpPr>
          <p:cNvPr id="18" name="Oval 17"/>
          <p:cNvSpPr/>
          <p:nvPr/>
        </p:nvSpPr>
        <p:spPr>
          <a:xfrm>
            <a:off x="9171102" y="3543299"/>
            <a:ext cx="173736" cy="173736"/>
          </a:xfrm>
          <a:prstGeom prst="ellipse">
            <a:avLst/>
          </a:prstGeom>
          <a:solidFill>
            <a:srgbClr val="FFFFFF"/>
          </a:solidFill>
          <a:ln w="1905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48826" y="2953511"/>
            <a:ext cx="1781854" cy="365760"/>
          </a:xfrm>
          <a:prstGeom prst="rect">
            <a:avLst/>
          </a:prstGeom>
          <a:noFill/>
        </p:spPr>
        <p:txBody>
          <a:bodyPr wrap="square" anchor="t" lIns="0" rIns="0" tIns="0" bIns="0">
            <a:spAutoFit/>
          </a:bodyPr>
          <a:lstStyle/>
          <a:p>
            <a:pPr algn="l">
              <a:lnSpc>
                <a:spcPct val="115000"/>
              </a:lnSpc>
            </a:pPr>
            <a:r>
              <a:rPr sz="900" b="1" i="0" spc="160">
                <a:solidFill>
                  <a:srgbClr val="5C646C"/>
                </a:solidFill>
                <a:latin typeface="Arial"/>
              </a:rPr>
              <a:t>WK 36</a:t>
            </a:r>
          </a:p>
        </p:txBody>
      </p:sp>
      <p:sp>
        <p:nvSpPr>
          <p:cNvPr id="20" name="TextBox 19"/>
          <p:cNvSpPr txBox="1"/>
          <p:nvPr/>
        </p:nvSpPr>
        <p:spPr>
          <a:xfrm>
            <a:off x="9248826" y="3995928"/>
            <a:ext cx="1781854" cy="1737360"/>
          </a:xfrm>
          <a:prstGeom prst="rect">
            <a:avLst/>
          </a:prstGeom>
          <a:noFill/>
        </p:spPr>
        <p:txBody>
          <a:bodyPr wrap="square" anchor="t" lIns="0" rIns="0" tIns="0" bIns="0">
            <a:spAutoFit/>
          </a:bodyPr>
          <a:lstStyle/>
          <a:p>
            <a:pPr algn="l">
              <a:lnSpc>
                <a:spcPct val="120000"/>
              </a:lnSpc>
              <a:spcAft>
                <a:spcPts val="600"/>
              </a:spcAft>
            </a:pPr>
            <a:r>
              <a:rPr sz="1300" b="1" i="0">
                <a:solidFill>
                  <a:srgbClr val="1F2429"/>
                </a:solidFill>
                <a:latin typeface="Arial"/>
              </a:rPr>
              <a:t>Live</a:t>
            </a:r>
          </a:p>
          <a:p>
            <a:pPr>
              <a:lnSpc>
                <a:spcPct val="135000"/>
              </a:lnSpc>
            </a:pPr>
            <a:r>
              <a:rPr sz="900" b="0" i="0">
                <a:solidFill>
                  <a:srgbClr val="5C646C"/>
                </a:solidFill>
                <a:latin typeface="Arial"/>
              </a:rPr>
              <a:t>Phased cutover, rollback rehearsed.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1D4ED8"/>
                </a:solidFill>
                <a:latin typeface="Arial"/>
              </a:rPr>
              <a:t>RISK REGISTER</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Ranked risks</a:t>
            </a:r>
          </a:p>
        </p:txBody>
      </p:sp>
      <p:sp>
        <p:nvSpPr>
          <p:cNvPr id="5" name="Rectangle 4"/>
          <p:cNvSpPr/>
          <p:nvPr/>
        </p:nvSpPr>
        <p:spPr>
          <a:xfrm>
            <a:off x="841248" y="2560320"/>
            <a:ext cx="10509473" cy="566928"/>
          </a:xfrm>
          <a:prstGeom prst="rect">
            <a:avLst/>
          </a:prstGeom>
          <a:solidFill>
            <a:srgbClr val="1F2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7280" y="2560320"/>
            <a:ext cx="3207460" cy="566928"/>
          </a:xfrm>
          <a:prstGeom prst="rect">
            <a:avLst/>
          </a:prstGeom>
          <a:noFill/>
        </p:spPr>
        <p:txBody>
          <a:bodyPr wrap="square" anchor="ctr" lIns="0" rIns="0" tIns="0" bIns="0">
            <a:spAutoFit/>
          </a:bodyPr>
          <a:lstStyle/>
          <a:p>
            <a:pPr algn="l">
              <a:lnSpc>
                <a:spcPct val="115000"/>
              </a:lnSpc>
            </a:pPr>
            <a:r>
              <a:rPr sz="900" b="1" i="0" spc="140">
                <a:solidFill>
                  <a:srgbClr val="FFFFFF"/>
                </a:solidFill>
                <a:latin typeface="Arial"/>
              </a:rPr>
              <a:t>RISK</a:t>
            </a:r>
          </a:p>
        </p:txBody>
      </p:sp>
      <p:sp>
        <p:nvSpPr>
          <p:cNvPr id="7" name="TextBox 6"/>
          <p:cNvSpPr txBox="1"/>
          <p:nvPr/>
        </p:nvSpPr>
        <p:spPr>
          <a:xfrm>
            <a:off x="4670500" y="2560320"/>
            <a:ext cx="1946324" cy="566928"/>
          </a:xfrm>
          <a:prstGeom prst="rect">
            <a:avLst/>
          </a:prstGeom>
          <a:noFill/>
        </p:spPr>
        <p:txBody>
          <a:bodyPr wrap="square" anchor="ctr" lIns="0" rIns="0" tIns="0" bIns="0">
            <a:spAutoFit/>
          </a:bodyPr>
          <a:lstStyle/>
          <a:p>
            <a:pPr algn="l">
              <a:lnSpc>
                <a:spcPct val="115000"/>
              </a:lnSpc>
            </a:pPr>
            <a:r>
              <a:rPr sz="900" b="1" i="0" spc="140">
                <a:solidFill>
                  <a:srgbClr val="FFFFFF"/>
                </a:solidFill>
                <a:latin typeface="Arial"/>
              </a:rPr>
              <a:t>IMPACT</a:t>
            </a:r>
          </a:p>
        </p:txBody>
      </p:sp>
      <p:sp>
        <p:nvSpPr>
          <p:cNvPr id="8" name="TextBox 7"/>
          <p:cNvSpPr txBox="1"/>
          <p:nvPr/>
        </p:nvSpPr>
        <p:spPr>
          <a:xfrm>
            <a:off x="6982585" y="2560320"/>
            <a:ext cx="1946324" cy="566928"/>
          </a:xfrm>
          <a:prstGeom prst="rect">
            <a:avLst/>
          </a:prstGeom>
          <a:noFill/>
        </p:spPr>
        <p:txBody>
          <a:bodyPr wrap="square" anchor="ctr" lIns="0" rIns="0" tIns="0" bIns="0">
            <a:spAutoFit/>
          </a:bodyPr>
          <a:lstStyle/>
          <a:p>
            <a:pPr algn="l">
              <a:lnSpc>
                <a:spcPct val="115000"/>
              </a:lnSpc>
            </a:pPr>
            <a:r>
              <a:rPr sz="900" b="1" i="0" spc="140">
                <a:solidFill>
                  <a:srgbClr val="FFFFFF"/>
                </a:solidFill>
                <a:latin typeface="Arial"/>
              </a:rPr>
              <a:t>OWNER</a:t>
            </a:r>
          </a:p>
        </p:txBody>
      </p:sp>
      <p:sp>
        <p:nvSpPr>
          <p:cNvPr id="9" name="TextBox 8"/>
          <p:cNvSpPr txBox="1"/>
          <p:nvPr/>
        </p:nvSpPr>
        <p:spPr>
          <a:xfrm>
            <a:off x="9294669" y="2560320"/>
            <a:ext cx="1946324" cy="566928"/>
          </a:xfrm>
          <a:prstGeom prst="rect">
            <a:avLst/>
          </a:prstGeom>
          <a:noFill/>
        </p:spPr>
        <p:txBody>
          <a:bodyPr wrap="square" anchor="ctr" lIns="0" rIns="0" tIns="0" bIns="0">
            <a:spAutoFit/>
          </a:bodyPr>
          <a:lstStyle/>
          <a:p>
            <a:pPr algn="l">
              <a:lnSpc>
                <a:spcPct val="115000"/>
              </a:lnSpc>
            </a:pPr>
            <a:r>
              <a:rPr sz="900" b="1" i="0" spc="140">
                <a:solidFill>
                  <a:srgbClr val="FFFFFF"/>
                </a:solidFill>
                <a:latin typeface="Arial"/>
              </a:rPr>
              <a:t>NEXT ACTION</a:t>
            </a:r>
          </a:p>
        </p:txBody>
      </p:sp>
      <p:sp>
        <p:nvSpPr>
          <p:cNvPr id="10" name="Rectangle 9"/>
          <p:cNvSpPr/>
          <p:nvPr/>
        </p:nvSpPr>
        <p:spPr>
          <a:xfrm>
            <a:off x="841248" y="3127248"/>
            <a:ext cx="10509473" cy="56692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3694176"/>
            <a:ext cx="10509473" cy="635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97280" y="3127248"/>
            <a:ext cx="3207460" cy="566928"/>
          </a:xfrm>
          <a:prstGeom prst="rect">
            <a:avLst/>
          </a:prstGeom>
          <a:noFill/>
        </p:spPr>
        <p:txBody>
          <a:bodyPr wrap="square" anchor="ctr" lIns="0" rIns="0" tIns="0" bIns="0">
            <a:spAutoFit/>
          </a:bodyPr>
          <a:lstStyle/>
          <a:p>
            <a:pPr algn="l">
              <a:lnSpc>
                <a:spcPct val="115000"/>
              </a:lnSpc>
            </a:pPr>
            <a:r>
              <a:rPr sz="1100" b="1" i="0">
                <a:solidFill>
                  <a:srgbClr val="1F2429"/>
                </a:solidFill>
                <a:latin typeface="Arial"/>
              </a:rPr>
              <a:t>Third-party fix late</a:t>
            </a:r>
          </a:p>
        </p:txBody>
      </p:sp>
      <p:sp>
        <p:nvSpPr>
          <p:cNvPr id="13" name="TextBox 12"/>
          <p:cNvSpPr txBox="1"/>
          <p:nvPr/>
        </p:nvSpPr>
        <p:spPr>
          <a:xfrm>
            <a:off x="4670500" y="3127248"/>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High</a:t>
            </a:r>
          </a:p>
        </p:txBody>
      </p:sp>
      <p:sp>
        <p:nvSpPr>
          <p:cNvPr id="14" name="TextBox 13"/>
          <p:cNvSpPr txBox="1"/>
          <p:nvPr/>
        </p:nvSpPr>
        <p:spPr>
          <a:xfrm>
            <a:off x="6982585" y="3127248"/>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Integration lead</a:t>
            </a:r>
          </a:p>
        </p:txBody>
      </p:sp>
      <p:sp>
        <p:nvSpPr>
          <p:cNvPr id="15" name="TextBox 14"/>
          <p:cNvSpPr txBox="1"/>
          <p:nvPr/>
        </p:nvSpPr>
        <p:spPr>
          <a:xfrm>
            <a:off x="9294669" y="3127248"/>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Escalate Friday</a:t>
            </a:r>
          </a:p>
        </p:txBody>
      </p:sp>
      <p:sp>
        <p:nvSpPr>
          <p:cNvPr id="16" name="Rectangle 15"/>
          <p:cNvSpPr/>
          <p:nvPr/>
        </p:nvSpPr>
        <p:spPr>
          <a:xfrm>
            <a:off x="841248" y="4261104"/>
            <a:ext cx="10509473" cy="635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3694176"/>
            <a:ext cx="3207460" cy="566928"/>
          </a:xfrm>
          <a:prstGeom prst="rect">
            <a:avLst/>
          </a:prstGeom>
          <a:noFill/>
        </p:spPr>
        <p:txBody>
          <a:bodyPr wrap="square" anchor="ctr" lIns="0" rIns="0" tIns="0" bIns="0">
            <a:spAutoFit/>
          </a:bodyPr>
          <a:lstStyle/>
          <a:p>
            <a:pPr algn="l">
              <a:lnSpc>
                <a:spcPct val="115000"/>
              </a:lnSpc>
            </a:pPr>
            <a:r>
              <a:rPr sz="1100" b="1" i="0">
                <a:solidFill>
                  <a:srgbClr val="1F2429"/>
                </a:solidFill>
                <a:latin typeface="Arial"/>
              </a:rPr>
              <a:t>Test data incomplete</a:t>
            </a:r>
          </a:p>
        </p:txBody>
      </p:sp>
      <p:sp>
        <p:nvSpPr>
          <p:cNvPr id="18" name="TextBox 17"/>
          <p:cNvSpPr txBox="1"/>
          <p:nvPr/>
        </p:nvSpPr>
        <p:spPr>
          <a:xfrm>
            <a:off x="4670500" y="3694176"/>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Medium</a:t>
            </a:r>
          </a:p>
        </p:txBody>
      </p:sp>
      <p:sp>
        <p:nvSpPr>
          <p:cNvPr id="19" name="TextBox 18"/>
          <p:cNvSpPr txBox="1"/>
          <p:nvPr/>
        </p:nvSpPr>
        <p:spPr>
          <a:xfrm>
            <a:off x="6982585" y="3694176"/>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Delivery lead</a:t>
            </a:r>
          </a:p>
        </p:txBody>
      </p:sp>
      <p:sp>
        <p:nvSpPr>
          <p:cNvPr id="20" name="TextBox 19"/>
          <p:cNvSpPr txBox="1"/>
          <p:nvPr/>
        </p:nvSpPr>
        <p:spPr>
          <a:xfrm>
            <a:off x="9294669" y="3694176"/>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Sourced by wk 26</a:t>
            </a:r>
          </a:p>
        </p:txBody>
      </p:sp>
      <p:sp>
        <p:nvSpPr>
          <p:cNvPr id="21" name="Rectangle 20"/>
          <p:cNvSpPr/>
          <p:nvPr/>
        </p:nvSpPr>
        <p:spPr>
          <a:xfrm>
            <a:off x="841248" y="4261104"/>
            <a:ext cx="10509473" cy="56692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248" y="4828032"/>
            <a:ext cx="10509473" cy="635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4261104"/>
            <a:ext cx="3207460" cy="566928"/>
          </a:xfrm>
          <a:prstGeom prst="rect">
            <a:avLst/>
          </a:prstGeom>
          <a:noFill/>
        </p:spPr>
        <p:txBody>
          <a:bodyPr wrap="square" anchor="ctr" lIns="0" rIns="0" tIns="0" bIns="0">
            <a:spAutoFit/>
          </a:bodyPr>
          <a:lstStyle/>
          <a:p>
            <a:pPr algn="l">
              <a:lnSpc>
                <a:spcPct val="115000"/>
              </a:lnSpc>
            </a:pPr>
            <a:r>
              <a:rPr sz="1100" b="1" i="0">
                <a:solidFill>
                  <a:srgbClr val="1F2429"/>
                </a:solidFill>
                <a:latin typeface="Arial"/>
              </a:rPr>
              <a:t>Key person single point</a:t>
            </a:r>
          </a:p>
        </p:txBody>
      </p:sp>
      <p:sp>
        <p:nvSpPr>
          <p:cNvPr id="24" name="TextBox 23"/>
          <p:cNvSpPr txBox="1"/>
          <p:nvPr/>
        </p:nvSpPr>
        <p:spPr>
          <a:xfrm>
            <a:off x="4670500" y="4261104"/>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Medium</a:t>
            </a:r>
          </a:p>
        </p:txBody>
      </p:sp>
      <p:sp>
        <p:nvSpPr>
          <p:cNvPr id="25" name="TextBox 24"/>
          <p:cNvSpPr txBox="1"/>
          <p:nvPr/>
        </p:nvSpPr>
        <p:spPr>
          <a:xfrm>
            <a:off x="6982585" y="4261104"/>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Programme</a:t>
            </a:r>
          </a:p>
        </p:txBody>
      </p:sp>
      <p:sp>
        <p:nvSpPr>
          <p:cNvPr id="26" name="TextBox 25"/>
          <p:cNvSpPr txBox="1"/>
          <p:nvPr/>
        </p:nvSpPr>
        <p:spPr>
          <a:xfrm>
            <a:off x="9294669" y="4261104"/>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Pairing from wk 25</a:t>
            </a:r>
          </a:p>
        </p:txBody>
      </p:sp>
      <p:sp>
        <p:nvSpPr>
          <p:cNvPr id="27" name="Rectangle 26"/>
          <p:cNvSpPr/>
          <p:nvPr/>
        </p:nvSpPr>
        <p:spPr>
          <a:xfrm>
            <a:off x="841248" y="5394959"/>
            <a:ext cx="10509473" cy="6350"/>
          </a:xfrm>
          <a:prstGeom prst="rect">
            <a:avLst/>
          </a:prstGeom>
          <a:solidFill>
            <a:srgbClr val="D5D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97280" y="4828031"/>
            <a:ext cx="3207460" cy="566928"/>
          </a:xfrm>
          <a:prstGeom prst="rect">
            <a:avLst/>
          </a:prstGeom>
          <a:noFill/>
        </p:spPr>
        <p:txBody>
          <a:bodyPr wrap="square" anchor="ctr" lIns="0" rIns="0" tIns="0" bIns="0">
            <a:spAutoFit/>
          </a:bodyPr>
          <a:lstStyle/>
          <a:p>
            <a:pPr algn="l">
              <a:lnSpc>
                <a:spcPct val="115000"/>
              </a:lnSpc>
            </a:pPr>
            <a:r>
              <a:rPr sz="1100" b="1" i="0">
                <a:solidFill>
                  <a:srgbClr val="1F2429"/>
                </a:solidFill>
                <a:latin typeface="Arial"/>
              </a:rPr>
              <a:t>Scope creep, phase 2</a:t>
            </a:r>
          </a:p>
        </p:txBody>
      </p:sp>
      <p:sp>
        <p:nvSpPr>
          <p:cNvPr id="29" name="TextBox 28"/>
          <p:cNvSpPr txBox="1"/>
          <p:nvPr/>
        </p:nvSpPr>
        <p:spPr>
          <a:xfrm>
            <a:off x="4670500" y="4828031"/>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Low</a:t>
            </a:r>
          </a:p>
        </p:txBody>
      </p:sp>
      <p:sp>
        <p:nvSpPr>
          <p:cNvPr id="30" name="TextBox 29"/>
          <p:cNvSpPr txBox="1"/>
          <p:nvPr/>
        </p:nvSpPr>
        <p:spPr>
          <a:xfrm>
            <a:off x="6982585" y="4828031"/>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Sponsor</a:t>
            </a:r>
          </a:p>
        </p:txBody>
      </p:sp>
      <p:sp>
        <p:nvSpPr>
          <p:cNvPr id="31" name="TextBox 30"/>
          <p:cNvSpPr txBox="1"/>
          <p:nvPr/>
        </p:nvSpPr>
        <p:spPr>
          <a:xfrm>
            <a:off x="9294669" y="4828031"/>
            <a:ext cx="1946324" cy="566928"/>
          </a:xfrm>
          <a:prstGeom prst="rect">
            <a:avLst/>
          </a:prstGeom>
          <a:noFill/>
        </p:spPr>
        <p:txBody>
          <a:bodyPr wrap="square" anchor="ctr" lIns="0" rIns="0" tIns="0" bIns="0">
            <a:spAutoFit/>
          </a:bodyPr>
          <a:lstStyle/>
          <a:p>
            <a:pPr algn="l">
              <a:lnSpc>
                <a:spcPct val="115000"/>
              </a:lnSpc>
            </a:pPr>
            <a:r>
              <a:rPr sz="1100" b="0" i="0">
                <a:solidFill>
                  <a:srgbClr val="5C646C"/>
                </a:solidFill>
                <a:latin typeface="Arial"/>
              </a:rPr>
              <a:t>Decision today</a:t>
            </a:r>
          </a:p>
        </p:txBody>
      </p:sp>
      <p:sp>
        <p:nvSpPr>
          <p:cNvPr id="32" name="TextBox 31"/>
          <p:cNvSpPr txBox="1"/>
          <p:nvPr/>
        </p:nvSpPr>
        <p:spPr>
          <a:xfrm>
            <a:off x="841248" y="5650992"/>
            <a:ext cx="10509473" cy="365760"/>
          </a:xfrm>
          <a:prstGeom prst="rect">
            <a:avLst/>
          </a:prstGeom>
          <a:noFill/>
        </p:spPr>
        <p:txBody>
          <a:bodyPr wrap="square" anchor="t" lIns="0" rIns="0" tIns="0" bIns="0">
            <a:spAutoFit/>
          </a:bodyPr>
          <a:lstStyle/>
          <a:p>
            <a:pPr algn="l">
              <a:lnSpc>
                <a:spcPct val="115000"/>
              </a:lnSpc>
            </a:pPr>
            <a:r>
              <a:rPr sz="900" b="0" i="0">
                <a:solidFill>
                  <a:srgbClr val="5C646C"/>
                </a:solidFill>
                <a:latin typeface="Arial"/>
              </a:rPr>
              <a:t>Replace the rows with your own figures. Keep one unit per column.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41248" y="896112"/>
            <a:ext cx="96012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00" b="1" i="0" spc="220">
                <a:solidFill>
                  <a:srgbClr val="1D4ED8"/>
                </a:solidFill>
                <a:latin typeface="Arial"/>
              </a:rPr>
              <a:t>EVIDENCE</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2700" b="1" i="0">
                <a:solidFill>
                  <a:srgbClr val="1F2429"/>
                </a:solidFill>
                <a:latin typeface="Arial"/>
              </a:rPr>
              <a:t>One image, one idea</a:t>
            </a:r>
          </a:p>
        </p:txBody>
      </p:sp>
      <p:sp>
        <p:nvSpPr>
          <p:cNvPr id="5" name="Rectangle 4"/>
          <p:cNvSpPr/>
          <p:nvPr/>
        </p:nvSpPr>
        <p:spPr>
          <a:xfrm>
            <a:off x="841248" y="2560320"/>
            <a:ext cx="5464926" cy="2926080"/>
          </a:xfrm>
          <a:prstGeom prst="rect">
            <a:avLst/>
          </a:prstGeom>
          <a:solidFill>
            <a:srgbClr val="F4F6F8"/>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229502" y="3321100"/>
            <a:ext cx="457200" cy="457200"/>
          </a:xfrm>
          <a:prstGeom prst="ellipse">
            <a:avLst/>
          </a:prstGeom>
          <a:solidFill>
            <a:srgbClr val="6C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a:off x="1934233" y="3668572"/>
            <a:ext cx="1371600" cy="822960"/>
          </a:xfrm>
          <a:prstGeom prst="rtTriangle">
            <a:avLst/>
          </a:prstGeom>
          <a:solidFill>
            <a:srgbClr val="C0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3136517" y="3348532"/>
            <a:ext cx="1737360" cy="1143000"/>
          </a:xfrm>
          <a:prstGeom prst="rtTriangle">
            <a:avLst/>
          </a:prstGeom>
          <a:solidFill>
            <a:srgbClr val="9A9C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15636" y="4491532"/>
            <a:ext cx="3716149" cy="12700"/>
          </a:xfrm>
          <a:prstGeom prst="rect">
            <a:avLst/>
          </a:prstGeom>
          <a:solidFill>
            <a:srgbClr val="8487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4700016"/>
            <a:ext cx="5464926" cy="365760"/>
          </a:xfrm>
          <a:prstGeom prst="rect">
            <a:avLst/>
          </a:prstGeom>
          <a:noFill/>
        </p:spPr>
        <p:txBody>
          <a:bodyPr wrap="square" anchor="t" lIns="0" rIns="0" tIns="0" bIns="0">
            <a:spAutoFit/>
          </a:bodyPr>
          <a:lstStyle/>
          <a:p>
            <a:pPr algn="ctr">
              <a:lnSpc>
                <a:spcPct val="115000"/>
              </a:lnSpc>
            </a:pPr>
            <a:r>
              <a:rPr sz="900" b="0" i="0" spc="160">
                <a:solidFill>
                  <a:srgbClr val="5C646C"/>
                </a:solidFill>
                <a:latin typeface="Arial"/>
              </a:rPr>
              <a:t>DROP AN IMAGE HERE</a:t>
            </a:r>
          </a:p>
        </p:txBody>
      </p:sp>
      <p:sp>
        <p:nvSpPr>
          <p:cNvPr id="11" name="TextBox 10"/>
          <p:cNvSpPr txBox="1"/>
          <p:nvPr/>
        </p:nvSpPr>
        <p:spPr>
          <a:xfrm>
            <a:off x="7037694" y="2560320"/>
            <a:ext cx="4313027" cy="1965960"/>
          </a:xfrm>
          <a:prstGeom prst="rect">
            <a:avLst/>
          </a:prstGeom>
          <a:noFill/>
        </p:spPr>
        <p:txBody>
          <a:bodyPr wrap="square" anchor="t" lIns="0" rIns="0" tIns="0" bIns="0">
            <a:spAutoFit/>
          </a:bodyPr>
          <a:lstStyle/>
          <a:p>
            <a:pPr algn="l">
              <a:lnSpc>
                <a:spcPct val="120000"/>
              </a:lnSpc>
              <a:spcAft>
                <a:spcPts val="1400"/>
              </a:spcAft>
            </a:pPr>
            <a:r>
              <a:rPr sz="1700" b="1" i="0">
                <a:solidFill>
                  <a:srgbClr val="1F2429"/>
                </a:solidFill>
                <a:latin typeface="Arial"/>
              </a:rPr>
              <a:t>One chart the sponsor can read</a:t>
            </a:r>
          </a:p>
          <a:p>
            <a:pPr>
              <a:lnSpc>
                <a:spcPct val="145000"/>
              </a:lnSpc>
              <a:spcAft>
                <a:spcPts val="1600"/>
              </a:spcAft>
            </a:pPr>
            <a:r>
              <a:rPr sz="1200" b="0" i="0">
                <a:solidFill>
                  <a:srgbClr val="5C646C"/>
                </a:solidFill>
                <a:latin typeface="Arial"/>
              </a:rPr>
              <a:t>Burn-up against the baseline, or milestones against dates. Whichever you pick, keep it the same chart every report — a sponsor should be able to compare this week to last week without re-reading the axis.</a:t>
            </a:r>
          </a:p>
        </p:txBody>
      </p:sp>
      <p:sp>
        <p:nvSpPr>
          <p:cNvPr id="12" name="Rectangle 11"/>
          <p:cNvSpPr/>
          <p:nvPr/>
        </p:nvSpPr>
        <p:spPr>
          <a:xfrm>
            <a:off x="7037694" y="4617720"/>
            <a:ext cx="91440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37694" y="4864608"/>
            <a:ext cx="4313027" cy="457200"/>
          </a:xfrm>
          <a:prstGeom prst="rect">
            <a:avLst/>
          </a:prstGeom>
          <a:noFill/>
        </p:spPr>
        <p:txBody>
          <a:bodyPr wrap="square" anchor="t" lIns="0" rIns="0" tIns="0" bIns="0">
            <a:spAutoFit/>
          </a:bodyPr>
          <a:lstStyle/>
          <a:p>
            <a:pPr algn="l">
              <a:lnSpc>
                <a:spcPct val="135000"/>
              </a:lnSpc>
            </a:pPr>
            <a:r>
              <a:rPr sz="900" b="0" i="0">
                <a:solidFill>
                  <a:srgbClr val="5C646C"/>
                </a:solidFill>
                <a:latin typeface="Arial"/>
              </a:rPr>
              <a:t>Caption the image: what it shows and where it came from.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6800" b="1" i="0">
                <a:solidFill>
                  <a:srgbClr val="1D4ED8"/>
                </a:solidFill>
                <a:latin typeface="Arial"/>
              </a:rPr>
              <a:t>03</a:t>
            </a:r>
          </a:p>
          <a:p>
            <a:pPr>
              <a:lnSpc>
                <a:spcPct val="115000"/>
              </a:lnSpc>
              <a:spcAft>
                <a:spcPts val="1200"/>
              </a:spcAft>
            </a:pPr>
            <a:r>
              <a:rPr sz="3100" b="1" i="0">
                <a:solidFill>
                  <a:srgbClr val="1F2429"/>
                </a:solidFill>
                <a:latin typeface="Arial"/>
              </a:rPr>
              <a:t>Decisions</a:t>
            </a:r>
          </a:p>
          <a:p>
            <a:pPr>
              <a:lnSpc>
                <a:spcPct val="135000"/>
              </a:lnSpc>
            </a:pPr>
            <a:r>
              <a:rPr sz="1400" b="0" i="0">
                <a:solidFill>
                  <a:srgbClr val="6D7174"/>
                </a:solidFill>
                <a:latin typeface="Arial"/>
              </a:rPr>
              <a:t>The choices that need an owner in this room.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310896"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15568" y="1463040"/>
            <a:ext cx="1097280" cy="1143000"/>
          </a:xfrm>
          <a:prstGeom prst="rect">
            <a:avLst/>
          </a:prstGeom>
          <a:noFill/>
        </p:spPr>
        <p:txBody>
          <a:bodyPr wrap="square" anchor="t" lIns="0" rIns="0" tIns="0" bIns="0">
            <a:spAutoFit/>
          </a:bodyPr>
          <a:lstStyle/>
          <a:p>
            <a:pPr algn="l">
              <a:lnSpc>
                <a:spcPct val="90000"/>
              </a:lnSpc>
            </a:pPr>
            <a:r>
              <a:rPr sz="8400" b="1" i="0">
                <a:solidFill>
                  <a:srgbClr val="567AE2"/>
                </a:solidFill>
                <a:latin typeface="Arial"/>
              </a:rPr>
              <a:t>“</a:t>
            </a:r>
          </a:p>
        </p:txBody>
      </p:sp>
      <p:sp>
        <p:nvSpPr>
          <p:cNvPr id="4" name="TextBox 3"/>
          <p:cNvSpPr txBox="1"/>
          <p:nvPr/>
        </p:nvSpPr>
        <p:spPr>
          <a:xfrm>
            <a:off x="1115568" y="2697480"/>
            <a:ext cx="9046433" cy="2377440"/>
          </a:xfrm>
          <a:prstGeom prst="rect">
            <a:avLst/>
          </a:prstGeom>
          <a:noFill/>
        </p:spPr>
        <p:txBody>
          <a:bodyPr wrap="square" anchor="t" lIns="0" rIns="0" tIns="0" bIns="0">
            <a:spAutoFit/>
          </a:bodyPr>
          <a:lstStyle/>
          <a:p>
            <a:pPr algn="l">
              <a:lnSpc>
                <a:spcPct val="128000"/>
              </a:lnSpc>
              <a:spcAft>
                <a:spcPts val="2200"/>
              </a:spcAft>
            </a:pPr>
            <a:r>
              <a:rPr sz="2300" b="0" i="0">
                <a:solidFill>
                  <a:srgbClr val="1F2429"/>
                </a:solidFill>
                <a:latin typeface="Arial"/>
              </a:rPr>
              <a:t>Tell me the date is moving in week 24, not in week 34.</a:t>
            </a:r>
          </a:p>
          <a:p>
            <a:pPr>
              <a:lnSpc>
                <a:spcPct val="115000"/>
              </a:lnSpc>
            </a:pPr>
            <a:r>
              <a:rPr sz="1000" b="1" i="0" spc="180">
                <a:solidFill>
                  <a:srgbClr val="5C646C"/>
                </a:solidFill>
                <a:latin typeface="Arial"/>
              </a:rPr>
              <a:t>PROGRAMME SPONSOR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69" cy="31089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331720"/>
            <a:ext cx="6936252" cy="2194560"/>
          </a:xfrm>
          <a:prstGeom prst="rect">
            <a:avLst/>
          </a:prstGeom>
          <a:noFill/>
        </p:spPr>
        <p:txBody>
          <a:bodyPr wrap="square" anchor="t" lIns="0" rIns="0" tIns="0" bIns="0">
            <a:spAutoFit/>
          </a:bodyPr>
          <a:lstStyle/>
          <a:p>
            <a:pPr algn="l">
              <a:lnSpc>
                <a:spcPct val="105000"/>
              </a:lnSpc>
              <a:spcAft>
                <a:spcPts val="1400"/>
              </a:spcAft>
            </a:pPr>
            <a:r>
              <a:rPr sz="3800" b="1" i="0">
                <a:solidFill>
                  <a:srgbClr val="1F2429"/>
                </a:solidFill>
                <a:latin typeface="Arial"/>
              </a:rPr>
              <a:t>Decisions needed</a:t>
            </a:r>
          </a:p>
          <a:p>
            <a:pPr>
              <a:lnSpc>
                <a:spcPct val="140000"/>
              </a:lnSpc>
            </a:pPr>
            <a:r>
              <a:rPr sz="1400" b="0" i="0">
                <a:solidFill>
                  <a:srgbClr val="626669"/>
                </a:solidFill>
                <a:latin typeface="Arial"/>
              </a:rPr>
              <a:t>Two: the phase-two scope, and whether we fund the parallel integration path.</a:t>
            </a:r>
          </a:p>
        </p:txBody>
      </p:sp>
      <p:sp>
        <p:nvSpPr>
          <p:cNvPr id="4" name="TextBox 3"/>
          <p:cNvSpPr txBox="1"/>
          <p:nvPr/>
        </p:nvSpPr>
        <p:spPr>
          <a:xfrm>
            <a:off x="841248" y="5349240"/>
            <a:ext cx="10509473" cy="822960"/>
          </a:xfrm>
          <a:prstGeom prst="rect">
            <a:avLst/>
          </a:prstGeom>
          <a:noFill/>
        </p:spPr>
        <p:txBody>
          <a:bodyPr wrap="square" anchor="t" lIns="0" rIns="0" tIns="0" bIns="0">
            <a:spAutoFit/>
          </a:bodyPr>
          <a:lstStyle/>
          <a:p>
            <a:pPr algn="l">
              <a:lnSpc>
                <a:spcPct val="115000"/>
              </a:lnSpc>
            </a:pPr>
            <a:r>
              <a:rPr sz="900" b="0" i="0" spc="200">
                <a:solidFill>
                  <a:srgbClr val="848789"/>
                </a:solidFill>
                <a:latin typeface="Arial"/>
              </a:rPr>
              <a:t>YOUR.NAME@EXAMPLE.COM · +00 000 0000 · EXAMPLE.COM</a:t>
            </a:r>
          </a:p>
        </p:txBody>
      </p:sp>
      <p:sp>
        <p:nvSpPr>
          <p:cNvPr id="5" name="Rectangle 4"/>
          <p:cNvSpPr/>
          <p:nvPr/>
        </p:nvSpPr>
        <p:spPr>
          <a:xfrm>
            <a:off x="841248" y="5257800"/>
            <a:ext cx="1280160" cy="3175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theme/theme1.xml><?xml version="1.0" encoding="utf-8"?>
<a:theme xmlns:a="http://schemas.openxmlformats.org/drawingml/2006/main" name="Office Theme">
  <a:themeElements>
    <a:clrScheme name="Office">
      <a:dk1>
        <a:srgbClr val="1F2429"/>
      </a:dk1>
      <a:lt1>
        <a:srgbClr val="FFFFFF"/>
      </a:lt1>
      <a:dk2>
        <a:srgbClr val="FFFFFF"/>
      </a:dk2>
      <a:lt2>
        <a:srgbClr val="F4F6F8"/>
      </a:lt2>
      <a:accent1>
        <a:srgbClr val="1D4ED8"/>
      </a:accent1>
      <a:accent2>
        <a:srgbClr val="6C8CE6"/>
      </a:accent2>
      <a:accent3>
        <a:srgbClr val="1F2429"/>
      </a:accent3>
      <a:accent4>
        <a:srgbClr val="5C646C"/>
      </a:accent4>
      <a:accent5>
        <a:srgbClr val="A5A7A9"/>
      </a:accent5>
      <a:accent6>
        <a:srgbClr val="D5DAE0"/>
      </a:accent6>
      <a:hlink>
        <a:srgbClr val="1D4ED8"/>
      </a:hlink>
      <a:folHlink>
        <a:srgbClr val="5C64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 — CubeOffice template</dc:title>
  <dc:subject>Project status</dc:subject>
  <dc:creator>CubeOffice</dc:creator>
  <cp:keywords>CubeOffice, template, project status, en</cp:keywords>
  <dc:description>CubeOffice original template. Free to use, edit and redistribute, with or without attribution, for personal and commercial work.</dc:description>
  <cp:lastModifiedBy>CubeOffice</cp:lastModifiedBy>
  <cp:revision>1</cp:revision>
  <dcterms:created xsi:type="dcterms:W3CDTF">2026-01-01T00:00:00Z</dcterms:created>
  <dcterms:modified xsi:type="dcterms:W3CDTF">2026-01-01T00:00:00Z</dcterms:modified>
  <cp:category>Project status</cp:category>
</cp:coreProperties>
</file>