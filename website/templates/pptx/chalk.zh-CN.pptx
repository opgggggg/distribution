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0"/>
            <a:ext cx="1463040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60049" y="-1143000"/>
            <a:ext cx="5120640" cy="5120640"/>
          </a:xfrm>
          <a:prstGeom prst="ellipse">
            <a:avLst/>
          </a:prstGeom>
          <a:solidFill>
            <a:srgbClr val="E0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60249" y="384048"/>
            <a:ext cx="1920240" cy="1920240"/>
          </a:xfrm>
          <a:prstGeom prst="ellipse">
            <a:avLst/>
          </a:prstGeom>
          <a:solidFill>
            <a:srgbClr val="C2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2084831"/>
            <a:ext cx="676656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900" b="1" i="0" spc="240">
                <a:solidFill>
                  <a:srgbClr val="FFFCF7"/>
                </a:solidFill>
                <a:latin typeface="Verdana"/>
              </a:rPr>
              <a:t>工作坊 · 第 1 / 4 模块</a:t>
            </a:r>
          </a:p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4800" b="1" i="0">
                <a:solidFill>
                  <a:srgbClr val="FFFCF7"/>
                </a:solidFill>
                <a:latin typeface="Georgia"/>
              </a:rPr>
              <a:t>做出来才算学会</a:t>
            </a:r>
          </a:p>
          <a:p>
            <a:pPr>
              <a:lnSpc>
                <a:spcPct val="135000"/>
              </a:lnSpc>
            </a:pPr>
            <a:r>
              <a:rPr sz="1400" b="0" i="0">
                <a:solidFill>
                  <a:srgbClr val="FFFCF7"/>
                </a:solidFill>
                <a:latin typeface="Verdana"/>
              </a:rPr>
              <a:t>这节课结束时你能做到什么，以及我们怎么走到那一步。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687568"/>
            <a:ext cx="6766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180">
                <a:solidFill>
                  <a:srgbClr val="FFFCF7"/>
                </a:solidFill>
                <a:latin typeface="Verdana"/>
              </a:rPr>
              <a:t>团队名称 · 组织名称 · 2026 年 X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22960"/>
            <a:ext cx="201168" cy="201168"/>
          </a:xfrm>
          <a:prstGeom prst="ellipse">
            <a:avLst/>
          </a:prstGeom>
          <a:solidFill>
            <a:srgbClr val="C2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A2320"/>
                </a:solidFill>
                <a:latin typeface="Georgia"/>
              </a:rPr>
              <a:t>本次内容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744" b="1" i="0">
                <a:solidFill>
                  <a:srgbClr val="C2543C"/>
                </a:solidFill>
                <a:latin typeface="Georgia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035808"/>
            <a:ext cx="4843256" cy="9525"/>
          </a:xfrm>
          <a:prstGeom prst="rect">
            <a:avLst/>
          </a:prstGeom>
          <a:solidFill>
            <a:srgbClr val="D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55648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2A2320"/>
                </a:solidFill>
                <a:latin typeface="Georgia"/>
              </a:rPr>
              <a:t>目标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B5F58"/>
                </a:solidFill>
                <a:latin typeface="Verdana"/>
              </a:rPr>
              <a:t>结束之后你会做、而现在不会的事。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744" b="1" i="0">
                <a:solidFill>
                  <a:srgbClr val="C2543C"/>
                </a:solidFill>
                <a:latin typeface="Georgia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242816"/>
            <a:ext cx="4843256" cy="9525"/>
          </a:xfrm>
          <a:prstGeom prst="rect">
            <a:avLst/>
          </a:prstGeom>
          <a:solidFill>
            <a:srgbClr val="D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755648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2A2320"/>
                </a:solidFill>
                <a:latin typeface="Georgia"/>
              </a:rPr>
              <a:t>热身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B5F58"/>
                </a:solidFill>
                <a:latin typeface="Verdana"/>
              </a:rPr>
              <a:t>一个小练习，先摸出你已经知道的部分。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744" b="1" i="0">
                <a:solidFill>
                  <a:srgbClr val="C2543C"/>
                </a:solidFill>
                <a:latin typeface="Georgia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449823"/>
            <a:ext cx="4843256" cy="9525"/>
          </a:xfrm>
          <a:prstGeom prst="rect">
            <a:avLst/>
          </a:prstGeom>
          <a:solidFill>
            <a:srgbClr val="D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755648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2A2320"/>
                </a:solidFill>
                <a:latin typeface="Georgia"/>
              </a:rPr>
              <a:t>概念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B5F58"/>
                </a:solidFill>
                <a:latin typeface="Verdana"/>
              </a:rPr>
              <a:t>真正必要的那一点点理论，不多讲。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464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744" b="1" i="0">
                <a:solidFill>
                  <a:srgbClr val="C2543C"/>
                </a:solidFill>
                <a:latin typeface="Georgia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7464" y="3035808"/>
            <a:ext cx="4843256" cy="9525"/>
          </a:xfrm>
          <a:prstGeom prst="rect">
            <a:avLst/>
          </a:prstGeom>
          <a:solidFill>
            <a:srgbClr val="D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21864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2A2320"/>
                </a:solidFill>
                <a:latin typeface="Georgia"/>
              </a:rPr>
              <a:t>练习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B5F58"/>
                </a:solidFill>
                <a:latin typeface="Verdana"/>
              </a:rPr>
              <a:t>主练习，两人一组。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464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744" b="1" i="0">
                <a:solidFill>
                  <a:srgbClr val="C2543C"/>
                </a:solidFill>
                <a:latin typeface="Georgia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07464" y="4242816"/>
            <a:ext cx="4843256" cy="9525"/>
          </a:xfrm>
          <a:prstGeom prst="rect">
            <a:avLst/>
          </a:prstGeom>
          <a:solidFill>
            <a:srgbClr val="D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21864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2A2320"/>
                </a:solidFill>
                <a:latin typeface="Georgia"/>
              </a:rPr>
              <a:t>复盘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B5F58"/>
                </a:solidFill>
                <a:latin typeface="Verdana"/>
              </a:rPr>
              <a:t>哪里错了，以及为什么错的地方才有用。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64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744" b="1" i="0">
                <a:solidFill>
                  <a:srgbClr val="C2543C"/>
                </a:solidFill>
                <a:latin typeface="Georgia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7464" y="5449823"/>
            <a:ext cx="4843256" cy="9525"/>
          </a:xfrm>
          <a:prstGeom prst="rect">
            <a:avLst/>
          </a:prstGeom>
          <a:solidFill>
            <a:srgbClr val="D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21864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 i="0">
                <a:solidFill>
                  <a:srgbClr val="2A2320"/>
                </a:solidFill>
                <a:latin typeface="Georgia"/>
              </a:rPr>
              <a:t>带走</a:t>
            </a:r>
          </a:p>
          <a:p>
            <a:pPr>
              <a:lnSpc>
                <a:spcPct val="130000"/>
              </a:lnSpc>
            </a:pPr>
            <a:r>
              <a:rPr sz="900" b="0" i="0">
                <a:solidFill>
                  <a:srgbClr val="6B5F58"/>
                </a:solidFill>
                <a:latin typeface="Verdana"/>
              </a:rPr>
              <a:t>一页留着的清单，一件这周就去试的事。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C2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200" b="1" i="0">
                <a:solidFill>
                  <a:srgbClr val="C2543C"/>
                </a:solidFill>
                <a:latin typeface="Georgia"/>
              </a:rPr>
              <a:t>01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300" b="1" i="0">
                <a:solidFill>
                  <a:srgbClr val="FFFCF7"/>
                </a:solidFill>
                <a:latin typeface="Georgia"/>
              </a:rPr>
              <a:t>目标</a:t>
            </a:r>
          </a:p>
          <a:p>
            <a:pPr>
              <a:lnSpc>
                <a:spcPct val="135000"/>
              </a:lnSpc>
            </a:pPr>
            <a:r>
              <a:rPr sz="1400" b="0" i="0">
                <a:solidFill>
                  <a:srgbClr val="FFFCF7"/>
                </a:solidFill>
                <a:latin typeface="Verdana"/>
              </a:rPr>
              <a:t>这节课是干什么用的，写成你能做到的动作。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22960"/>
            <a:ext cx="201168" cy="201168"/>
          </a:xfrm>
          <a:prstGeom prst="ellipse">
            <a:avLst/>
          </a:prstGeom>
          <a:solidFill>
            <a:srgbClr val="C2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C2543C"/>
                </a:solidFill>
                <a:latin typeface="Verdana"/>
              </a:rPr>
              <a:t>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A2320"/>
                </a:solidFill>
                <a:latin typeface="Georgia"/>
              </a:rPr>
              <a:t>这节课结束时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483435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2A2320"/>
                </a:solidFill>
                <a:latin typeface="Verdana"/>
              </a:rPr>
              <a:t>把目标写成能被看见的动作，而不是“讲过的内容”。“理解这个流程”无法检验；“用自己的数据跑一遍并解释结果”可以。九十分钟写三条就够了。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995645" y="2615184"/>
            <a:ext cx="9525" cy="2606040"/>
          </a:xfrm>
          <a:prstGeom prst="rect">
            <a:avLst/>
          </a:prstGeom>
          <a:solidFill>
            <a:srgbClr val="D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7125" y="2560320"/>
            <a:ext cx="494359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C2543C"/>
                </a:solidFill>
                <a:latin typeface="Verdana"/>
              </a:rPr>
              <a:t>—  </a:t>
            </a:r>
            <a:r>
              <a:rPr sz="1200">
                <a:solidFill>
                  <a:srgbClr val="6B5F58"/>
                </a:solidFill>
                <a:latin typeface="Verdana"/>
              </a:rPr>
              <a:t>用一个真实例子把流程从头跑到尾。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00" b="1">
                <a:solidFill>
                  <a:srgbClr val="C2543C"/>
                </a:solidFill>
                <a:latin typeface="Verdana"/>
              </a:rPr>
              <a:t>—  </a:t>
            </a:r>
            <a:r>
              <a:rPr sz="1200">
                <a:solidFill>
                  <a:srgbClr val="6B5F58"/>
                </a:solidFill>
                <a:latin typeface="Verdana"/>
              </a:rPr>
              <a:t>向没来的人把每一步讲清楚。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00" b="1">
                <a:solidFill>
                  <a:srgbClr val="C2543C"/>
                </a:solidFill>
                <a:latin typeface="Verdana"/>
              </a:rPr>
              <a:t>—  </a:t>
            </a:r>
            <a:r>
              <a:rPr sz="1200">
                <a:solidFill>
                  <a:srgbClr val="6B5F58"/>
                </a:solidFill>
                <a:latin typeface="Verdana"/>
              </a:rPr>
              <a:t>认出导致大部分返工的那两个错误。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200" b="1">
                <a:solidFill>
                  <a:srgbClr val="C2543C"/>
                </a:solidFill>
                <a:latin typeface="Verdana"/>
              </a:rPr>
              <a:t>—  </a:t>
            </a:r>
            <a:r>
              <a:rPr sz="1200">
                <a:solidFill>
                  <a:srgbClr val="6B5F58"/>
                </a:solidFill>
                <a:latin typeface="Verdana"/>
              </a:rPr>
              <a:t>出问题时知道该去哪里看。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22960"/>
            <a:ext cx="201168" cy="201168"/>
          </a:xfrm>
          <a:prstGeom prst="ellipse">
            <a:avLst/>
          </a:prstGeom>
          <a:solidFill>
            <a:srgbClr val="C2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C2543C"/>
                </a:solidFill>
                <a:latin typeface="Verdana"/>
              </a:rPr>
              <a:t>课怎么上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A2320"/>
                </a:solidFill>
                <a:latin typeface="Georgia"/>
              </a:rPr>
              <a:t>三段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560320"/>
            <a:ext cx="3247125" cy="2788920"/>
          </a:xfrm>
          <a:prstGeom prst="roundRect">
            <a:avLst>
              <a:gd name="adj" fmla="val 4590"/>
            </a:avLst>
          </a:prstGeom>
          <a:solidFill>
            <a:srgbClr val="F6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41248" y="2560320"/>
            <a:ext cx="324712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316736" y="3108960"/>
            <a:ext cx="274320" cy="274320"/>
          </a:xfrm>
          <a:prstGeom prst="ellipse">
            <a:avLst/>
          </a:prstGeom>
          <a:solidFill>
            <a:srgbClr val="C2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6736" y="3584448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00" b="1" i="0" spc="160">
                <a:solidFill>
                  <a:srgbClr val="C2543C"/>
                </a:solidFill>
                <a:latin typeface="Georgia"/>
              </a:rPr>
              <a:t>01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2A2320"/>
                </a:solidFill>
                <a:latin typeface="Georgia"/>
              </a:rPr>
              <a:t>看</a:t>
            </a:r>
          </a:p>
          <a:p>
            <a:pPr>
              <a:lnSpc>
                <a:spcPct val="140000"/>
              </a:lnSpc>
            </a:pPr>
            <a:r>
              <a:rPr sz="950" b="0" i="0">
                <a:solidFill>
                  <a:srgbClr val="6B5F58"/>
                </a:solidFill>
                <a:latin typeface="Verdana"/>
              </a:rPr>
              <a:t>十五分钟。一个完整例子，从头到尾。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72421" y="2560320"/>
            <a:ext cx="3247125" cy="2788920"/>
          </a:xfrm>
          <a:prstGeom prst="roundRect">
            <a:avLst>
              <a:gd name="adj" fmla="val 4590"/>
            </a:avLst>
          </a:prstGeom>
          <a:solidFill>
            <a:srgbClr val="F6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472421" y="2560320"/>
            <a:ext cx="324712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947909" y="3108960"/>
            <a:ext cx="274320" cy="274320"/>
          </a:xfrm>
          <a:prstGeom prst="ellipse">
            <a:avLst/>
          </a:prstGeom>
          <a:solidFill>
            <a:srgbClr val="E0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47909" y="3584448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00" b="1" i="0" spc="160">
                <a:solidFill>
                  <a:srgbClr val="C2543C"/>
                </a:solidFill>
                <a:latin typeface="Georgia"/>
              </a:rPr>
              <a:t>02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2A2320"/>
                </a:solidFill>
                <a:latin typeface="Georgia"/>
              </a:rPr>
              <a:t>做</a:t>
            </a:r>
          </a:p>
          <a:p>
            <a:pPr>
              <a:lnSpc>
                <a:spcPct val="140000"/>
              </a:lnSpc>
            </a:pPr>
            <a:r>
              <a:rPr sz="950" b="0" i="0">
                <a:solidFill>
                  <a:srgbClr val="6B5F58"/>
                </a:solidFill>
                <a:latin typeface="Verdana"/>
              </a:rPr>
              <a:t>四十分钟。用自己的数据，两人一组，随时可以叫人。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3595" y="2560320"/>
            <a:ext cx="3247125" cy="2788920"/>
          </a:xfrm>
          <a:prstGeom prst="roundRect">
            <a:avLst>
              <a:gd name="adj" fmla="val 4590"/>
            </a:avLst>
          </a:prstGeom>
          <a:solidFill>
            <a:srgbClr val="F6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03595" y="2560320"/>
            <a:ext cx="3247125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579083" y="3108960"/>
            <a:ext cx="274320" cy="274320"/>
          </a:xfrm>
          <a:prstGeom prst="ellipse">
            <a:avLst/>
          </a:prstGeom>
          <a:solidFill>
            <a:srgbClr val="E0A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9083" y="3584448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00" b="1" i="0" spc="160">
                <a:solidFill>
                  <a:srgbClr val="C2543C"/>
                </a:solidFill>
                <a:latin typeface="Georgia"/>
              </a:rPr>
              <a:t>03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500" b="1" i="0">
                <a:solidFill>
                  <a:srgbClr val="2A2320"/>
                </a:solidFill>
                <a:latin typeface="Georgia"/>
              </a:rPr>
              <a:t>说</a:t>
            </a:r>
          </a:p>
          <a:p>
            <a:pPr>
              <a:lnSpc>
                <a:spcPct val="140000"/>
              </a:lnSpc>
            </a:pPr>
            <a:r>
              <a:rPr sz="950" b="0" i="0">
                <a:solidFill>
                  <a:srgbClr val="6B5F58"/>
                </a:solidFill>
                <a:latin typeface="Verdana"/>
              </a:rPr>
              <a:t>二十分钟。哪里坏了，下次怎么办。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22960"/>
            <a:ext cx="201168" cy="201168"/>
          </a:xfrm>
          <a:prstGeom prst="ellipse">
            <a:avLst/>
          </a:prstGeom>
          <a:solidFill>
            <a:srgbClr val="C2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C2543C"/>
                </a:solidFill>
                <a:latin typeface="Verdana"/>
              </a:rPr>
              <a:t>时间结构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A2320"/>
                </a:solidFill>
                <a:latin typeface="Georgia"/>
              </a:rPr>
              <a:t>九十分钟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200" b="1" i="0">
                <a:solidFill>
                  <a:srgbClr val="C2543C"/>
                </a:solidFill>
                <a:latin typeface="Georgia"/>
              </a:rPr>
              <a:t>15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2A2320"/>
                </a:solidFill>
                <a:latin typeface="Georgia"/>
              </a:rPr>
              <a:t>分钟演示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B5F58"/>
                </a:solidFill>
                <a:latin typeface="Verdana"/>
              </a:rPr>
              <a:t>一个例子，之后不再放幻灯片。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194296" y="2697479"/>
            <a:ext cx="9525" cy="1783080"/>
          </a:xfrm>
          <a:prstGeom prst="rect">
            <a:avLst/>
          </a:prstGeom>
          <a:solidFill>
            <a:srgbClr val="D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68616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200" b="1" i="0">
                <a:solidFill>
                  <a:srgbClr val="2A2320"/>
                </a:solidFill>
                <a:latin typeface="Georgia"/>
              </a:rPr>
              <a:t>40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2A2320"/>
                </a:solidFill>
                <a:latin typeface="Georgia"/>
              </a:rPr>
              <a:t>分钟练习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B5F58"/>
                </a:solidFill>
                <a:latin typeface="Verdana"/>
              </a:rPr>
              <a:t>手放在键盘上，两人一组。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821664" y="2697479"/>
            <a:ext cx="9525" cy="1783080"/>
          </a:xfrm>
          <a:prstGeom prst="rect">
            <a:avLst/>
          </a:prstGeom>
          <a:solidFill>
            <a:srgbClr val="D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95984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200" b="1" i="0">
                <a:solidFill>
                  <a:srgbClr val="2A2320"/>
                </a:solidFill>
                <a:latin typeface="Georgia"/>
              </a:rPr>
              <a:t>20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2A2320"/>
                </a:solidFill>
                <a:latin typeface="Georgia"/>
              </a:rPr>
              <a:t>分钟复盘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B5F58"/>
                </a:solidFill>
                <a:latin typeface="Verdana"/>
              </a:rPr>
              <a:t>先讲错误，再讲修法。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9033" y="2697479"/>
            <a:ext cx="9525" cy="1783080"/>
          </a:xfrm>
          <a:prstGeom prst="rect">
            <a:avLst/>
          </a:prstGeom>
          <a:solidFill>
            <a:srgbClr val="D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23353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200" b="1" i="0">
                <a:solidFill>
                  <a:srgbClr val="2A2320"/>
                </a:solidFill>
                <a:latin typeface="Georgia"/>
              </a:rPr>
              <a:t>1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200" b="1" i="0">
                <a:solidFill>
                  <a:srgbClr val="2A2320"/>
                </a:solidFill>
                <a:latin typeface="Georgia"/>
              </a:rPr>
              <a:t>页带走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B5F58"/>
                </a:solidFill>
                <a:latin typeface="Verdana"/>
              </a:rPr>
              <a:t>打印好的清单。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4892040"/>
            <a:ext cx="10509473" cy="914400"/>
          </a:xfrm>
          <a:prstGeom prst="roundRect">
            <a:avLst>
              <a:gd name="adj" fmla="val 14000"/>
            </a:avLst>
          </a:prstGeom>
          <a:solidFill>
            <a:srgbClr val="F6E4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98448" y="5111496"/>
            <a:ext cx="959507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0" i="0">
                <a:solidFill>
                  <a:srgbClr val="2A2320"/>
                </a:solidFill>
                <a:latin typeface="Verdana"/>
              </a:rPr>
              <a:t>时间分配是刻意的。练习时间一被压缩，这节课就不成立了——要砍就砍理论。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C2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200" b="1" i="0">
                <a:solidFill>
                  <a:srgbClr val="C2543C"/>
                </a:solidFill>
                <a:latin typeface="Georgia"/>
              </a:rPr>
              <a:t>02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300" b="1" i="0">
                <a:solidFill>
                  <a:srgbClr val="FFFCF7"/>
                </a:solidFill>
                <a:latin typeface="Georgia"/>
              </a:rPr>
              <a:t>练习</a:t>
            </a:r>
          </a:p>
          <a:p>
            <a:pPr>
              <a:lnSpc>
                <a:spcPct val="135000"/>
              </a:lnSpc>
            </a:pPr>
            <a:r>
              <a:rPr sz="1400" b="0" i="0">
                <a:solidFill>
                  <a:srgbClr val="FFFCF7"/>
                </a:solidFill>
                <a:latin typeface="Verdana"/>
              </a:rPr>
              <a:t>题目、限制条件与复盘。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22960"/>
            <a:ext cx="201168" cy="201168"/>
          </a:xfrm>
          <a:prstGeom prst="ellipse">
            <a:avLst/>
          </a:prstGeom>
          <a:solidFill>
            <a:srgbClr val="C2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C2543C"/>
                </a:solidFill>
                <a:latin typeface="Verdana"/>
              </a:rPr>
              <a:t>整门课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A2320"/>
                </a:solidFill>
                <a:latin typeface="Georgia"/>
              </a:rPr>
              <a:t>四个模块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611879"/>
            <a:ext cx="10509473" cy="19050"/>
          </a:xfrm>
          <a:prstGeom prst="rect">
            <a:avLst/>
          </a:prstGeom>
          <a:solidFill>
            <a:srgbClr val="D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63524" y="3543299"/>
            <a:ext cx="173736" cy="173736"/>
          </a:xfrm>
          <a:prstGeom prst="ellipse">
            <a:avLst/>
          </a:prstGeom>
          <a:solidFill>
            <a:srgbClr val="C2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C2543C"/>
                </a:solidFill>
                <a:latin typeface="Verdana"/>
              </a:rPr>
              <a:t>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2A2320"/>
                </a:solidFill>
                <a:latin typeface="Georgia"/>
              </a:rPr>
              <a:t>基础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B5F58"/>
                </a:solidFill>
                <a:latin typeface="Verdana"/>
              </a:rPr>
              <a:t>在干净的例子上把流程跑一遍。</a:t>
            </a:r>
          </a:p>
        </p:txBody>
      </p:sp>
      <p:sp>
        <p:nvSpPr>
          <p:cNvPr id="9" name="Oval 8"/>
          <p:cNvSpPr/>
          <p:nvPr/>
        </p:nvSpPr>
        <p:spPr>
          <a:xfrm>
            <a:off x="2865418" y="3543299"/>
            <a:ext cx="173736" cy="173736"/>
          </a:xfrm>
          <a:prstGeom prst="ellipse">
            <a:avLst/>
          </a:prstGeom>
          <a:solidFill>
            <a:srgbClr val="FFFCF7"/>
          </a:solidFill>
          <a:ln w="19050">
            <a:solidFill>
              <a:srgbClr val="DF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314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6B5F58"/>
                </a:solidFill>
                <a:latin typeface="Verdana"/>
              </a:rPr>
              <a:t>M2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314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2A2320"/>
                </a:solidFill>
                <a:latin typeface="Georgia"/>
              </a:rPr>
              <a:t>你的数据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B5F58"/>
                </a:solidFill>
                <a:latin typeface="Verdana"/>
              </a:rPr>
              <a:t>同一个流程，面对真实而杂乱的输入。</a:t>
            </a:r>
          </a:p>
        </p:txBody>
      </p:sp>
      <p:sp>
        <p:nvSpPr>
          <p:cNvPr id="12" name="Oval 11"/>
          <p:cNvSpPr/>
          <p:nvPr/>
        </p:nvSpPr>
        <p:spPr>
          <a:xfrm>
            <a:off x="4967313" y="3543299"/>
            <a:ext cx="173736" cy="173736"/>
          </a:xfrm>
          <a:prstGeom prst="ellipse">
            <a:avLst/>
          </a:prstGeom>
          <a:solidFill>
            <a:srgbClr val="FFFCF7"/>
          </a:solidFill>
          <a:ln w="19050">
            <a:solidFill>
              <a:srgbClr val="DF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5037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6B5F58"/>
                </a:solidFill>
                <a:latin typeface="Verdana"/>
              </a:rPr>
              <a:t>M3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5037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2A2320"/>
                </a:solidFill>
                <a:latin typeface="Georgia"/>
              </a:rPr>
              <a:t>出错时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B5F58"/>
                </a:solidFill>
                <a:latin typeface="Verdana"/>
              </a:rPr>
              <a:t>怎么诊断，以及常见的三种原因。</a:t>
            </a:r>
          </a:p>
        </p:txBody>
      </p:sp>
      <p:sp>
        <p:nvSpPr>
          <p:cNvPr id="15" name="Oval 14"/>
          <p:cNvSpPr/>
          <p:nvPr/>
        </p:nvSpPr>
        <p:spPr>
          <a:xfrm>
            <a:off x="7069208" y="3543299"/>
            <a:ext cx="173736" cy="173736"/>
          </a:xfrm>
          <a:prstGeom prst="ellipse">
            <a:avLst/>
          </a:prstGeom>
          <a:solidFill>
            <a:srgbClr val="FFFCF7"/>
          </a:solidFill>
          <a:ln w="19050">
            <a:solidFill>
              <a:srgbClr val="DF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693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6B5F58"/>
                </a:solidFill>
                <a:latin typeface="Verdana"/>
              </a:rPr>
              <a:t>M4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693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2A2320"/>
                </a:solidFill>
                <a:latin typeface="Georgia"/>
              </a:rPr>
              <a:t>教给别人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B5F58"/>
                </a:solidFill>
                <a:latin typeface="Verdana"/>
              </a:rPr>
              <a:t>你来带练习，我们在旁边看。</a:t>
            </a:r>
          </a:p>
        </p:txBody>
      </p:sp>
      <p:sp>
        <p:nvSpPr>
          <p:cNvPr id="18" name="Oval 17"/>
          <p:cNvSpPr/>
          <p:nvPr/>
        </p:nvSpPr>
        <p:spPr>
          <a:xfrm>
            <a:off x="9171102" y="3543299"/>
            <a:ext cx="173736" cy="173736"/>
          </a:xfrm>
          <a:prstGeom prst="ellipse">
            <a:avLst/>
          </a:prstGeom>
          <a:solidFill>
            <a:srgbClr val="FFFCF7"/>
          </a:solidFill>
          <a:ln w="19050">
            <a:solidFill>
              <a:srgbClr val="DF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8826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60">
                <a:solidFill>
                  <a:srgbClr val="6B5F58"/>
                </a:solidFill>
                <a:latin typeface="Verdana"/>
              </a:rPr>
              <a:t>之后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8826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2A2320"/>
                </a:solidFill>
                <a:latin typeface="Georgia"/>
              </a:rPr>
              <a:t>回练</a:t>
            </a:r>
          </a:p>
          <a:p>
            <a:pPr>
              <a:lnSpc>
                <a:spcPct val="135000"/>
              </a:lnSpc>
            </a:pPr>
            <a:r>
              <a:rPr sz="900" b="0" i="0">
                <a:solidFill>
                  <a:srgbClr val="6B5F58"/>
                </a:solidFill>
                <a:latin typeface="Verdana"/>
              </a:rPr>
              <a:t>四周后一次复盘。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22960"/>
            <a:ext cx="201168" cy="201168"/>
          </a:xfrm>
          <a:prstGeom prst="ellipse">
            <a:avLst/>
          </a:prstGeom>
          <a:solidFill>
            <a:srgbClr val="C2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C2543C"/>
                </a:solidFill>
                <a:latin typeface="Verdana"/>
              </a:rPr>
              <a:t>来之前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A2320"/>
                </a:solidFill>
                <a:latin typeface="Georgia"/>
              </a:rPr>
              <a:t>需要带什么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10509473" cy="566928"/>
          </a:xfrm>
          <a:prstGeom prst="rect">
            <a:avLst/>
          </a:prstGeom>
          <a:solidFill>
            <a:srgbClr val="2A23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CF7"/>
                </a:solidFill>
                <a:latin typeface="Verdana"/>
              </a:rPr>
              <a:t>事项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0500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CF7"/>
                </a:solidFill>
                <a:latin typeface="Verdana"/>
              </a:rPr>
              <a:t>为什么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2585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CF7"/>
                </a:solidFill>
                <a:latin typeface="Verdana"/>
              </a:rPr>
              <a:t>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4669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140">
                <a:solidFill>
                  <a:srgbClr val="FFFCF7"/>
                </a:solidFill>
                <a:latin typeface="Verdana"/>
              </a:rPr>
              <a:t>何时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127248"/>
            <a:ext cx="10509473" cy="566928"/>
          </a:xfrm>
          <a:prstGeom prst="rect">
            <a:avLst/>
          </a:prstGeom>
          <a:solidFill>
            <a:srgbClr val="F6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41248" y="3694176"/>
            <a:ext cx="10509473" cy="6350"/>
          </a:xfrm>
          <a:prstGeom prst="rect">
            <a:avLst/>
          </a:prstGeom>
          <a:solidFill>
            <a:srgbClr val="D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2320"/>
                </a:solidFill>
                <a:latin typeface="Verdana"/>
              </a:rPr>
              <a:t>一台笔记本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0500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5F58"/>
                </a:solidFill>
                <a:latin typeface="Verdana"/>
              </a:rPr>
              <a:t>练习环节要动手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2585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5F58"/>
                </a:solidFill>
                <a:latin typeface="Verdana"/>
              </a:rPr>
              <a:t>所有人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4669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5F58"/>
                </a:solidFill>
                <a:latin typeface="Verdana"/>
              </a:rPr>
              <a:t>当天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261104"/>
            <a:ext cx="10509473" cy="6350"/>
          </a:xfrm>
          <a:prstGeom prst="rect">
            <a:avLst/>
          </a:prstGeom>
          <a:solidFill>
            <a:srgbClr val="D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97280" y="3694176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2320"/>
                </a:solidFill>
                <a:latin typeface="Verdana"/>
              </a:rPr>
              <a:t>自己的数据集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0500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5F58"/>
                </a:solidFill>
                <a:latin typeface="Verdana"/>
              </a:rPr>
              <a:t>在真实输入上练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2585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5F58"/>
                </a:solidFill>
                <a:latin typeface="Verdana"/>
              </a:rPr>
              <a:t>所有人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4669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5F58"/>
                </a:solidFill>
                <a:latin typeface="Verdana"/>
              </a:rPr>
              <a:t>前一天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4261104"/>
            <a:ext cx="10509473" cy="566928"/>
          </a:xfrm>
          <a:prstGeom prst="rect">
            <a:avLst/>
          </a:prstGeom>
          <a:solidFill>
            <a:srgbClr val="F6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41248" y="4828032"/>
            <a:ext cx="10509473" cy="6350"/>
          </a:xfrm>
          <a:prstGeom prst="rect">
            <a:avLst/>
          </a:prstGeom>
          <a:solidFill>
            <a:srgbClr val="D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97280" y="4261104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2320"/>
                </a:solidFill>
                <a:latin typeface="Verdana"/>
              </a:rPr>
              <a:t>工具访问权限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0500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5F58"/>
                </a:solidFill>
                <a:latin typeface="Verdana"/>
              </a:rPr>
              <a:t>没时间现场修登录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2585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5F58"/>
                </a:solidFill>
                <a:latin typeface="Verdana"/>
              </a:rPr>
              <a:t>所有人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4669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5F58"/>
                </a:solidFill>
                <a:latin typeface="Verdana"/>
              </a:rPr>
              <a:t>前一天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5394959"/>
            <a:ext cx="10509473" cy="6350"/>
          </a:xfrm>
          <a:prstGeom prst="rect">
            <a:avLst/>
          </a:prstGeom>
          <a:solidFill>
            <a:srgbClr val="DFD3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97280" y="4828031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A2320"/>
                </a:solidFill>
                <a:latin typeface="Verdana"/>
              </a:rPr>
              <a:t>一个问题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0500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5F58"/>
                </a:solidFill>
                <a:latin typeface="Verdana"/>
              </a:rPr>
              <a:t>复盘时统一回答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2585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5F58"/>
                </a:solidFill>
                <a:latin typeface="Verdana"/>
              </a:rPr>
              <a:t>所有人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4669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B5F58"/>
                </a:solidFill>
                <a:latin typeface="Verdana"/>
              </a:rPr>
              <a:t>当天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650992"/>
            <a:ext cx="105094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B5F58"/>
                </a:solidFill>
                <a:latin typeface="Verdana"/>
              </a:rPr>
              <a:t>把表格换成你自己的数字。每一列只用一种单位。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" y="822960"/>
            <a:ext cx="201168" cy="201168"/>
          </a:xfrm>
          <a:prstGeom prst="ellipse">
            <a:avLst/>
          </a:prstGeom>
          <a:solidFill>
            <a:srgbClr val="C2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 spc="220">
                <a:solidFill>
                  <a:srgbClr val="C2543C"/>
                </a:solidFill>
                <a:latin typeface="Verdana"/>
              </a:rPr>
              <a:t>论据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 i="0">
                <a:solidFill>
                  <a:srgbClr val="2A2320"/>
                </a:solidFill>
                <a:latin typeface="Georgia"/>
              </a:rPr>
              <a:t>一张图，一个观点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560320"/>
            <a:ext cx="5464926" cy="2926080"/>
          </a:xfrm>
          <a:prstGeom prst="roundRect">
            <a:avLst>
              <a:gd name="adj" fmla="val 4375"/>
            </a:avLst>
          </a:prstGeom>
          <a:solidFill>
            <a:srgbClr val="F6EFE6"/>
          </a:solidFill>
          <a:ln w="9525">
            <a:solidFill>
              <a:srgbClr val="DFD3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4229502" y="3321100"/>
            <a:ext cx="457200" cy="457200"/>
          </a:xfrm>
          <a:prstGeom prst="ellipse">
            <a:avLst/>
          </a:prstGeom>
          <a:solidFill>
            <a:srgbClr val="D78F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>
            <a:off x="1934233" y="3668572"/>
            <a:ext cx="1371600" cy="822960"/>
          </a:xfrm>
          <a:prstGeom prst="rtTriangle">
            <a:avLst/>
          </a:prstGeom>
          <a:solidFill>
            <a:srgbClr val="C3B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Triangle 7"/>
          <p:cNvSpPr/>
          <p:nvPr/>
        </p:nvSpPr>
        <p:spPr>
          <a:xfrm>
            <a:off x="3136517" y="3348532"/>
            <a:ext cx="1737360" cy="1143000"/>
          </a:xfrm>
          <a:prstGeom prst="rtTriangle">
            <a:avLst/>
          </a:prstGeom>
          <a:solidFill>
            <a:srgbClr val="9F9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15636" y="4491532"/>
            <a:ext cx="3716149" cy="12700"/>
          </a:xfrm>
          <a:prstGeom prst="rect">
            <a:avLst/>
          </a:prstGeom>
          <a:solidFill>
            <a:srgbClr val="8A85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4700016"/>
            <a:ext cx="54649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spc="160">
                <a:solidFill>
                  <a:srgbClr val="6B5F58"/>
                </a:solidFill>
                <a:latin typeface="Verdana"/>
              </a:rPr>
              <a:t>在此放入图片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7694" y="2560320"/>
            <a:ext cx="4313027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700" b="1" i="0">
                <a:solidFill>
                  <a:srgbClr val="2A2320"/>
                </a:solidFill>
                <a:latin typeface="Georgia"/>
              </a:rPr>
              <a:t>把示范结果亮出来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200" b="0" i="0">
                <a:solidFill>
                  <a:srgbClr val="6B5F58"/>
                </a:solidFill>
                <a:latin typeface="Verdana"/>
              </a:rPr>
              <a:t>做完的练习截图能给人一个瞄准的目标。开始前挂上去，练的时候一直留着，复盘时再回头指它。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37694" y="4617720"/>
            <a:ext cx="914400" cy="31750"/>
          </a:xfrm>
          <a:prstGeom prst="rect">
            <a:avLst/>
          </a:prstGeom>
          <a:solidFill>
            <a:srgbClr val="C2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37694" y="4864608"/>
            <a:ext cx="43130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 i="0">
                <a:solidFill>
                  <a:srgbClr val="6B5F58"/>
                </a:solidFill>
                <a:latin typeface="Verdana"/>
              </a:rPr>
              <a:t>为图片写说明：它展示了什么，来源是哪里。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C2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200" b="1" i="0">
                <a:solidFill>
                  <a:srgbClr val="C2543C"/>
                </a:solidFill>
                <a:latin typeface="Georgia"/>
              </a:rPr>
              <a:t>03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300" b="1" i="0">
                <a:solidFill>
                  <a:srgbClr val="FFFCF7"/>
                </a:solidFill>
                <a:latin typeface="Georgia"/>
              </a:rPr>
              <a:t>带走</a:t>
            </a:r>
          </a:p>
          <a:p>
            <a:pPr>
              <a:lnSpc>
                <a:spcPct val="135000"/>
              </a:lnSpc>
            </a:pPr>
            <a:r>
              <a:rPr sz="1400" b="0" i="0">
                <a:solidFill>
                  <a:srgbClr val="FFFCF7"/>
                </a:solidFill>
                <a:latin typeface="Verdana"/>
              </a:rPr>
              <a:t>留下什么，以及下次见面前先试什么。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F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C2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15568" y="1463040"/>
            <a:ext cx="1097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400" b="1" i="0">
                <a:solidFill>
                  <a:srgbClr val="D17E6B"/>
                </a:solidFill>
                <a:latin typeface="Georgia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2697480"/>
            <a:ext cx="904643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2200"/>
              </a:spcAft>
            </a:pPr>
            <a:r>
              <a:rPr sz="2500" b="0" i="0">
                <a:solidFill>
                  <a:srgbClr val="2A2320"/>
                </a:solidFill>
                <a:latin typeface="Georgia"/>
              </a:rPr>
              <a:t>指南我读了两遍。真正弄懂，是我自己把它弄坏之后。</a:t>
            </a:r>
          </a:p>
          <a:p>
            <a:pPr>
              <a:lnSpc>
                <a:spcPct val="115000"/>
              </a:lnSpc>
            </a:pPr>
            <a:r>
              <a:rPr sz="1000" b="1" i="0" spc="180">
                <a:solidFill>
                  <a:srgbClr val="6B5F58"/>
                </a:solidFill>
                <a:latin typeface="Verdana"/>
              </a:rPr>
              <a:t>上一期学员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310896"/>
          </a:xfrm>
          <a:prstGeom prst="rect">
            <a:avLst/>
          </a:prstGeom>
          <a:solidFill>
            <a:srgbClr val="C2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331720"/>
            <a:ext cx="69362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4000" b="1" i="0">
                <a:solidFill>
                  <a:srgbClr val="FFFCF7"/>
                </a:solidFill>
                <a:latin typeface="Georgia"/>
              </a:rPr>
              <a:t>下次之前</a:t>
            </a:r>
          </a:p>
          <a:p>
            <a:pPr>
              <a:lnSpc>
                <a:spcPct val="140000"/>
              </a:lnSpc>
            </a:pPr>
            <a:r>
              <a:rPr sz="1400" b="0" i="0">
                <a:solidFill>
                  <a:srgbClr val="FFFCF7"/>
                </a:solidFill>
                <a:latin typeface="Verdana"/>
              </a:rPr>
              <a:t>在自己的工作上把流程跑一次。把出错的地方带来——那就是第二模块的材料。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349240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 spc="200">
                <a:solidFill>
                  <a:srgbClr val="FFFCF7"/>
                </a:solidFill>
                <a:latin typeface="Verdana"/>
              </a:rPr>
              <a:t>YOUR.NAME@EXAMPLE.COM · +86 000 0000 0000 · EXAMPLE.COM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5257800"/>
            <a:ext cx="1280160" cy="31750"/>
          </a:xfrm>
          <a:prstGeom prst="rect">
            <a:avLst/>
          </a:prstGeom>
          <a:solidFill>
            <a:srgbClr val="C2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A2320"/>
      </a:dk1>
      <a:lt1>
        <a:srgbClr val="FFFCF7"/>
      </a:lt1>
      <a:dk2>
        <a:srgbClr val="2A2320"/>
      </a:dk2>
      <a:lt2>
        <a:srgbClr val="F6EFE6"/>
      </a:lt2>
      <a:accent1>
        <a:srgbClr val="C2543C"/>
      </a:accent1>
      <a:accent2>
        <a:srgbClr val="D78F7D"/>
      </a:accent2>
      <a:accent3>
        <a:srgbClr val="2A2320"/>
      </a:accent3>
      <a:accent4>
        <a:srgbClr val="6B5F58"/>
      </a:accent4>
      <a:accent5>
        <a:srgbClr val="AAA5A1"/>
      </a:accent5>
      <a:accent6>
        <a:srgbClr val="DFD3C6"/>
      </a:accent6>
      <a:hlink>
        <a:srgbClr val="C2543C"/>
      </a:hlink>
      <a:folHlink>
        <a:srgbClr val="6B5F58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Chalk — CubeOffice template</dc:title>
  <dc:subject>Training</dc:subject>
  <dc:creator>CubeOffice</dc:creator>
  <cp:keywords>CubeOffice, template, training, zh-CN</cp:keywords>
  <dc:description>CubeOffice 原创模板。可自由使用、修改和再分发，用于个人或商业用途，无需署名。</dc:description>
  <cp:lastModifiedBy>CubeOffice</cp:lastModifiedBy>
  <cp:revision>1</cp:revision>
  <dcterms:created xsi:type="dcterms:W3CDTF">2026-01-01T00:00:00Z</dcterms:created>
  <dcterms:modified xsi:type="dcterms:W3CDTF">2026-01-01T00:00:00Z</dcterms:modified>
  <cp:category>Training</cp:category>
</cp:coreProperties>
</file>