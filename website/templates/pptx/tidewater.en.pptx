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37089" y="3108960"/>
            <a:ext cx="5486400" cy="4480560"/>
          </a:xfrm>
          <a:prstGeom prst="roundRect">
            <a:avLst>
              <a:gd name="adj" fmla="val 30612"/>
            </a:avLst>
          </a:prstGeom>
          <a:solidFill>
            <a:srgbClr val="93B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8625809" y="4114800"/>
            <a:ext cx="4754880" cy="3840480"/>
          </a:xfrm>
          <a:prstGeom prst="roundRect">
            <a:avLst>
              <a:gd name="adj" fmla="val 30952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41248" y="2084831"/>
            <a:ext cx="6766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FFFFFF"/>
                </a:solidFill>
                <a:latin typeface="Trebuchet MS"/>
              </a:rPr>
              <a:t>SALES STRATEGY · H1 2026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000" b="1" i="0">
                <a:solidFill>
                  <a:srgbClr val="FFFFFF"/>
                </a:solidFill>
                <a:latin typeface="Trebuchet MS"/>
              </a:rPr>
              <a:t>Fewer deals, better deals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Where we compete, how we qualify, and what we stop chasing.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68756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Trebuchet MS"/>
              </a:rPr>
              <a:t>YOUR TEAM · YOUR ORGANIZATION · 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The pipeline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What is really in it, at what stage.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Where we win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The pattern in the deals we close.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Where we lose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The pattern in the ones we do not.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Qualification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The bar, and who enforces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Coverage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Territories, quotas, capacity.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48" b="1" i="0">
                <a:solidFill>
                  <a:srgbClr val="0E6E7C"/>
                </a:solidFill>
                <a:latin typeface="Trebuchet MS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0333A"/>
                </a:solidFill>
                <a:latin typeface="Trebuchet MS"/>
              </a:rPr>
              <a:t>The half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Targets and the review cadence.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400" b="1" i="0">
                <a:solidFill>
                  <a:srgbClr val="0E6E7C"/>
                </a:solidFill>
                <a:latin typeface="Trebuchet MS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Diagnosis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What the pipeline data actually says.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We are not short of 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0333A"/>
                </a:solidFill>
                <a:latin typeface="Trebuchet MS"/>
              </a:rPr>
              <a:t>State the real constraint. Most teams do not lose for lack of pipeline; they lose because too much of it never qualified. Say which stage leaks, by how much, and what you believe causes it — then commit to one change rather than five.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Stage-two to stage-three is where the volume disappears.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Deals with a named economic buyer close at three times the rate.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Cycle length doubles without a written success criterion.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0E6E7C"/>
                </a:solidFill>
                <a:latin typeface="Trebuchet MS"/>
              </a:rPr>
              <a:t>—  </a:t>
            </a:r>
            <a:r>
              <a:rPr sz="1300">
                <a:solidFill>
                  <a:srgbClr val="4A6B72"/>
                </a:solidFill>
                <a:latin typeface="Trebuchet MS"/>
              </a:rPr>
              <a:t>One change this half: qualification, enforced at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THE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Three moves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3247125" cy="2788920"/>
          </a:xfrm>
          <a:prstGeom prst="roundRect">
            <a:avLst>
              <a:gd name="adj" fmla="val 5901"/>
            </a:avLst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316736" y="3108960"/>
            <a:ext cx="274320" cy="274320"/>
          </a:xfrm>
          <a:prstGeom prst="ellipse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0333A"/>
                </a:solidFill>
                <a:latin typeface="Trebuchet MS"/>
              </a:rPr>
              <a:t>Narrow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4A6B72"/>
                </a:solidFill>
                <a:latin typeface="Trebuchet MS"/>
              </a:rPr>
              <a:t>Two segments, named accounts, nothing outside the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2421" y="2560320"/>
            <a:ext cx="3247125" cy="2788920"/>
          </a:xfrm>
          <a:prstGeom prst="roundRect">
            <a:avLst>
              <a:gd name="adj" fmla="val 5901"/>
            </a:avLst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947909" y="3108960"/>
            <a:ext cx="274320" cy="274320"/>
          </a:xfrm>
          <a:prstGeom prst="ellipse">
            <a:avLst/>
          </a:prstGeom>
          <a:solidFill>
            <a:srgbClr val="86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7909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0333A"/>
                </a:solidFill>
                <a:latin typeface="Trebuchet MS"/>
              </a:rPr>
              <a:t>Qualify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4A6B72"/>
                </a:solidFill>
                <a:latin typeface="Trebuchet MS"/>
              </a:rPr>
              <a:t>No stage three without a buyer, a budget and a 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3595" y="2560320"/>
            <a:ext cx="3247125" cy="2788920"/>
          </a:xfrm>
          <a:prstGeom prst="roundRect">
            <a:avLst>
              <a:gd name="adj" fmla="val 5901"/>
            </a:avLst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79083" y="3108960"/>
            <a:ext cx="274320" cy="274320"/>
          </a:xfrm>
          <a:prstGeom prst="ellipse">
            <a:avLst/>
          </a:prstGeom>
          <a:solidFill>
            <a:srgbClr val="86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9083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0333A"/>
                </a:solidFill>
                <a:latin typeface="Trebuchet MS"/>
              </a:rPr>
              <a:t>Prove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4A6B72"/>
                </a:solidFill>
                <a:latin typeface="Trebuchet MS"/>
              </a:rPr>
              <a:t>Every deal carries one reference the buyer can call.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Where we stand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0E6E7C"/>
                </a:solidFill>
                <a:latin typeface="Trebuchet MS"/>
              </a:rPr>
              <a:t>3.1x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Coverage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Against a 4x target for the half.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0333A"/>
                </a:solidFill>
                <a:latin typeface="Trebuchet MS"/>
              </a:rPr>
              <a:t>38%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Stage-3 win rate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Up from 29% on qualified deals only.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0333A"/>
                </a:solidFill>
                <a:latin typeface="Trebuchet MS"/>
              </a:rPr>
              <a:t>71 d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Cycle length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Median, from first meeting to signature.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0333A"/>
                </a:solidFill>
                <a:latin typeface="Trebuchet MS"/>
              </a:rPr>
              <a:t>$46K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0333A"/>
                </a:solidFill>
                <a:latin typeface="Trebuchet MS"/>
              </a:rPr>
              <a:t>Average deal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Flat; mix, not discounting.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892040"/>
            <a:ext cx="10509473" cy="914400"/>
          </a:xfrm>
          <a:prstGeom prst="roundRect">
            <a:avLst>
              <a:gd name="adj" fmla="val 18000"/>
            </a:avLst>
          </a:prstGeom>
          <a:solidFill>
            <a:srgbClr val="DDE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0333A"/>
                </a:solidFill>
                <a:latin typeface="Trebuchet MS"/>
              </a:rPr>
              <a:t>Coverage is qualified pipeline over quota. Unqualified opportunities are excluded on purpose.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400" b="1" i="0">
                <a:solidFill>
                  <a:srgbClr val="0E6E7C"/>
                </a:solidFill>
                <a:latin typeface="Trebuchet MS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The play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Segment, message, motion.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THE HALF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Cadence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WK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Reset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Pipeline scrubbed against the new bar.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0E6E7C"/>
                </a:solidFill>
                <a:latin typeface="Trebuchet MS"/>
              </a:rPr>
              <a:t>WK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Retrain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One workshop, one script, one checklist.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4A6B72"/>
                </a:solidFill>
                <a:latin typeface="Trebuchet MS"/>
              </a:rPr>
              <a:t>WK 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First read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Win rate and cycle length by segment.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4A6B72"/>
                </a:solidFill>
                <a:latin typeface="Trebuchet MS"/>
              </a:rPr>
              <a:t>WK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Adjust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Territory and quota correction if needed.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4A6B72"/>
                </a:solidFill>
                <a:latin typeface="Trebuchet MS"/>
              </a:rPr>
              <a:t>WK 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0333A"/>
                </a:solidFill>
                <a:latin typeface="Trebuchet MS"/>
              </a:rPr>
              <a:t>Close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Half reviewed against the two targets.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Territories and quota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03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TERRITORY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REPS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QUOTA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North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$2.4M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3.6x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South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$1.8M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2.9x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EF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$2.0M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3.4x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C9D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0333A"/>
                </a:solidFill>
                <a:latin typeface="Trebuchet MS"/>
              </a:rPr>
              <a:t>Partner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$0.6M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6B72"/>
                </a:solidFill>
                <a:latin typeface="Trebuchet MS"/>
              </a:rPr>
              <a:t>2.1x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Replace the rows with your own figures. Keep one unit per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41248" y="841247"/>
            <a:ext cx="822960" cy="164592"/>
          </a:xfrm>
          <a:prstGeom prst="roundRect">
            <a:avLst>
              <a:gd name="adj" fmla="val 50000"/>
            </a:avLst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0E6E7C"/>
                </a:solidFill>
                <a:latin typeface="Trebuchet M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0333A"/>
                </a:solidFill>
                <a:latin typeface="Trebuchet MS"/>
              </a:rPr>
              <a:t>One image, one idea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5464926" cy="2926080"/>
          </a:xfrm>
          <a:prstGeom prst="roundRect">
            <a:avLst>
              <a:gd name="adj" fmla="val 5624"/>
            </a:avLst>
          </a:prstGeom>
          <a:solidFill>
            <a:srgbClr val="EFF6F7"/>
          </a:solidFill>
          <a:ln w="9525">
            <a:solidFill>
              <a:srgbClr val="C9D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62A1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CC6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3A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C8F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4A6B72"/>
                </a:solidFill>
                <a:latin typeface="Trebuchet MS"/>
              </a:rPr>
              <a:t>DROP AN IMAGE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0333A"/>
                </a:solidFill>
                <a:latin typeface="Trebuchet MS"/>
              </a:rPr>
              <a:t>Show the funnel, not the forecast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4A6B72"/>
                </a:solidFill>
                <a:latin typeface="Trebuchet MS"/>
              </a:rPr>
              <a:t>A stage-by-stage conversion chart tells the team where to work. A forecast number tells them how nervous to be. Put the first one on the wall and keep the second in the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4A6B72"/>
                </a:solidFill>
                <a:latin typeface="Trebuchet MS"/>
              </a:rPr>
              <a:t>Caption the image: what it shows and where it came from.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400" b="1" i="0">
                <a:solidFill>
                  <a:srgbClr val="0E6E7C"/>
                </a:solidFill>
                <a:latin typeface="Trebuchet MS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400" b="1" i="0">
                <a:solidFill>
                  <a:srgbClr val="FFFFFF"/>
                </a:solidFill>
                <a:latin typeface="Trebuchet MS"/>
              </a:rPr>
              <a:t>Execution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Coverage, quota and cadence.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3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4A929D"/>
                </a:solidFill>
                <a:latin typeface="Trebuchet MS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600" b="0" i="0">
                <a:solidFill>
                  <a:srgbClr val="10333A"/>
                </a:solidFill>
                <a:latin typeface="Trebuchet MS"/>
              </a:rPr>
              <a:t>The deals we lost were the ones we should never have worked.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4A6B72"/>
                </a:solidFill>
                <a:latin typeface="Trebuchet MS"/>
              </a:rPr>
              <a:t>REGIONAL LEAD, QUARTERLY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200" b="1" i="0">
                <a:solidFill>
                  <a:srgbClr val="FFFFFF"/>
                </a:solidFill>
                <a:latin typeface="Trebuchet MS"/>
              </a:rPr>
              <a:t>What we are asking for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Two headcount, one enablement week, and permission to disqualify without escalation.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Trebuchet MS"/>
              </a:rPr>
              <a:t>YOUR.NAME@EXAMPLE.COM · +00 000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0E6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0333A"/>
      </a:dk1>
      <a:lt1>
        <a:srgbClr val="FFFFFF"/>
      </a:lt1>
      <a:dk2>
        <a:srgbClr val="0B2A30"/>
      </a:dk2>
      <a:lt2>
        <a:srgbClr val="EFF6F7"/>
      </a:lt2>
      <a:accent1>
        <a:srgbClr val="0E6E7C"/>
      </a:accent1>
      <a:accent2>
        <a:srgbClr val="62A1AA"/>
      </a:accent2>
      <a:accent3>
        <a:srgbClr val="10333A"/>
      </a:accent3>
      <a:accent4>
        <a:srgbClr val="4A6B72"/>
      </a:accent4>
      <a:accent5>
        <a:srgbClr val="9FADB0"/>
      </a:accent5>
      <a:accent6>
        <a:srgbClr val="C9DCDF"/>
      </a:accent6>
      <a:hlink>
        <a:srgbClr val="0E6E7C"/>
      </a:hlink>
      <a:folHlink>
        <a:srgbClr val="4A6B72"/>
      </a:folHlink>
    </a:clrScheme>
    <a:fontScheme name="Office">
      <a:maj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Tidewater — CubeOffice template</dc:title>
  <dc:subject>Sales strategy</dc:subject>
  <dc:creator>CubeOffice</dc:creator>
  <cp:keywords>CubeOffice, template, sales strategy, en</cp:keywords>
  <dc:description>CubeOffice original template. Free to use, edit and redistribute, with or without attribution, for personal and commercial work.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Sales strategy</cp:category>
</cp:coreProperties>
</file>