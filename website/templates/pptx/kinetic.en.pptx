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idx="1"/>
          </p:nvPr>
        </p:nvSpPr>
        <p:spPr>
          <a:xfrm>
            <a:off x="812800" y="0"/>
            <a:ext cx="14630400" cy="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5554133" y="0"/>
            <a:ext cx="5147733" cy="0"/>
          </a:xfrm>
        </p:spPr>
        <p:txBody>
          <a:bodyPr/>
          <a:lstStyle/>
          <a:p>
            <a:endParaRPr lang="en-US"/>
          </a:p>
        </p:txBody>
      </p:sp>
      <p:sp>
        <p:nvSpPr>
          <p:cNvPr id="9" name="Slide Number Placeholder 8"/>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5554133" y="0"/>
            <a:ext cx="5147733" cy="0"/>
          </a:xfrm>
        </p:spPr>
        <p:txBody>
          <a:bodyPr/>
          <a:lstStyle/>
          <a:p>
            <a:endParaRPr lang="en-US"/>
          </a:p>
        </p:txBody>
      </p:sp>
      <p:sp>
        <p:nvSpPr>
          <p:cNvPr id="5" name="Slide Number Placeholder 4"/>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5554133" y="0"/>
            <a:ext cx="5147733" cy="0"/>
          </a:xfrm>
        </p:spPr>
        <p:txBody>
          <a:bodyPr/>
          <a:lstStyle/>
          <a:p>
            <a:endParaRPr lang="en-US"/>
          </a:p>
        </p:txBody>
      </p:sp>
      <p:sp>
        <p:nvSpPr>
          <p:cNvPr id="4" name="Slide Number Placeholder 3"/>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5554133" y="0"/>
            <a:ext cx="5147733" cy="0"/>
          </a:xfrm>
        </p:spPr>
        <p:txBody>
          <a:bodyPr/>
          <a:lstStyle/>
          <a:p>
            <a:endParaRPr lang="en-US"/>
          </a:p>
        </p:txBody>
      </p:sp>
      <p:sp>
        <p:nvSpPr>
          <p:cNvPr id="7" name="Slide Number Placeholder 6"/>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12800" y="0"/>
            <a:ext cx="14630400" cy="0"/>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0"/>
            <a:ext cx="14630400" cy="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812800" y="0"/>
            <a:ext cx="3793066" cy="0"/>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5554133" y="0"/>
            <a:ext cx="5147733" cy="0"/>
          </a:xfrm>
        </p:spPr>
        <p:txBody>
          <a:bodyPr/>
          <a:lstStyle/>
          <a:p>
            <a:endParaRPr lang="en-US"/>
          </a:p>
        </p:txBody>
      </p:sp>
      <p:sp>
        <p:nvSpPr>
          <p:cNvPr id="6" name="Slide Number Placeholder 5"/>
          <p:cNvSpPr>
            <a:spLocks noGrp="1"/>
          </p:cNvSpPr>
          <p:nvPr>
            <p:ph type="sldNum" sz="quarter" idx="12"/>
          </p:nvPr>
        </p:nvSpPr>
        <p:spPr>
          <a:xfrm>
            <a:off x="11650133" y="0"/>
            <a:ext cx="3793066" cy="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417"/>
        </a:solidFill>
        <a:effectLst/>
      </p:bgPr>
    </p:bg>
    <p:spTree>
      <p:nvGrpSpPr>
        <p:cNvPr id="1" name=""/>
        <p:cNvGrpSpPr/>
        <p:nvPr/>
      </p:nvGrpSpPr>
      <p:grpSpPr/>
      <p:sp>
        <p:nvSpPr>
          <p:cNvPr id="2" name="Parallelogram 1"/>
          <p:cNvSpPr/>
          <p:nvPr/>
        </p:nvSpPr>
        <p:spPr>
          <a:xfrm>
            <a:off x="8077169" y="-548640"/>
            <a:ext cx="2194560" cy="7955279"/>
          </a:xfrm>
          <a:prstGeom prst="parallelogram">
            <a:avLst>
              <a:gd name="adj" fmla="val 34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rallelogram 2"/>
          <p:cNvSpPr/>
          <p:nvPr/>
        </p:nvSpPr>
        <p:spPr>
          <a:xfrm>
            <a:off x="9311609" y="-548640"/>
            <a:ext cx="2194560" cy="7955279"/>
          </a:xfrm>
          <a:prstGeom prst="parallelogram">
            <a:avLst>
              <a:gd name="adj" fmla="val 34000"/>
            </a:avLst>
          </a:prstGeom>
          <a:solidFill>
            <a:srgbClr val="7BB6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arallelogram 3"/>
          <p:cNvSpPr/>
          <p:nvPr/>
        </p:nvSpPr>
        <p:spPr>
          <a:xfrm>
            <a:off x="10546049" y="-548640"/>
            <a:ext cx="2194560" cy="7955279"/>
          </a:xfrm>
          <a:prstGeom prst="parallelogram">
            <a:avLst>
              <a:gd name="adj" fmla="val 34000"/>
            </a:avLst>
          </a:prstGeom>
          <a:solidFill>
            <a:srgbClr val="BCDA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2084831"/>
            <a:ext cx="6766560" cy="2834640"/>
          </a:xfrm>
          <a:prstGeom prst="rect">
            <a:avLst/>
          </a:prstGeom>
          <a:noFill/>
        </p:spPr>
        <p:txBody>
          <a:bodyPr wrap="square" anchor="t" lIns="0" rIns="0" tIns="0" bIns="0">
            <a:spAutoFit/>
          </a:bodyPr>
          <a:lstStyle/>
          <a:p>
            <a:pPr algn="l">
              <a:lnSpc>
                <a:spcPct val="115000"/>
              </a:lnSpc>
              <a:spcAft>
                <a:spcPts val="1400"/>
              </a:spcAft>
            </a:pPr>
            <a:r>
              <a:rPr sz="950" b="1" i="0" spc="240">
                <a:solidFill>
                  <a:srgbClr val="FFFFFF"/>
                </a:solidFill>
                <a:latin typeface="Arial"/>
              </a:rPr>
              <a:t>LAUNCH · VERSION 2.0</a:t>
            </a:r>
          </a:p>
          <a:p>
            <a:pPr>
              <a:lnSpc>
                <a:spcPct val="102000"/>
              </a:lnSpc>
              <a:spcAft>
                <a:spcPts val="1600"/>
              </a:spcAft>
            </a:pPr>
            <a:r>
              <a:rPr sz="5800" b="1" i="0" spc="-60">
                <a:solidFill>
                  <a:srgbClr val="FFFFFF"/>
                </a:solidFill>
                <a:latin typeface="Arial"/>
              </a:rPr>
              <a:t>SHIP IT LOUD</a:t>
            </a:r>
          </a:p>
          <a:p>
            <a:pPr>
              <a:lnSpc>
                <a:spcPct val="135000"/>
              </a:lnSpc>
            </a:pPr>
            <a:r>
              <a:rPr sz="1500" b="0" i="0">
                <a:solidFill>
                  <a:srgbClr val="FFFFFF"/>
                </a:solidFill>
                <a:latin typeface="Arial"/>
              </a:rPr>
              <a:t>What changed, who it is for, and how we tell them on day one.</a:t>
            </a:r>
          </a:p>
        </p:txBody>
      </p:sp>
      <p:sp>
        <p:nvSpPr>
          <p:cNvPr id="6" name="TextBox 5"/>
          <p:cNvSpPr txBox="1"/>
          <p:nvPr/>
        </p:nvSpPr>
        <p:spPr>
          <a:xfrm>
            <a:off x="841248" y="5687568"/>
            <a:ext cx="6766560" cy="457200"/>
          </a:xfrm>
          <a:prstGeom prst="rect">
            <a:avLst/>
          </a:prstGeom>
          <a:noFill/>
        </p:spPr>
        <p:txBody>
          <a:bodyPr wrap="square" anchor="t" lIns="0" rIns="0" tIns="0" bIns="0">
            <a:spAutoFit/>
          </a:bodyPr>
          <a:lstStyle/>
          <a:p>
            <a:pPr algn="l">
              <a:lnSpc>
                <a:spcPct val="115000"/>
              </a:lnSpc>
            </a:pPr>
            <a:r>
              <a:rPr sz="950" b="0" i="0" spc="180">
                <a:solidFill>
                  <a:srgbClr val="FFFFFF"/>
                </a:solidFill>
                <a:latin typeface="Arial"/>
              </a:rPr>
              <a:t>YOUR TEAM · YOUR ORGANIZATION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WHAT WE WILL COVER</a:t>
            </a:r>
          </a:p>
        </p:txBody>
      </p:sp>
      <p:sp>
        <p:nvSpPr>
          <p:cNvPr id="4" name="TextBox 3"/>
          <p:cNvSpPr txBox="1"/>
          <p:nvPr/>
        </p:nvSpPr>
        <p:spPr>
          <a:xfrm>
            <a:off x="841248" y="2176272"/>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01</a:t>
            </a:r>
          </a:p>
        </p:txBody>
      </p:sp>
      <p:sp>
        <p:nvSpPr>
          <p:cNvPr id="5" name="Rectangle 4"/>
          <p:cNvSpPr/>
          <p:nvPr/>
        </p:nvSpPr>
        <p:spPr>
          <a:xfrm>
            <a:off x="841248" y="3035808"/>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5648" y="2139696"/>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The release</a:t>
            </a:r>
          </a:p>
          <a:p>
            <a:pPr>
              <a:lnSpc>
                <a:spcPct val="130000"/>
              </a:lnSpc>
            </a:pPr>
            <a:r>
              <a:rPr sz="950" b="0" i="0">
                <a:solidFill>
                  <a:srgbClr val="565C63"/>
                </a:solidFill>
                <a:latin typeface="Arial"/>
              </a:rPr>
              <a:t>What is actually in the box.</a:t>
            </a:r>
          </a:p>
        </p:txBody>
      </p:sp>
      <p:sp>
        <p:nvSpPr>
          <p:cNvPr id="7" name="TextBox 6"/>
          <p:cNvSpPr txBox="1"/>
          <p:nvPr/>
        </p:nvSpPr>
        <p:spPr>
          <a:xfrm>
            <a:off x="841248" y="3383280"/>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02</a:t>
            </a:r>
          </a:p>
        </p:txBody>
      </p:sp>
      <p:sp>
        <p:nvSpPr>
          <p:cNvPr id="8" name="Rectangle 7"/>
          <p:cNvSpPr/>
          <p:nvPr/>
        </p:nvSpPr>
        <p:spPr>
          <a:xfrm>
            <a:off x="841248" y="4242816"/>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755648" y="3346704"/>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Who it is for</a:t>
            </a:r>
          </a:p>
          <a:p>
            <a:pPr>
              <a:lnSpc>
                <a:spcPct val="130000"/>
              </a:lnSpc>
            </a:pPr>
            <a:r>
              <a:rPr sz="950" b="0" i="0">
                <a:solidFill>
                  <a:srgbClr val="565C63"/>
                </a:solidFill>
                <a:latin typeface="Arial"/>
              </a:rPr>
              <a:t>The user whose day this changes.</a:t>
            </a:r>
          </a:p>
        </p:txBody>
      </p:sp>
      <p:sp>
        <p:nvSpPr>
          <p:cNvPr id="10" name="TextBox 9"/>
          <p:cNvSpPr txBox="1"/>
          <p:nvPr/>
        </p:nvSpPr>
        <p:spPr>
          <a:xfrm>
            <a:off x="841248" y="4590288"/>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03</a:t>
            </a:r>
          </a:p>
        </p:txBody>
      </p:sp>
      <p:sp>
        <p:nvSpPr>
          <p:cNvPr id="11" name="Rectangle 10"/>
          <p:cNvSpPr/>
          <p:nvPr/>
        </p:nvSpPr>
        <p:spPr>
          <a:xfrm>
            <a:off x="841248" y="5449823"/>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755648" y="4553712"/>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The headline</a:t>
            </a:r>
          </a:p>
          <a:p>
            <a:pPr>
              <a:lnSpc>
                <a:spcPct val="130000"/>
              </a:lnSpc>
            </a:pPr>
            <a:r>
              <a:rPr sz="950" b="0" i="0">
                <a:solidFill>
                  <a:srgbClr val="565C63"/>
                </a:solidFill>
                <a:latin typeface="Arial"/>
              </a:rPr>
              <a:t>One sentence, no adjectives.</a:t>
            </a:r>
          </a:p>
        </p:txBody>
      </p:sp>
      <p:sp>
        <p:nvSpPr>
          <p:cNvPr id="13" name="TextBox 12"/>
          <p:cNvSpPr txBox="1"/>
          <p:nvPr/>
        </p:nvSpPr>
        <p:spPr>
          <a:xfrm>
            <a:off x="6507464" y="2176272"/>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04</a:t>
            </a:r>
          </a:p>
        </p:txBody>
      </p:sp>
      <p:sp>
        <p:nvSpPr>
          <p:cNvPr id="14" name="Rectangle 13"/>
          <p:cNvSpPr/>
          <p:nvPr/>
        </p:nvSpPr>
        <p:spPr>
          <a:xfrm>
            <a:off x="6507464" y="3035808"/>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421864" y="2139696"/>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Proof</a:t>
            </a:r>
          </a:p>
          <a:p>
            <a:pPr>
              <a:lnSpc>
                <a:spcPct val="130000"/>
              </a:lnSpc>
            </a:pPr>
            <a:r>
              <a:rPr sz="950" b="0" i="0">
                <a:solidFill>
                  <a:srgbClr val="565C63"/>
                </a:solidFill>
                <a:latin typeface="Arial"/>
              </a:rPr>
              <a:t>The demo and the numbers behind it.</a:t>
            </a:r>
          </a:p>
        </p:txBody>
      </p:sp>
      <p:sp>
        <p:nvSpPr>
          <p:cNvPr id="16" name="TextBox 15"/>
          <p:cNvSpPr txBox="1"/>
          <p:nvPr/>
        </p:nvSpPr>
        <p:spPr>
          <a:xfrm>
            <a:off x="6507464" y="3383280"/>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05</a:t>
            </a:r>
          </a:p>
        </p:txBody>
      </p:sp>
      <p:sp>
        <p:nvSpPr>
          <p:cNvPr id="17" name="Rectangle 16"/>
          <p:cNvSpPr/>
          <p:nvPr/>
        </p:nvSpPr>
        <p:spPr>
          <a:xfrm>
            <a:off x="6507464" y="4242816"/>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21864" y="3346704"/>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Launch week</a:t>
            </a:r>
          </a:p>
          <a:p>
            <a:pPr>
              <a:lnSpc>
                <a:spcPct val="130000"/>
              </a:lnSpc>
            </a:pPr>
            <a:r>
              <a:rPr sz="950" b="0" i="0">
                <a:solidFill>
                  <a:srgbClr val="565C63"/>
                </a:solidFill>
                <a:latin typeface="Arial"/>
              </a:rPr>
              <a:t>Sequence, owners, dependencies.</a:t>
            </a:r>
          </a:p>
        </p:txBody>
      </p:sp>
      <p:sp>
        <p:nvSpPr>
          <p:cNvPr id="19" name="TextBox 18"/>
          <p:cNvSpPr txBox="1"/>
          <p:nvPr/>
        </p:nvSpPr>
        <p:spPr>
          <a:xfrm>
            <a:off x="6507464" y="4590288"/>
            <a:ext cx="777240" cy="731520"/>
          </a:xfrm>
          <a:prstGeom prst="rect">
            <a:avLst/>
          </a:prstGeom>
          <a:noFill/>
        </p:spPr>
        <p:txBody>
          <a:bodyPr wrap="square" anchor="t" lIns="0" rIns="0" tIns="0" bIns="0">
            <a:spAutoFit/>
          </a:bodyPr>
          <a:lstStyle/>
          <a:p>
            <a:pPr algn="l">
              <a:lnSpc>
                <a:spcPct val="115000"/>
              </a:lnSpc>
            </a:pPr>
            <a:r>
              <a:rPr sz="4368" b="1" i="0">
                <a:solidFill>
                  <a:srgbClr val="0F7B4F"/>
                </a:solidFill>
                <a:latin typeface="Arial"/>
              </a:rPr>
              <a:t>06</a:t>
            </a:r>
          </a:p>
        </p:txBody>
      </p:sp>
      <p:sp>
        <p:nvSpPr>
          <p:cNvPr id="20" name="Rectangle 19"/>
          <p:cNvSpPr/>
          <p:nvPr/>
        </p:nvSpPr>
        <p:spPr>
          <a:xfrm>
            <a:off x="6507464" y="5449823"/>
            <a:ext cx="4843256" cy="9525"/>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421864" y="4553712"/>
            <a:ext cx="3928856" cy="822960"/>
          </a:xfrm>
          <a:prstGeom prst="rect">
            <a:avLst/>
          </a:prstGeom>
          <a:noFill/>
        </p:spPr>
        <p:txBody>
          <a:bodyPr wrap="square" anchor="t" lIns="0" rIns="0" tIns="0" bIns="0">
            <a:spAutoFit/>
          </a:bodyPr>
          <a:lstStyle/>
          <a:p>
            <a:pPr algn="l">
              <a:lnSpc>
                <a:spcPct val="115000"/>
              </a:lnSpc>
              <a:spcAft>
                <a:spcPts val="400"/>
              </a:spcAft>
            </a:pPr>
            <a:r>
              <a:rPr sz="1500" b="1" i="0">
                <a:solidFill>
                  <a:srgbClr val="111417"/>
                </a:solidFill>
                <a:latin typeface="Arial"/>
              </a:rPr>
              <a:t>After launch</a:t>
            </a:r>
          </a:p>
          <a:p>
            <a:pPr>
              <a:lnSpc>
                <a:spcPct val="130000"/>
              </a:lnSpc>
            </a:pPr>
            <a:r>
              <a:rPr sz="950" b="0" i="0">
                <a:solidFill>
                  <a:srgbClr val="565C63"/>
                </a:solidFill>
                <a:latin typeface="Arial"/>
              </a:rPr>
              <a:t>What we watch, and what we do about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11417"/>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8400" b="1" i="0">
                <a:solidFill>
                  <a:srgbClr val="0F7B4F"/>
                </a:solidFill>
                <a:latin typeface="Arial"/>
              </a:rPr>
              <a:t>01</a:t>
            </a:r>
          </a:p>
          <a:p>
            <a:pPr>
              <a:lnSpc>
                <a:spcPct val="115000"/>
              </a:lnSpc>
              <a:spcAft>
                <a:spcPts val="1200"/>
              </a:spcAft>
            </a:pPr>
            <a:r>
              <a:rPr sz="3700" b="1" i="0" spc="-60">
                <a:solidFill>
                  <a:srgbClr val="FFFFFF"/>
                </a:solidFill>
                <a:latin typeface="Arial"/>
              </a:rPr>
              <a:t>THE RELEASE</a:t>
            </a:r>
          </a:p>
          <a:p>
            <a:pPr>
              <a:lnSpc>
                <a:spcPct val="135000"/>
              </a:lnSpc>
            </a:pPr>
            <a:r>
              <a:rPr sz="1500" b="0" i="0">
                <a:solidFill>
                  <a:srgbClr val="FFFFFF"/>
                </a:solidFill>
                <a:latin typeface="Arial"/>
              </a:rPr>
              <a:t>Everything shipping, and everything deliberately held 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POSITIONING</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ONE SENTENCE, NO ADJECTIVES</a:t>
            </a:r>
          </a:p>
        </p:txBody>
      </p:sp>
      <p:sp>
        <p:nvSpPr>
          <p:cNvPr id="5" name="TextBox 4"/>
          <p:cNvSpPr txBox="1"/>
          <p:nvPr/>
        </p:nvSpPr>
        <p:spPr>
          <a:xfrm>
            <a:off x="841248" y="2560320"/>
            <a:ext cx="4834357" cy="2743200"/>
          </a:xfrm>
          <a:prstGeom prst="rect">
            <a:avLst/>
          </a:prstGeom>
          <a:noFill/>
        </p:spPr>
        <p:txBody>
          <a:bodyPr wrap="square" anchor="t" lIns="0" rIns="0" tIns="0" bIns="0">
            <a:spAutoFit/>
          </a:bodyPr>
          <a:lstStyle/>
          <a:p>
            <a:pPr algn="l">
              <a:lnSpc>
                <a:spcPct val="142000"/>
              </a:lnSpc>
            </a:pPr>
            <a:r>
              <a:rPr sz="1500" b="0" i="0">
                <a:solidFill>
                  <a:srgbClr val="111417"/>
                </a:solidFill>
                <a:latin typeface="Arial"/>
              </a:rPr>
              <a:t>Write the headline you want repeated back to you. It should name the user, the job and the change — and survive being read out loud. If it needs a second sentence to make sense, it is not finished.</a:t>
            </a:r>
          </a:p>
        </p:txBody>
      </p:sp>
      <p:sp>
        <p:nvSpPr>
          <p:cNvPr id="6" name="Rectangle 5"/>
          <p:cNvSpPr/>
          <p:nvPr/>
        </p:nvSpPr>
        <p:spPr>
          <a:xfrm>
            <a:off x="5995645" y="2615184"/>
            <a:ext cx="9525" cy="260604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407125" y="2560320"/>
            <a:ext cx="4943595" cy="2743200"/>
          </a:xfrm>
          <a:prstGeom prst="rect">
            <a:avLst/>
          </a:prstGeom>
          <a:noFill/>
        </p:spPr>
        <p:txBody>
          <a:bodyPr wrap="square" anchor="t" lIns="0" rIns="0" tIns="0" bIns="0">
            <a:spAutoFit/>
          </a:bodyPr>
          <a:lstStyle/>
          <a:p>
            <a:pPr algn="l">
              <a:lnSpc>
                <a:spcPct val="130000"/>
              </a:lnSpc>
            </a:pPr>
            <a:r>
              <a:rPr sz="1300" b="1">
                <a:solidFill>
                  <a:srgbClr val="0F7B4F"/>
                </a:solidFill>
                <a:latin typeface="Arial"/>
              </a:rPr>
              <a:t>—  </a:t>
            </a:r>
            <a:r>
              <a:rPr sz="1300">
                <a:solidFill>
                  <a:srgbClr val="565C63"/>
                </a:solidFill>
                <a:latin typeface="Arial"/>
              </a:rPr>
              <a:t>For whom: the specific user, not the market.</a:t>
            </a:r>
          </a:p>
          <a:p>
            <a:pPr>
              <a:lnSpc>
                <a:spcPct val="130000"/>
              </a:lnSpc>
              <a:spcBef>
                <a:spcPts val="1100"/>
              </a:spcBef>
            </a:pPr>
            <a:r>
              <a:rPr sz="1300" b="1">
                <a:solidFill>
                  <a:srgbClr val="0F7B4F"/>
                </a:solidFill>
                <a:latin typeface="Arial"/>
              </a:rPr>
              <a:t>—  </a:t>
            </a:r>
            <a:r>
              <a:rPr sz="1300">
                <a:solidFill>
                  <a:srgbClr val="565C63"/>
                </a:solidFill>
                <a:latin typeface="Arial"/>
              </a:rPr>
              <a:t>Instead of what: the thing they stop doing.</a:t>
            </a:r>
          </a:p>
          <a:p>
            <a:pPr>
              <a:lnSpc>
                <a:spcPct val="130000"/>
              </a:lnSpc>
              <a:spcBef>
                <a:spcPts val="1100"/>
              </a:spcBef>
            </a:pPr>
            <a:r>
              <a:rPr sz="1300" b="1">
                <a:solidFill>
                  <a:srgbClr val="0F7B4F"/>
                </a:solidFill>
                <a:latin typeface="Arial"/>
              </a:rPr>
              <a:t>—  </a:t>
            </a:r>
            <a:r>
              <a:rPr sz="1300">
                <a:solidFill>
                  <a:srgbClr val="565C63"/>
                </a:solidFill>
                <a:latin typeface="Arial"/>
              </a:rPr>
              <a:t>So that: the outcome they can measure by Friday.</a:t>
            </a:r>
          </a:p>
          <a:p>
            <a:pPr>
              <a:lnSpc>
                <a:spcPct val="130000"/>
              </a:lnSpc>
              <a:spcBef>
                <a:spcPts val="1100"/>
              </a:spcBef>
            </a:pPr>
            <a:r>
              <a:rPr sz="1300" b="1">
                <a:solidFill>
                  <a:srgbClr val="0F7B4F"/>
                </a:solidFill>
                <a:latin typeface="Arial"/>
              </a:rPr>
              <a:t>—  </a:t>
            </a:r>
            <a:r>
              <a:rPr sz="1300">
                <a:solidFill>
                  <a:srgbClr val="565C63"/>
                </a:solidFill>
                <a:latin typeface="Arial"/>
              </a:rPr>
              <a:t>Proof: the one number or demo that settles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WHAT SHIPPED</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THREE THINGS THAT MATTER</a:t>
            </a:r>
          </a:p>
        </p:txBody>
      </p:sp>
      <p:sp>
        <p:nvSpPr>
          <p:cNvPr id="5" name="Rectangle 4"/>
          <p:cNvSpPr/>
          <p:nvPr/>
        </p:nvSpPr>
        <p:spPr>
          <a:xfrm>
            <a:off x="841248" y="2560320"/>
            <a:ext cx="3247125" cy="2788920"/>
          </a:xfrm>
          <a:prstGeom prst="rect">
            <a:avLst/>
          </a:prstGeom>
          <a:solidFill>
            <a:srgbClr val="F2F3F4"/>
          </a:solidFill>
          <a:ln w="9525">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841248"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841248" y="2560320"/>
            <a:ext cx="3247125" cy="50292"/>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16736" y="3218687"/>
            <a:ext cx="2296149" cy="1325879"/>
          </a:xfrm>
          <a:prstGeom prst="rect">
            <a:avLst/>
          </a:prstGeom>
          <a:noFill/>
        </p:spPr>
        <p:txBody>
          <a:bodyPr wrap="square" anchor="t" lIns="0" rIns="0" tIns="0" bIns="0">
            <a:spAutoFit/>
          </a:bodyPr>
          <a:lstStyle/>
          <a:p>
            <a:pPr algn="l">
              <a:lnSpc>
                <a:spcPct val="115000"/>
              </a:lnSpc>
              <a:spcAft>
                <a:spcPts val="1000"/>
              </a:spcAft>
            </a:pPr>
            <a:r>
              <a:rPr sz="950" b="1" i="0" spc="160">
                <a:solidFill>
                  <a:srgbClr val="0F7B4F"/>
                </a:solidFill>
                <a:latin typeface="Arial"/>
              </a:rPr>
              <a:t>01</a:t>
            </a:r>
          </a:p>
          <a:p>
            <a:pPr>
              <a:lnSpc>
                <a:spcPct val="115000"/>
              </a:lnSpc>
              <a:spcAft>
                <a:spcPts val="800"/>
              </a:spcAft>
            </a:pPr>
            <a:r>
              <a:rPr sz="1600" b="1" i="0">
                <a:solidFill>
                  <a:srgbClr val="111417"/>
                </a:solidFill>
                <a:latin typeface="Arial"/>
              </a:rPr>
              <a:t>Faster</a:t>
            </a:r>
          </a:p>
          <a:p>
            <a:pPr>
              <a:lnSpc>
                <a:spcPct val="140000"/>
              </a:lnSpc>
            </a:pPr>
            <a:r>
              <a:rPr sz="1000" b="0" i="0">
                <a:solidFill>
                  <a:srgbClr val="565C63"/>
                </a:solidFill>
                <a:latin typeface="Arial"/>
              </a:rPr>
              <a:t>The path that used to take six steps now takes two.</a:t>
            </a:r>
          </a:p>
        </p:txBody>
      </p:sp>
      <p:sp>
        <p:nvSpPr>
          <p:cNvPr id="9" name="Rectangle 8"/>
          <p:cNvSpPr/>
          <p:nvPr/>
        </p:nvSpPr>
        <p:spPr>
          <a:xfrm>
            <a:off x="4472421" y="2560320"/>
            <a:ext cx="3247125" cy="2788920"/>
          </a:xfrm>
          <a:prstGeom prst="rect">
            <a:avLst/>
          </a:prstGeom>
          <a:solidFill>
            <a:srgbClr val="F2F3F4"/>
          </a:solidFill>
          <a:ln w="9525">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4472421"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4472421" y="2560320"/>
            <a:ext cx="3247125" cy="50292"/>
          </a:xfrm>
          <a:prstGeom prst="rect">
            <a:avLst/>
          </a:prstGeom>
          <a:solidFill>
            <a:srgbClr val="93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947909" y="3218687"/>
            <a:ext cx="2296149" cy="1325879"/>
          </a:xfrm>
          <a:prstGeom prst="rect">
            <a:avLst/>
          </a:prstGeom>
          <a:noFill/>
        </p:spPr>
        <p:txBody>
          <a:bodyPr wrap="square" anchor="t" lIns="0" rIns="0" tIns="0" bIns="0">
            <a:spAutoFit/>
          </a:bodyPr>
          <a:lstStyle/>
          <a:p>
            <a:pPr algn="l">
              <a:lnSpc>
                <a:spcPct val="115000"/>
              </a:lnSpc>
              <a:spcAft>
                <a:spcPts val="1000"/>
              </a:spcAft>
            </a:pPr>
            <a:r>
              <a:rPr sz="950" b="1" i="0" spc="160">
                <a:solidFill>
                  <a:srgbClr val="0F7B4F"/>
                </a:solidFill>
                <a:latin typeface="Arial"/>
              </a:rPr>
              <a:t>02</a:t>
            </a:r>
          </a:p>
          <a:p>
            <a:pPr>
              <a:lnSpc>
                <a:spcPct val="115000"/>
              </a:lnSpc>
              <a:spcAft>
                <a:spcPts val="800"/>
              </a:spcAft>
            </a:pPr>
            <a:r>
              <a:rPr sz="1600" b="1" i="0">
                <a:solidFill>
                  <a:srgbClr val="111417"/>
                </a:solidFill>
                <a:latin typeface="Arial"/>
              </a:rPr>
              <a:t>Clearer</a:t>
            </a:r>
          </a:p>
          <a:p>
            <a:pPr>
              <a:lnSpc>
                <a:spcPct val="140000"/>
              </a:lnSpc>
            </a:pPr>
            <a:r>
              <a:rPr sz="1000" b="0" i="0">
                <a:solidFill>
                  <a:srgbClr val="565C63"/>
                </a:solidFill>
                <a:latin typeface="Arial"/>
              </a:rPr>
              <a:t>One place to see status, with no refresh.</a:t>
            </a:r>
          </a:p>
        </p:txBody>
      </p:sp>
      <p:sp>
        <p:nvSpPr>
          <p:cNvPr id="13" name="Rectangle 12"/>
          <p:cNvSpPr/>
          <p:nvPr/>
        </p:nvSpPr>
        <p:spPr>
          <a:xfrm>
            <a:off x="8103595" y="2560320"/>
            <a:ext cx="3247125" cy="2788920"/>
          </a:xfrm>
          <a:prstGeom prst="rect">
            <a:avLst/>
          </a:prstGeom>
          <a:solidFill>
            <a:srgbClr val="F2F3F4"/>
          </a:solidFill>
          <a:ln w="9525">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8103595" y="2560320"/>
            <a:ext cx="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8103595" y="2560320"/>
            <a:ext cx="3247125" cy="50292"/>
          </a:xfrm>
          <a:prstGeom prst="rect">
            <a:avLst/>
          </a:prstGeom>
          <a:solidFill>
            <a:srgbClr val="93C4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579083" y="3218687"/>
            <a:ext cx="2296149" cy="1325879"/>
          </a:xfrm>
          <a:prstGeom prst="rect">
            <a:avLst/>
          </a:prstGeom>
          <a:noFill/>
        </p:spPr>
        <p:txBody>
          <a:bodyPr wrap="square" anchor="t" lIns="0" rIns="0" tIns="0" bIns="0">
            <a:spAutoFit/>
          </a:bodyPr>
          <a:lstStyle/>
          <a:p>
            <a:pPr algn="l">
              <a:lnSpc>
                <a:spcPct val="115000"/>
              </a:lnSpc>
              <a:spcAft>
                <a:spcPts val="1000"/>
              </a:spcAft>
            </a:pPr>
            <a:r>
              <a:rPr sz="950" b="1" i="0" spc="160">
                <a:solidFill>
                  <a:srgbClr val="0F7B4F"/>
                </a:solidFill>
                <a:latin typeface="Arial"/>
              </a:rPr>
              <a:t>03</a:t>
            </a:r>
          </a:p>
          <a:p>
            <a:pPr>
              <a:lnSpc>
                <a:spcPct val="115000"/>
              </a:lnSpc>
              <a:spcAft>
                <a:spcPts val="800"/>
              </a:spcAft>
            </a:pPr>
            <a:r>
              <a:rPr sz="1600" b="1" i="0">
                <a:solidFill>
                  <a:srgbClr val="111417"/>
                </a:solidFill>
                <a:latin typeface="Arial"/>
              </a:rPr>
              <a:t>Safer</a:t>
            </a:r>
          </a:p>
          <a:p>
            <a:pPr>
              <a:lnSpc>
                <a:spcPct val="140000"/>
              </a:lnSpc>
            </a:pPr>
            <a:r>
              <a:rPr sz="1000" b="0" i="0">
                <a:solidFill>
                  <a:srgbClr val="565C63"/>
                </a:solidFill>
                <a:latin typeface="Arial"/>
              </a:rPr>
              <a:t>Undo everywhere, including the parts that used to be 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READINESS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WHERE WE STAND</a:t>
            </a:r>
          </a:p>
        </p:txBody>
      </p:sp>
      <p:sp>
        <p:nvSpPr>
          <p:cNvPr id="5" name="TextBox 4"/>
          <p:cNvSpPr txBox="1"/>
          <p:nvPr/>
        </p:nvSpPr>
        <p:spPr>
          <a:xfrm>
            <a:off x="841248" y="2560320"/>
            <a:ext cx="2078728" cy="2103120"/>
          </a:xfrm>
          <a:prstGeom prst="rect">
            <a:avLst/>
          </a:prstGeom>
          <a:noFill/>
        </p:spPr>
        <p:txBody>
          <a:bodyPr wrap="square" anchor="t" lIns="0" rIns="0" tIns="0" bIns="0">
            <a:spAutoFit/>
          </a:bodyPr>
          <a:lstStyle/>
          <a:p>
            <a:pPr algn="l">
              <a:lnSpc>
                <a:spcPct val="98000"/>
              </a:lnSpc>
              <a:spcAft>
                <a:spcPts val="800"/>
              </a:spcAft>
            </a:pPr>
            <a:r>
              <a:rPr sz="4800" b="1" i="0">
                <a:solidFill>
                  <a:srgbClr val="0F7B4F"/>
                </a:solidFill>
                <a:latin typeface="Arial"/>
              </a:rPr>
              <a:t>2.0</a:t>
            </a:r>
          </a:p>
          <a:p>
            <a:pPr>
              <a:lnSpc>
                <a:spcPct val="115000"/>
              </a:lnSpc>
              <a:spcAft>
                <a:spcPts val="500"/>
              </a:spcAft>
            </a:pPr>
            <a:r>
              <a:rPr sz="1300" b="1" i="0">
                <a:solidFill>
                  <a:srgbClr val="111417"/>
                </a:solidFill>
                <a:latin typeface="Arial"/>
              </a:rPr>
              <a:t>Version</a:t>
            </a:r>
          </a:p>
          <a:p>
            <a:pPr>
              <a:lnSpc>
                <a:spcPct val="135000"/>
              </a:lnSpc>
            </a:pPr>
            <a:r>
              <a:rPr sz="950" b="0" i="0">
                <a:solidFill>
                  <a:srgbClr val="565C63"/>
                </a:solidFill>
                <a:latin typeface="Arial"/>
              </a:rPr>
              <a:t>Feature-complete and frozen.</a:t>
            </a:r>
          </a:p>
        </p:txBody>
      </p:sp>
      <p:sp>
        <p:nvSpPr>
          <p:cNvPr id="6" name="Rectangle 5"/>
          <p:cNvSpPr/>
          <p:nvPr/>
        </p:nvSpPr>
        <p:spPr>
          <a:xfrm>
            <a:off x="3194296" y="2697479"/>
            <a:ext cx="9525" cy="178308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468616" y="2560320"/>
            <a:ext cx="2078728" cy="2103120"/>
          </a:xfrm>
          <a:prstGeom prst="rect">
            <a:avLst/>
          </a:prstGeom>
          <a:noFill/>
        </p:spPr>
        <p:txBody>
          <a:bodyPr wrap="square" anchor="t" lIns="0" rIns="0" tIns="0" bIns="0">
            <a:spAutoFit/>
          </a:bodyPr>
          <a:lstStyle/>
          <a:p>
            <a:pPr algn="l">
              <a:lnSpc>
                <a:spcPct val="98000"/>
              </a:lnSpc>
              <a:spcAft>
                <a:spcPts val="800"/>
              </a:spcAft>
            </a:pPr>
            <a:r>
              <a:rPr sz="4800" b="1" i="0">
                <a:solidFill>
                  <a:srgbClr val="111417"/>
                </a:solidFill>
                <a:latin typeface="Arial"/>
              </a:rPr>
              <a:t>94%</a:t>
            </a:r>
          </a:p>
          <a:p>
            <a:pPr>
              <a:lnSpc>
                <a:spcPct val="115000"/>
              </a:lnSpc>
              <a:spcAft>
                <a:spcPts val="500"/>
              </a:spcAft>
            </a:pPr>
            <a:r>
              <a:rPr sz="1300" b="1" i="0">
                <a:solidFill>
                  <a:srgbClr val="111417"/>
                </a:solidFill>
                <a:latin typeface="Arial"/>
              </a:rPr>
              <a:t>Tests green</a:t>
            </a:r>
          </a:p>
          <a:p>
            <a:pPr>
              <a:lnSpc>
                <a:spcPct val="135000"/>
              </a:lnSpc>
            </a:pPr>
            <a:r>
              <a:rPr sz="950" b="0" i="0">
                <a:solidFill>
                  <a:srgbClr val="565C63"/>
                </a:solidFill>
                <a:latin typeface="Arial"/>
              </a:rPr>
              <a:t>Remaining failures triaged as known.</a:t>
            </a:r>
          </a:p>
        </p:txBody>
      </p:sp>
      <p:sp>
        <p:nvSpPr>
          <p:cNvPr id="8" name="Rectangle 7"/>
          <p:cNvSpPr/>
          <p:nvPr/>
        </p:nvSpPr>
        <p:spPr>
          <a:xfrm>
            <a:off x="5821664" y="2697479"/>
            <a:ext cx="9525" cy="178308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5984" y="2560320"/>
            <a:ext cx="2078728" cy="2103120"/>
          </a:xfrm>
          <a:prstGeom prst="rect">
            <a:avLst/>
          </a:prstGeom>
          <a:noFill/>
        </p:spPr>
        <p:txBody>
          <a:bodyPr wrap="square" anchor="t" lIns="0" rIns="0" tIns="0" bIns="0">
            <a:spAutoFit/>
          </a:bodyPr>
          <a:lstStyle/>
          <a:p>
            <a:pPr algn="l">
              <a:lnSpc>
                <a:spcPct val="98000"/>
              </a:lnSpc>
              <a:spcAft>
                <a:spcPts val="800"/>
              </a:spcAft>
            </a:pPr>
            <a:r>
              <a:rPr sz="4800" b="1" i="0">
                <a:solidFill>
                  <a:srgbClr val="111417"/>
                </a:solidFill>
                <a:latin typeface="Arial"/>
              </a:rPr>
              <a:t>31</a:t>
            </a:r>
          </a:p>
          <a:p>
            <a:pPr>
              <a:lnSpc>
                <a:spcPct val="115000"/>
              </a:lnSpc>
              <a:spcAft>
                <a:spcPts val="500"/>
              </a:spcAft>
            </a:pPr>
            <a:r>
              <a:rPr sz="1300" b="1" i="0">
                <a:solidFill>
                  <a:srgbClr val="111417"/>
                </a:solidFill>
                <a:latin typeface="Arial"/>
              </a:rPr>
              <a:t>Beta accounts</a:t>
            </a:r>
          </a:p>
          <a:p>
            <a:pPr>
              <a:lnSpc>
                <a:spcPct val="135000"/>
              </a:lnSpc>
            </a:pPr>
            <a:r>
              <a:rPr sz="950" b="0" i="0">
                <a:solidFill>
                  <a:srgbClr val="565C63"/>
                </a:solidFill>
                <a:latin typeface="Arial"/>
              </a:rPr>
              <a:t>Four weeks of daily use.</a:t>
            </a:r>
          </a:p>
        </p:txBody>
      </p:sp>
      <p:sp>
        <p:nvSpPr>
          <p:cNvPr id="10" name="Rectangle 9"/>
          <p:cNvSpPr/>
          <p:nvPr/>
        </p:nvSpPr>
        <p:spPr>
          <a:xfrm>
            <a:off x="8449033" y="2697479"/>
            <a:ext cx="9525" cy="178308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723353" y="2560320"/>
            <a:ext cx="2078728" cy="2103120"/>
          </a:xfrm>
          <a:prstGeom prst="rect">
            <a:avLst/>
          </a:prstGeom>
          <a:noFill/>
        </p:spPr>
        <p:txBody>
          <a:bodyPr wrap="square" anchor="t" lIns="0" rIns="0" tIns="0" bIns="0">
            <a:spAutoFit/>
          </a:bodyPr>
          <a:lstStyle/>
          <a:p>
            <a:pPr algn="l">
              <a:lnSpc>
                <a:spcPct val="98000"/>
              </a:lnSpc>
              <a:spcAft>
                <a:spcPts val="800"/>
              </a:spcAft>
            </a:pPr>
            <a:r>
              <a:rPr sz="4800" b="1" i="0">
                <a:solidFill>
                  <a:srgbClr val="111417"/>
                </a:solidFill>
                <a:latin typeface="Arial"/>
              </a:rPr>
              <a:t>0</a:t>
            </a:r>
          </a:p>
          <a:p>
            <a:pPr>
              <a:lnSpc>
                <a:spcPct val="115000"/>
              </a:lnSpc>
              <a:spcAft>
                <a:spcPts val="500"/>
              </a:spcAft>
            </a:pPr>
            <a:r>
              <a:rPr sz="1300" b="1" i="0">
                <a:solidFill>
                  <a:srgbClr val="111417"/>
                </a:solidFill>
                <a:latin typeface="Arial"/>
              </a:rPr>
              <a:t>Blockers</a:t>
            </a:r>
          </a:p>
          <a:p>
            <a:pPr>
              <a:lnSpc>
                <a:spcPct val="135000"/>
              </a:lnSpc>
            </a:pPr>
            <a:r>
              <a:rPr sz="950" b="0" i="0">
                <a:solidFill>
                  <a:srgbClr val="565C63"/>
                </a:solidFill>
                <a:latin typeface="Arial"/>
              </a:rPr>
              <a:t>Open list reviewed this morning.</a:t>
            </a:r>
          </a:p>
        </p:txBody>
      </p:sp>
      <p:sp>
        <p:nvSpPr>
          <p:cNvPr id="12" name="Rectangle 11"/>
          <p:cNvSpPr/>
          <p:nvPr/>
        </p:nvSpPr>
        <p:spPr>
          <a:xfrm>
            <a:off x="841248" y="4892040"/>
            <a:ext cx="10509473" cy="914400"/>
          </a:xfrm>
          <a:prstGeom prst="rect">
            <a:avLst/>
          </a:prstGeom>
          <a:solidFill>
            <a:srgbClr val="DDED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8448" y="5111496"/>
            <a:ext cx="9595073" cy="502920"/>
          </a:xfrm>
          <a:prstGeom prst="rect">
            <a:avLst/>
          </a:prstGeom>
          <a:noFill/>
        </p:spPr>
        <p:txBody>
          <a:bodyPr wrap="square" anchor="ctr" lIns="0" rIns="0" tIns="0" bIns="0">
            <a:spAutoFit/>
          </a:bodyPr>
          <a:lstStyle/>
          <a:p>
            <a:pPr algn="l">
              <a:lnSpc>
                <a:spcPct val="130000"/>
              </a:lnSpc>
            </a:pPr>
            <a:r>
              <a:rPr sz="1000" b="0" i="0">
                <a:solidFill>
                  <a:srgbClr val="111417"/>
                </a:solidFill>
                <a:latin typeface="Arial"/>
              </a:rPr>
              <a:t>Update this the morning of launch, not the week before. A stale readiness slide is worse than none.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11417"/>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8400" b="1" i="0">
                <a:solidFill>
                  <a:srgbClr val="0F7B4F"/>
                </a:solidFill>
                <a:latin typeface="Arial"/>
              </a:rPr>
              <a:t>02</a:t>
            </a:r>
          </a:p>
          <a:p>
            <a:pPr>
              <a:lnSpc>
                <a:spcPct val="115000"/>
              </a:lnSpc>
              <a:spcAft>
                <a:spcPts val="1200"/>
              </a:spcAft>
            </a:pPr>
            <a:r>
              <a:rPr sz="3700" b="1" i="0" spc="-60">
                <a:solidFill>
                  <a:srgbClr val="FFFFFF"/>
                </a:solidFill>
                <a:latin typeface="Arial"/>
              </a:rPr>
              <a:t>THE STORY</a:t>
            </a:r>
          </a:p>
          <a:p>
            <a:pPr>
              <a:lnSpc>
                <a:spcPct val="135000"/>
              </a:lnSpc>
            </a:pPr>
            <a:r>
              <a:rPr sz="1500" b="0" i="0">
                <a:solidFill>
                  <a:srgbClr val="FFFFFF"/>
                </a:solidFill>
                <a:latin typeface="Arial"/>
              </a:rPr>
              <a:t>How we say it so it lands in one 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LAUNCH WEEK</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THE SEQUENCE</a:t>
            </a:r>
          </a:p>
        </p:txBody>
      </p:sp>
      <p:sp>
        <p:nvSpPr>
          <p:cNvPr id="5" name="Rectangle 4"/>
          <p:cNvSpPr/>
          <p:nvPr/>
        </p:nvSpPr>
        <p:spPr>
          <a:xfrm>
            <a:off x="841248" y="3611879"/>
            <a:ext cx="10509473" cy="1905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63524" y="3543299"/>
            <a:ext cx="173736" cy="173736"/>
          </a:xfrm>
          <a:prstGeom prst="ellipse">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2953511"/>
            <a:ext cx="1781854" cy="365760"/>
          </a:xfrm>
          <a:prstGeom prst="rect">
            <a:avLst/>
          </a:prstGeom>
          <a:noFill/>
        </p:spPr>
        <p:txBody>
          <a:bodyPr wrap="square" anchor="t" lIns="0" rIns="0" tIns="0" bIns="0">
            <a:spAutoFit/>
          </a:bodyPr>
          <a:lstStyle/>
          <a:p>
            <a:pPr algn="l">
              <a:lnSpc>
                <a:spcPct val="115000"/>
              </a:lnSpc>
            </a:pPr>
            <a:r>
              <a:rPr sz="950" b="1" i="0" spc="160">
                <a:solidFill>
                  <a:srgbClr val="0F7B4F"/>
                </a:solidFill>
                <a:latin typeface="Arial"/>
              </a:rPr>
              <a:t>MON</a:t>
            </a:r>
          </a:p>
        </p:txBody>
      </p:sp>
      <p:sp>
        <p:nvSpPr>
          <p:cNvPr id="8" name="TextBox 7"/>
          <p:cNvSpPr txBox="1"/>
          <p:nvPr/>
        </p:nvSpPr>
        <p:spPr>
          <a:xfrm>
            <a:off x="841248" y="3995928"/>
            <a:ext cx="1781854" cy="1737360"/>
          </a:xfrm>
          <a:prstGeom prst="rect">
            <a:avLst/>
          </a:prstGeom>
          <a:noFill/>
        </p:spPr>
        <p:txBody>
          <a:bodyPr wrap="square" anchor="t" lIns="0" rIns="0" tIns="0" bIns="0">
            <a:spAutoFit/>
          </a:bodyPr>
          <a:lstStyle/>
          <a:p>
            <a:pPr algn="l">
              <a:lnSpc>
                <a:spcPct val="120000"/>
              </a:lnSpc>
              <a:spcAft>
                <a:spcPts val="600"/>
              </a:spcAft>
            </a:pPr>
            <a:r>
              <a:rPr sz="1400" b="1" i="0">
                <a:solidFill>
                  <a:srgbClr val="111417"/>
                </a:solidFill>
                <a:latin typeface="Arial"/>
              </a:rPr>
              <a:t>Freeze</a:t>
            </a:r>
          </a:p>
          <a:p>
            <a:pPr>
              <a:lnSpc>
                <a:spcPct val="135000"/>
              </a:lnSpc>
            </a:pPr>
            <a:r>
              <a:rPr sz="950" b="0" i="0">
                <a:solidFill>
                  <a:srgbClr val="565C63"/>
                </a:solidFill>
                <a:latin typeface="Arial"/>
              </a:rPr>
              <a:t>Build tagged, notes written, nothing merges.</a:t>
            </a:r>
          </a:p>
        </p:txBody>
      </p:sp>
      <p:sp>
        <p:nvSpPr>
          <p:cNvPr id="9" name="Oval 8"/>
          <p:cNvSpPr/>
          <p:nvPr/>
        </p:nvSpPr>
        <p:spPr>
          <a:xfrm>
            <a:off x="2865418" y="3543299"/>
            <a:ext cx="173736" cy="173736"/>
          </a:xfrm>
          <a:prstGeom prst="ellipse">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3142" y="2953511"/>
            <a:ext cx="1781854" cy="365760"/>
          </a:xfrm>
          <a:prstGeom prst="rect">
            <a:avLst/>
          </a:prstGeom>
          <a:noFill/>
        </p:spPr>
        <p:txBody>
          <a:bodyPr wrap="square" anchor="t" lIns="0" rIns="0" tIns="0" bIns="0">
            <a:spAutoFit/>
          </a:bodyPr>
          <a:lstStyle/>
          <a:p>
            <a:pPr algn="l">
              <a:lnSpc>
                <a:spcPct val="115000"/>
              </a:lnSpc>
            </a:pPr>
            <a:r>
              <a:rPr sz="950" b="1" i="0" spc="160">
                <a:solidFill>
                  <a:srgbClr val="0F7B4F"/>
                </a:solidFill>
                <a:latin typeface="Arial"/>
              </a:rPr>
              <a:t>TUE</a:t>
            </a:r>
          </a:p>
        </p:txBody>
      </p:sp>
      <p:sp>
        <p:nvSpPr>
          <p:cNvPr id="11" name="TextBox 10"/>
          <p:cNvSpPr txBox="1"/>
          <p:nvPr/>
        </p:nvSpPr>
        <p:spPr>
          <a:xfrm>
            <a:off x="2943142" y="3995928"/>
            <a:ext cx="1781854" cy="1737360"/>
          </a:xfrm>
          <a:prstGeom prst="rect">
            <a:avLst/>
          </a:prstGeom>
          <a:noFill/>
        </p:spPr>
        <p:txBody>
          <a:bodyPr wrap="square" anchor="t" lIns="0" rIns="0" tIns="0" bIns="0">
            <a:spAutoFit/>
          </a:bodyPr>
          <a:lstStyle/>
          <a:p>
            <a:pPr algn="l">
              <a:lnSpc>
                <a:spcPct val="120000"/>
              </a:lnSpc>
              <a:spcAft>
                <a:spcPts val="600"/>
              </a:spcAft>
            </a:pPr>
            <a:r>
              <a:rPr sz="1400" b="1" i="0">
                <a:solidFill>
                  <a:srgbClr val="111417"/>
                </a:solidFill>
                <a:latin typeface="Arial"/>
              </a:rPr>
              <a:t>Brief</a:t>
            </a:r>
          </a:p>
          <a:p>
            <a:pPr>
              <a:lnSpc>
                <a:spcPct val="135000"/>
              </a:lnSpc>
            </a:pPr>
            <a:r>
              <a:rPr sz="950" b="0" i="0">
                <a:solidFill>
                  <a:srgbClr val="565C63"/>
                </a:solidFill>
                <a:latin typeface="Arial"/>
              </a:rPr>
              <a:t>Support and sales get the demo and the FAQ.</a:t>
            </a:r>
          </a:p>
        </p:txBody>
      </p:sp>
      <p:sp>
        <p:nvSpPr>
          <p:cNvPr id="12" name="Oval 11"/>
          <p:cNvSpPr/>
          <p:nvPr/>
        </p:nvSpPr>
        <p:spPr>
          <a:xfrm>
            <a:off x="4967313" y="3543299"/>
            <a:ext cx="173736" cy="173736"/>
          </a:xfrm>
          <a:prstGeom prst="ellipse">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45037" y="2953511"/>
            <a:ext cx="1781854" cy="365760"/>
          </a:xfrm>
          <a:prstGeom prst="rect">
            <a:avLst/>
          </a:prstGeom>
          <a:noFill/>
        </p:spPr>
        <p:txBody>
          <a:bodyPr wrap="square" anchor="t" lIns="0" rIns="0" tIns="0" bIns="0">
            <a:spAutoFit/>
          </a:bodyPr>
          <a:lstStyle/>
          <a:p>
            <a:pPr algn="l">
              <a:lnSpc>
                <a:spcPct val="115000"/>
              </a:lnSpc>
            </a:pPr>
            <a:r>
              <a:rPr sz="950" b="1" i="0" spc="160">
                <a:solidFill>
                  <a:srgbClr val="0F7B4F"/>
                </a:solidFill>
                <a:latin typeface="Arial"/>
              </a:rPr>
              <a:t>WED</a:t>
            </a:r>
          </a:p>
        </p:txBody>
      </p:sp>
      <p:sp>
        <p:nvSpPr>
          <p:cNvPr id="14" name="TextBox 13"/>
          <p:cNvSpPr txBox="1"/>
          <p:nvPr/>
        </p:nvSpPr>
        <p:spPr>
          <a:xfrm>
            <a:off x="5045037" y="3995928"/>
            <a:ext cx="1781854" cy="1737360"/>
          </a:xfrm>
          <a:prstGeom prst="rect">
            <a:avLst/>
          </a:prstGeom>
          <a:noFill/>
        </p:spPr>
        <p:txBody>
          <a:bodyPr wrap="square" anchor="t" lIns="0" rIns="0" tIns="0" bIns="0">
            <a:spAutoFit/>
          </a:bodyPr>
          <a:lstStyle/>
          <a:p>
            <a:pPr algn="l">
              <a:lnSpc>
                <a:spcPct val="120000"/>
              </a:lnSpc>
              <a:spcAft>
                <a:spcPts val="600"/>
              </a:spcAft>
            </a:pPr>
            <a:r>
              <a:rPr sz="1400" b="1" i="0">
                <a:solidFill>
                  <a:srgbClr val="111417"/>
                </a:solidFill>
                <a:latin typeface="Arial"/>
              </a:rPr>
              <a:t>Ship</a:t>
            </a:r>
          </a:p>
          <a:p>
            <a:pPr>
              <a:lnSpc>
                <a:spcPct val="135000"/>
              </a:lnSpc>
            </a:pPr>
            <a:r>
              <a:rPr sz="950" b="0" i="0">
                <a:solidFill>
                  <a:srgbClr val="565C63"/>
                </a:solidFill>
                <a:latin typeface="Arial"/>
              </a:rPr>
              <a:t>Staged rollout, 10% then all.</a:t>
            </a:r>
          </a:p>
        </p:txBody>
      </p:sp>
      <p:sp>
        <p:nvSpPr>
          <p:cNvPr id="15" name="Oval 14"/>
          <p:cNvSpPr/>
          <p:nvPr/>
        </p:nvSpPr>
        <p:spPr>
          <a:xfrm>
            <a:off x="7069208" y="3543299"/>
            <a:ext cx="173736" cy="173736"/>
          </a:xfrm>
          <a:prstGeom prst="ellipse">
            <a:avLst/>
          </a:prstGeom>
          <a:solidFill>
            <a:srgbClr val="FFFFFF"/>
          </a:solidFill>
          <a:ln w="19050">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46932" y="2953511"/>
            <a:ext cx="1781854" cy="365760"/>
          </a:xfrm>
          <a:prstGeom prst="rect">
            <a:avLst/>
          </a:prstGeom>
          <a:noFill/>
        </p:spPr>
        <p:txBody>
          <a:bodyPr wrap="square" anchor="t" lIns="0" rIns="0" tIns="0" bIns="0">
            <a:spAutoFit/>
          </a:bodyPr>
          <a:lstStyle/>
          <a:p>
            <a:pPr algn="l">
              <a:lnSpc>
                <a:spcPct val="115000"/>
              </a:lnSpc>
            </a:pPr>
            <a:r>
              <a:rPr sz="950" b="1" i="0" spc="160">
                <a:solidFill>
                  <a:srgbClr val="565C63"/>
                </a:solidFill>
                <a:latin typeface="Arial"/>
              </a:rPr>
              <a:t>THU</a:t>
            </a:r>
          </a:p>
        </p:txBody>
      </p:sp>
      <p:sp>
        <p:nvSpPr>
          <p:cNvPr id="17" name="TextBox 16"/>
          <p:cNvSpPr txBox="1"/>
          <p:nvPr/>
        </p:nvSpPr>
        <p:spPr>
          <a:xfrm>
            <a:off x="7146932" y="3995928"/>
            <a:ext cx="1781854" cy="1737360"/>
          </a:xfrm>
          <a:prstGeom prst="rect">
            <a:avLst/>
          </a:prstGeom>
          <a:noFill/>
        </p:spPr>
        <p:txBody>
          <a:bodyPr wrap="square" anchor="t" lIns="0" rIns="0" tIns="0" bIns="0">
            <a:spAutoFit/>
          </a:bodyPr>
          <a:lstStyle/>
          <a:p>
            <a:pPr algn="l">
              <a:lnSpc>
                <a:spcPct val="120000"/>
              </a:lnSpc>
              <a:spcAft>
                <a:spcPts val="600"/>
              </a:spcAft>
            </a:pPr>
            <a:r>
              <a:rPr sz="1400" b="1" i="0">
                <a:solidFill>
                  <a:srgbClr val="111417"/>
                </a:solidFill>
                <a:latin typeface="Arial"/>
              </a:rPr>
              <a:t>Tell</a:t>
            </a:r>
          </a:p>
          <a:p>
            <a:pPr>
              <a:lnSpc>
                <a:spcPct val="135000"/>
              </a:lnSpc>
            </a:pPr>
            <a:r>
              <a:rPr sz="950" b="0" i="0">
                <a:solidFill>
                  <a:srgbClr val="565C63"/>
                </a:solidFill>
                <a:latin typeface="Arial"/>
              </a:rPr>
              <a:t>Post, mail, and the two calls that matter.</a:t>
            </a:r>
          </a:p>
        </p:txBody>
      </p:sp>
      <p:sp>
        <p:nvSpPr>
          <p:cNvPr id="18" name="Oval 17"/>
          <p:cNvSpPr/>
          <p:nvPr/>
        </p:nvSpPr>
        <p:spPr>
          <a:xfrm>
            <a:off x="9171102" y="3543299"/>
            <a:ext cx="173736" cy="173736"/>
          </a:xfrm>
          <a:prstGeom prst="ellipse">
            <a:avLst/>
          </a:prstGeom>
          <a:solidFill>
            <a:srgbClr val="FFFFFF"/>
          </a:solidFill>
          <a:ln w="19050">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48826" y="2953511"/>
            <a:ext cx="1781854" cy="365760"/>
          </a:xfrm>
          <a:prstGeom prst="rect">
            <a:avLst/>
          </a:prstGeom>
          <a:noFill/>
        </p:spPr>
        <p:txBody>
          <a:bodyPr wrap="square" anchor="t" lIns="0" rIns="0" tIns="0" bIns="0">
            <a:spAutoFit/>
          </a:bodyPr>
          <a:lstStyle/>
          <a:p>
            <a:pPr algn="l">
              <a:lnSpc>
                <a:spcPct val="115000"/>
              </a:lnSpc>
            </a:pPr>
            <a:r>
              <a:rPr sz="950" b="1" i="0" spc="160">
                <a:solidFill>
                  <a:srgbClr val="565C63"/>
                </a:solidFill>
                <a:latin typeface="Arial"/>
              </a:rPr>
              <a:t>FRI</a:t>
            </a:r>
          </a:p>
        </p:txBody>
      </p:sp>
      <p:sp>
        <p:nvSpPr>
          <p:cNvPr id="20" name="TextBox 19"/>
          <p:cNvSpPr txBox="1"/>
          <p:nvPr/>
        </p:nvSpPr>
        <p:spPr>
          <a:xfrm>
            <a:off x="9248826" y="3995928"/>
            <a:ext cx="1781854" cy="1737360"/>
          </a:xfrm>
          <a:prstGeom prst="rect">
            <a:avLst/>
          </a:prstGeom>
          <a:noFill/>
        </p:spPr>
        <p:txBody>
          <a:bodyPr wrap="square" anchor="t" lIns="0" rIns="0" tIns="0" bIns="0">
            <a:spAutoFit/>
          </a:bodyPr>
          <a:lstStyle/>
          <a:p>
            <a:pPr algn="l">
              <a:lnSpc>
                <a:spcPct val="120000"/>
              </a:lnSpc>
              <a:spcAft>
                <a:spcPts val="600"/>
              </a:spcAft>
            </a:pPr>
            <a:r>
              <a:rPr sz="1400" b="1" i="0">
                <a:solidFill>
                  <a:srgbClr val="111417"/>
                </a:solidFill>
                <a:latin typeface="Arial"/>
              </a:rPr>
              <a:t>Listen</a:t>
            </a:r>
          </a:p>
          <a:p>
            <a:pPr>
              <a:lnSpc>
                <a:spcPct val="135000"/>
              </a:lnSpc>
            </a:pPr>
            <a:r>
              <a:rPr sz="950" b="0" i="0">
                <a:solidFill>
                  <a:srgbClr val="565C63"/>
                </a:solidFill>
                <a:latin typeface="Arial"/>
              </a:rPr>
              <a:t>Triage, hotfix window, first read on adoption.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OWNERS</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WHO DOES WHAT</a:t>
            </a:r>
          </a:p>
        </p:txBody>
      </p:sp>
      <p:sp>
        <p:nvSpPr>
          <p:cNvPr id="5" name="Rectangle 4"/>
          <p:cNvSpPr/>
          <p:nvPr/>
        </p:nvSpPr>
        <p:spPr>
          <a:xfrm>
            <a:off x="841248" y="2560320"/>
            <a:ext cx="10509473" cy="566928"/>
          </a:xfrm>
          <a:prstGeom prst="rect">
            <a:avLst/>
          </a:prstGeom>
          <a:solidFill>
            <a:srgbClr val="11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97280" y="2560320"/>
            <a:ext cx="3207460" cy="566928"/>
          </a:xfrm>
          <a:prstGeom prst="rect">
            <a:avLst/>
          </a:prstGeom>
          <a:noFill/>
        </p:spPr>
        <p:txBody>
          <a:bodyPr wrap="square" anchor="ctr" lIns="0" rIns="0" tIns="0" bIns="0">
            <a:spAutoFit/>
          </a:bodyPr>
          <a:lstStyle/>
          <a:p>
            <a:pPr algn="l">
              <a:lnSpc>
                <a:spcPct val="115000"/>
              </a:lnSpc>
            </a:pPr>
            <a:r>
              <a:rPr sz="950" b="1" i="0" spc="140">
                <a:solidFill>
                  <a:srgbClr val="FFFFFF"/>
                </a:solidFill>
                <a:latin typeface="Arial"/>
              </a:rPr>
              <a:t>WORKSTREAM</a:t>
            </a:r>
          </a:p>
        </p:txBody>
      </p:sp>
      <p:sp>
        <p:nvSpPr>
          <p:cNvPr id="7" name="TextBox 6"/>
          <p:cNvSpPr txBox="1"/>
          <p:nvPr/>
        </p:nvSpPr>
        <p:spPr>
          <a:xfrm>
            <a:off x="4670500" y="2560320"/>
            <a:ext cx="1946324" cy="566928"/>
          </a:xfrm>
          <a:prstGeom prst="rect">
            <a:avLst/>
          </a:prstGeom>
          <a:noFill/>
        </p:spPr>
        <p:txBody>
          <a:bodyPr wrap="square" anchor="ctr" lIns="0" rIns="0" tIns="0" bIns="0">
            <a:spAutoFit/>
          </a:bodyPr>
          <a:lstStyle/>
          <a:p>
            <a:pPr algn="l">
              <a:lnSpc>
                <a:spcPct val="115000"/>
              </a:lnSpc>
            </a:pPr>
            <a:r>
              <a:rPr sz="950" b="1" i="0" spc="140">
                <a:solidFill>
                  <a:srgbClr val="FFFFFF"/>
                </a:solidFill>
                <a:latin typeface="Arial"/>
              </a:rPr>
              <a:t>OWNER</a:t>
            </a:r>
          </a:p>
        </p:txBody>
      </p:sp>
      <p:sp>
        <p:nvSpPr>
          <p:cNvPr id="8" name="TextBox 7"/>
          <p:cNvSpPr txBox="1"/>
          <p:nvPr/>
        </p:nvSpPr>
        <p:spPr>
          <a:xfrm>
            <a:off x="6982585" y="2560320"/>
            <a:ext cx="1946324" cy="566928"/>
          </a:xfrm>
          <a:prstGeom prst="rect">
            <a:avLst/>
          </a:prstGeom>
          <a:noFill/>
        </p:spPr>
        <p:txBody>
          <a:bodyPr wrap="square" anchor="ctr" lIns="0" rIns="0" tIns="0" bIns="0">
            <a:spAutoFit/>
          </a:bodyPr>
          <a:lstStyle/>
          <a:p>
            <a:pPr algn="l">
              <a:lnSpc>
                <a:spcPct val="115000"/>
              </a:lnSpc>
            </a:pPr>
            <a:r>
              <a:rPr sz="950" b="1" i="0" spc="140">
                <a:solidFill>
                  <a:srgbClr val="FFFFFF"/>
                </a:solidFill>
                <a:latin typeface="Arial"/>
              </a:rPr>
              <a:t>READY BY</a:t>
            </a:r>
          </a:p>
        </p:txBody>
      </p:sp>
      <p:sp>
        <p:nvSpPr>
          <p:cNvPr id="9" name="TextBox 8"/>
          <p:cNvSpPr txBox="1"/>
          <p:nvPr/>
        </p:nvSpPr>
        <p:spPr>
          <a:xfrm>
            <a:off x="9294669" y="2560320"/>
            <a:ext cx="1946324" cy="566928"/>
          </a:xfrm>
          <a:prstGeom prst="rect">
            <a:avLst/>
          </a:prstGeom>
          <a:noFill/>
        </p:spPr>
        <p:txBody>
          <a:bodyPr wrap="square" anchor="ctr" lIns="0" rIns="0" tIns="0" bIns="0">
            <a:spAutoFit/>
          </a:bodyPr>
          <a:lstStyle/>
          <a:p>
            <a:pPr algn="l">
              <a:lnSpc>
                <a:spcPct val="115000"/>
              </a:lnSpc>
            </a:pPr>
            <a:r>
              <a:rPr sz="950" b="1" i="0" spc="140">
                <a:solidFill>
                  <a:srgbClr val="FFFFFF"/>
                </a:solidFill>
                <a:latin typeface="Arial"/>
              </a:rPr>
              <a:t>STATE</a:t>
            </a:r>
          </a:p>
        </p:txBody>
      </p:sp>
      <p:sp>
        <p:nvSpPr>
          <p:cNvPr id="10" name="Rectangle 9"/>
          <p:cNvSpPr/>
          <p:nvPr/>
        </p:nvSpPr>
        <p:spPr>
          <a:xfrm>
            <a:off x="841248" y="3127248"/>
            <a:ext cx="10509473" cy="566928"/>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841248" y="3694176"/>
            <a:ext cx="10509473" cy="635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97280" y="3127248"/>
            <a:ext cx="3207460" cy="566928"/>
          </a:xfrm>
          <a:prstGeom prst="rect">
            <a:avLst/>
          </a:prstGeom>
          <a:noFill/>
        </p:spPr>
        <p:txBody>
          <a:bodyPr wrap="square" anchor="ctr" lIns="0" rIns="0" tIns="0" bIns="0">
            <a:spAutoFit/>
          </a:bodyPr>
          <a:lstStyle/>
          <a:p>
            <a:pPr algn="l">
              <a:lnSpc>
                <a:spcPct val="115000"/>
              </a:lnSpc>
            </a:pPr>
            <a:r>
              <a:rPr sz="1200" b="1" i="0">
                <a:solidFill>
                  <a:srgbClr val="111417"/>
                </a:solidFill>
                <a:latin typeface="Arial"/>
              </a:rPr>
              <a:t>Release build</a:t>
            </a:r>
          </a:p>
        </p:txBody>
      </p:sp>
      <p:sp>
        <p:nvSpPr>
          <p:cNvPr id="13" name="TextBox 12"/>
          <p:cNvSpPr txBox="1"/>
          <p:nvPr/>
        </p:nvSpPr>
        <p:spPr>
          <a:xfrm>
            <a:off x="4670500" y="3127248"/>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Engineering</a:t>
            </a:r>
          </a:p>
        </p:txBody>
      </p:sp>
      <p:sp>
        <p:nvSpPr>
          <p:cNvPr id="14" name="TextBox 13"/>
          <p:cNvSpPr txBox="1"/>
          <p:nvPr/>
        </p:nvSpPr>
        <p:spPr>
          <a:xfrm>
            <a:off x="6982585" y="3127248"/>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Mon 09:00</a:t>
            </a:r>
          </a:p>
        </p:txBody>
      </p:sp>
      <p:sp>
        <p:nvSpPr>
          <p:cNvPr id="15" name="TextBox 14"/>
          <p:cNvSpPr txBox="1"/>
          <p:nvPr/>
        </p:nvSpPr>
        <p:spPr>
          <a:xfrm>
            <a:off x="9294669" y="3127248"/>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Done</a:t>
            </a:r>
          </a:p>
        </p:txBody>
      </p:sp>
      <p:sp>
        <p:nvSpPr>
          <p:cNvPr id="16" name="Rectangle 15"/>
          <p:cNvSpPr/>
          <p:nvPr/>
        </p:nvSpPr>
        <p:spPr>
          <a:xfrm>
            <a:off x="841248" y="4261104"/>
            <a:ext cx="10509473" cy="635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097280" y="3694176"/>
            <a:ext cx="3207460" cy="566928"/>
          </a:xfrm>
          <a:prstGeom prst="rect">
            <a:avLst/>
          </a:prstGeom>
          <a:noFill/>
        </p:spPr>
        <p:txBody>
          <a:bodyPr wrap="square" anchor="ctr" lIns="0" rIns="0" tIns="0" bIns="0">
            <a:spAutoFit/>
          </a:bodyPr>
          <a:lstStyle/>
          <a:p>
            <a:pPr algn="l">
              <a:lnSpc>
                <a:spcPct val="115000"/>
              </a:lnSpc>
            </a:pPr>
            <a:r>
              <a:rPr sz="1200" b="1" i="0">
                <a:solidFill>
                  <a:srgbClr val="111417"/>
                </a:solidFill>
                <a:latin typeface="Arial"/>
              </a:rPr>
              <a:t>Docs and FAQ</a:t>
            </a:r>
          </a:p>
        </p:txBody>
      </p:sp>
      <p:sp>
        <p:nvSpPr>
          <p:cNvPr id="18" name="TextBox 17"/>
          <p:cNvSpPr txBox="1"/>
          <p:nvPr/>
        </p:nvSpPr>
        <p:spPr>
          <a:xfrm>
            <a:off x="4670500" y="3694176"/>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Support</a:t>
            </a:r>
          </a:p>
        </p:txBody>
      </p:sp>
      <p:sp>
        <p:nvSpPr>
          <p:cNvPr id="19" name="TextBox 18"/>
          <p:cNvSpPr txBox="1"/>
          <p:nvPr/>
        </p:nvSpPr>
        <p:spPr>
          <a:xfrm>
            <a:off x="6982585" y="3694176"/>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Tue 12:00</a:t>
            </a:r>
          </a:p>
        </p:txBody>
      </p:sp>
      <p:sp>
        <p:nvSpPr>
          <p:cNvPr id="20" name="TextBox 19"/>
          <p:cNvSpPr txBox="1"/>
          <p:nvPr/>
        </p:nvSpPr>
        <p:spPr>
          <a:xfrm>
            <a:off x="9294669" y="3694176"/>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In review</a:t>
            </a:r>
          </a:p>
        </p:txBody>
      </p:sp>
      <p:sp>
        <p:nvSpPr>
          <p:cNvPr id="21" name="Rectangle 20"/>
          <p:cNvSpPr/>
          <p:nvPr/>
        </p:nvSpPr>
        <p:spPr>
          <a:xfrm>
            <a:off x="841248" y="4261104"/>
            <a:ext cx="10509473" cy="566928"/>
          </a:xfrm>
          <a:prstGeom prst="rect">
            <a:avLst/>
          </a:prstGeom>
          <a:solidFill>
            <a:srgbClr val="F2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841248" y="4828032"/>
            <a:ext cx="10509473" cy="635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97280" y="4261104"/>
            <a:ext cx="3207460" cy="566928"/>
          </a:xfrm>
          <a:prstGeom prst="rect">
            <a:avLst/>
          </a:prstGeom>
          <a:noFill/>
        </p:spPr>
        <p:txBody>
          <a:bodyPr wrap="square" anchor="ctr" lIns="0" rIns="0" tIns="0" bIns="0">
            <a:spAutoFit/>
          </a:bodyPr>
          <a:lstStyle/>
          <a:p>
            <a:pPr algn="l">
              <a:lnSpc>
                <a:spcPct val="115000"/>
              </a:lnSpc>
            </a:pPr>
            <a:r>
              <a:rPr sz="1200" b="1" i="0">
                <a:solidFill>
                  <a:srgbClr val="111417"/>
                </a:solidFill>
                <a:latin typeface="Arial"/>
              </a:rPr>
              <a:t>Announcement</a:t>
            </a:r>
          </a:p>
        </p:txBody>
      </p:sp>
      <p:sp>
        <p:nvSpPr>
          <p:cNvPr id="24" name="TextBox 23"/>
          <p:cNvSpPr txBox="1"/>
          <p:nvPr/>
        </p:nvSpPr>
        <p:spPr>
          <a:xfrm>
            <a:off x="4670500" y="4261104"/>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Marketing</a:t>
            </a:r>
          </a:p>
        </p:txBody>
      </p:sp>
      <p:sp>
        <p:nvSpPr>
          <p:cNvPr id="25" name="TextBox 24"/>
          <p:cNvSpPr txBox="1"/>
          <p:nvPr/>
        </p:nvSpPr>
        <p:spPr>
          <a:xfrm>
            <a:off x="6982585" y="4261104"/>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Wed 08:00</a:t>
            </a:r>
          </a:p>
        </p:txBody>
      </p:sp>
      <p:sp>
        <p:nvSpPr>
          <p:cNvPr id="26" name="TextBox 25"/>
          <p:cNvSpPr txBox="1"/>
          <p:nvPr/>
        </p:nvSpPr>
        <p:spPr>
          <a:xfrm>
            <a:off x="9294669" y="4261104"/>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Drafted</a:t>
            </a:r>
          </a:p>
        </p:txBody>
      </p:sp>
      <p:sp>
        <p:nvSpPr>
          <p:cNvPr id="27" name="Rectangle 26"/>
          <p:cNvSpPr/>
          <p:nvPr/>
        </p:nvSpPr>
        <p:spPr>
          <a:xfrm>
            <a:off x="841248" y="5394959"/>
            <a:ext cx="10509473" cy="6350"/>
          </a:xfrm>
          <a:prstGeom prst="rect">
            <a:avLst/>
          </a:prstGeom>
          <a:solidFill>
            <a:srgbClr val="D8DB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97280" y="4828031"/>
            <a:ext cx="3207460" cy="566928"/>
          </a:xfrm>
          <a:prstGeom prst="rect">
            <a:avLst/>
          </a:prstGeom>
          <a:noFill/>
        </p:spPr>
        <p:txBody>
          <a:bodyPr wrap="square" anchor="ctr" lIns="0" rIns="0" tIns="0" bIns="0">
            <a:spAutoFit/>
          </a:bodyPr>
          <a:lstStyle/>
          <a:p>
            <a:pPr algn="l">
              <a:lnSpc>
                <a:spcPct val="115000"/>
              </a:lnSpc>
            </a:pPr>
            <a:r>
              <a:rPr sz="1200" b="1" i="0">
                <a:solidFill>
                  <a:srgbClr val="111417"/>
                </a:solidFill>
                <a:latin typeface="Arial"/>
              </a:rPr>
              <a:t>Rollout gate</a:t>
            </a:r>
          </a:p>
        </p:txBody>
      </p:sp>
      <p:sp>
        <p:nvSpPr>
          <p:cNvPr id="29" name="TextBox 28"/>
          <p:cNvSpPr txBox="1"/>
          <p:nvPr/>
        </p:nvSpPr>
        <p:spPr>
          <a:xfrm>
            <a:off x="4670500" y="4828031"/>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On-call</a:t>
            </a:r>
          </a:p>
        </p:txBody>
      </p:sp>
      <p:sp>
        <p:nvSpPr>
          <p:cNvPr id="30" name="TextBox 29"/>
          <p:cNvSpPr txBox="1"/>
          <p:nvPr/>
        </p:nvSpPr>
        <p:spPr>
          <a:xfrm>
            <a:off x="6982585" y="4828031"/>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Wed 14:00</a:t>
            </a:r>
          </a:p>
        </p:txBody>
      </p:sp>
      <p:sp>
        <p:nvSpPr>
          <p:cNvPr id="31" name="TextBox 30"/>
          <p:cNvSpPr txBox="1"/>
          <p:nvPr/>
        </p:nvSpPr>
        <p:spPr>
          <a:xfrm>
            <a:off x="9294669" y="4828031"/>
            <a:ext cx="1946324" cy="566928"/>
          </a:xfrm>
          <a:prstGeom prst="rect">
            <a:avLst/>
          </a:prstGeom>
          <a:noFill/>
        </p:spPr>
        <p:txBody>
          <a:bodyPr wrap="square" anchor="ctr" lIns="0" rIns="0" tIns="0" bIns="0">
            <a:spAutoFit/>
          </a:bodyPr>
          <a:lstStyle/>
          <a:p>
            <a:pPr algn="l">
              <a:lnSpc>
                <a:spcPct val="115000"/>
              </a:lnSpc>
            </a:pPr>
            <a:r>
              <a:rPr sz="1200" b="0" i="0">
                <a:solidFill>
                  <a:srgbClr val="565C63"/>
                </a:solidFill>
                <a:latin typeface="Arial"/>
              </a:rPr>
              <a:t>Scheduled</a:t>
            </a:r>
          </a:p>
        </p:txBody>
      </p:sp>
      <p:sp>
        <p:nvSpPr>
          <p:cNvPr id="32" name="TextBox 31"/>
          <p:cNvSpPr txBox="1"/>
          <p:nvPr/>
        </p:nvSpPr>
        <p:spPr>
          <a:xfrm>
            <a:off x="841248" y="5650992"/>
            <a:ext cx="10509473" cy="365760"/>
          </a:xfrm>
          <a:prstGeom prst="rect">
            <a:avLst/>
          </a:prstGeom>
          <a:noFill/>
        </p:spPr>
        <p:txBody>
          <a:bodyPr wrap="square" anchor="t" lIns="0" rIns="0" tIns="0" bIns="0">
            <a:spAutoFit/>
          </a:bodyPr>
          <a:lstStyle/>
          <a:p>
            <a:pPr algn="l">
              <a:lnSpc>
                <a:spcPct val="115000"/>
              </a:lnSpc>
            </a:pPr>
            <a:r>
              <a:rPr sz="950" b="0" i="0">
                <a:solidFill>
                  <a:srgbClr val="565C63"/>
                </a:solidFill>
                <a:latin typeface="Arial"/>
              </a:rPr>
              <a:t>Replace the rows with your own figures. Keep one unit per column.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Parallelogram 1"/>
          <p:cNvSpPr/>
          <p:nvPr/>
        </p:nvSpPr>
        <p:spPr>
          <a:xfrm>
            <a:off x="841248" y="850392"/>
            <a:ext cx="566928" cy="146304"/>
          </a:xfrm>
          <a:prstGeom prst="parallelogram">
            <a:avLst>
              <a:gd name="adj" fmla="val 50000"/>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41248" y="1115568"/>
            <a:ext cx="10509473" cy="292608"/>
          </a:xfrm>
          <a:prstGeom prst="rect">
            <a:avLst/>
          </a:prstGeom>
          <a:noFill/>
        </p:spPr>
        <p:txBody>
          <a:bodyPr wrap="square" anchor="t" lIns="0" rIns="0" tIns="0" bIns="0">
            <a:spAutoFit/>
          </a:bodyPr>
          <a:lstStyle/>
          <a:p>
            <a:pPr algn="l">
              <a:lnSpc>
                <a:spcPct val="115000"/>
              </a:lnSpc>
            </a:pPr>
            <a:r>
              <a:rPr sz="950" b="1" i="0" spc="220">
                <a:solidFill>
                  <a:srgbClr val="0F7B4F"/>
                </a:solidFill>
                <a:latin typeface="Arial"/>
              </a:rPr>
              <a:t>EVIDENCE</a:t>
            </a:r>
          </a:p>
        </p:txBody>
      </p:sp>
      <p:sp>
        <p:nvSpPr>
          <p:cNvPr id="4" name="TextBox 3"/>
          <p:cNvSpPr txBox="1"/>
          <p:nvPr/>
        </p:nvSpPr>
        <p:spPr>
          <a:xfrm>
            <a:off x="841248" y="1499616"/>
            <a:ext cx="10509473" cy="822960"/>
          </a:xfrm>
          <a:prstGeom prst="rect">
            <a:avLst/>
          </a:prstGeom>
          <a:noFill/>
        </p:spPr>
        <p:txBody>
          <a:bodyPr wrap="square" anchor="t" lIns="0" rIns="0" tIns="0" bIns="0">
            <a:spAutoFit/>
          </a:bodyPr>
          <a:lstStyle/>
          <a:p>
            <a:pPr algn="l">
              <a:lnSpc>
                <a:spcPct val="105000"/>
              </a:lnSpc>
            </a:pPr>
            <a:r>
              <a:rPr sz="3300" b="1" i="0" spc="-60">
                <a:solidFill>
                  <a:srgbClr val="111417"/>
                </a:solidFill>
                <a:latin typeface="Arial"/>
              </a:rPr>
              <a:t>ONE IMAGE, ONE IDEA</a:t>
            </a:r>
          </a:p>
        </p:txBody>
      </p:sp>
      <p:sp>
        <p:nvSpPr>
          <p:cNvPr id="5" name="Rectangle 4"/>
          <p:cNvSpPr/>
          <p:nvPr/>
        </p:nvSpPr>
        <p:spPr>
          <a:xfrm>
            <a:off x="841248" y="2560320"/>
            <a:ext cx="5464926" cy="2926080"/>
          </a:xfrm>
          <a:prstGeom prst="rect">
            <a:avLst/>
          </a:prstGeom>
          <a:solidFill>
            <a:srgbClr val="F2F3F4"/>
          </a:solidFill>
          <a:ln w="9525">
            <a:solidFill>
              <a:srgbClr val="D8DBD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4229502" y="3321100"/>
            <a:ext cx="457200" cy="457200"/>
          </a:xfrm>
          <a:prstGeom prst="ellipse">
            <a:avLst/>
          </a:prstGeom>
          <a:solidFill>
            <a:srgbClr val="63A9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ight Triangle 6"/>
          <p:cNvSpPr/>
          <p:nvPr/>
        </p:nvSpPr>
        <p:spPr>
          <a:xfrm>
            <a:off x="1934233" y="3668572"/>
            <a:ext cx="1371600" cy="822960"/>
          </a:xfrm>
          <a:prstGeom prst="rtTriangle">
            <a:avLst/>
          </a:prstGeom>
          <a:solidFill>
            <a:srgbClr val="BCBD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ight Triangle 7"/>
          <p:cNvSpPr/>
          <p:nvPr/>
        </p:nvSpPr>
        <p:spPr>
          <a:xfrm>
            <a:off x="3136517" y="3348532"/>
            <a:ext cx="1737360" cy="1143000"/>
          </a:xfrm>
          <a:prstGeom prst="rtTriangle">
            <a:avLst/>
          </a:prstGeom>
          <a:solidFill>
            <a:srgbClr val="94959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15636" y="4491532"/>
            <a:ext cx="3716149" cy="12700"/>
          </a:xfrm>
          <a:prstGeom prst="rect">
            <a:avLst/>
          </a:prstGeom>
          <a:solidFill>
            <a:srgbClr val="7C7E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8" y="4700016"/>
            <a:ext cx="5464926" cy="365760"/>
          </a:xfrm>
          <a:prstGeom prst="rect">
            <a:avLst/>
          </a:prstGeom>
          <a:noFill/>
        </p:spPr>
        <p:txBody>
          <a:bodyPr wrap="square" anchor="t" lIns="0" rIns="0" tIns="0" bIns="0">
            <a:spAutoFit/>
          </a:bodyPr>
          <a:lstStyle/>
          <a:p>
            <a:pPr algn="ctr">
              <a:lnSpc>
                <a:spcPct val="115000"/>
              </a:lnSpc>
            </a:pPr>
            <a:r>
              <a:rPr sz="950" b="0" i="0" spc="160">
                <a:solidFill>
                  <a:srgbClr val="565C63"/>
                </a:solidFill>
                <a:latin typeface="Arial"/>
              </a:rPr>
              <a:t>DROP AN IMAGE HERE</a:t>
            </a:r>
          </a:p>
        </p:txBody>
      </p:sp>
      <p:sp>
        <p:nvSpPr>
          <p:cNvPr id="11" name="TextBox 10"/>
          <p:cNvSpPr txBox="1"/>
          <p:nvPr/>
        </p:nvSpPr>
        <p:spPr>
          <a:xfrm>
            <a:off x="7037694" y="2560320"/>
            <a:ext cx="4313027" cy="1965960"/>
          </a:xfrm>
          <a:prstGeom prst="rect">
            <a:avLst/>
          </a:prstGeom>
          <a:noFill/>
        </p:spPr>
        <p:txBody>
          <a:bodyPr wrap="square" anchor="t" lIns="0" rIns="0" tIns="0" bIns="0">
            <a:spAutoFit/>
          </a:bodyPr>
          <a:lstStyle/>
          <a:p>
            <a:pPr algn="l">
              <a:lnSpc>
                <a:spcPct val="120000"/>
              </a:lnSpc>
              <a:spcAft>
                <a:spcPts val="1400"/>
              </a:spcAft>
            </a:pPr>
            <a:r>
              <a:rPr sz="1800" b="1" i="0">
                <a:solidFill>
                  <a:srgbClr val="111417"/>
                </a:solidFill>
                <a:latin typeface="Arial"/>
              </a:rPr>
              <a:t>Lead with the demo</a:t>
            </a:r>
          </a:p>
          <a:p>
            <a:pPr>
              <a:lnSpc>
                <a:spcPct val="145000"/>
              </a:lnSpc>
              <a:spcAft>
                <a:spcPts val="1600"/>
              </a:spcAft>
            </a:pPr>
            <a:r>
              <a:rPr sz="1300" b="0" i="0">
                <a:solidFill>
                  <a:srgbClr val="565C63"/>
                </a:solidFill>
                <a:latin typeface="Arial"/>
              </a:rPr>
              <a:t>One frame of the product doing the new thing. If the change is hard to photograph, show the before and after side by side and let the difference argue for itself.</a:t>
            </a:r>
          </a:p>
        </p:txBody>
      </p:sp>
      <p:sp>
        <p:nvSpPr>
          <p:cNvPr id="12" name="Rectangle 11"/>
          <p:cNvSpPr/>
          <p:nvPr/>
        </p:nvSpPr>
        <p:spPr>
          <a:xfrm>
            <a:off x="7037694" y="4617720"/>
            <a:ext cx="914400" cy="31750"/>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37694" y="4864608"/>
            <a:ext cx="4313027" cy="457200"/>
          </a:xfrm>
          <a:prstGeom prst="rect">
            <a:avLst/>
          </a:prstGeom>
          <a:noFill/>
        </p:spPr>
        <p:txBody>
          <a:bodyPr wrap="square" anchor="t" lIns="0" rIns="0" tIns="0" bIns="0">
            <a:spAutoFit/>
          </a:bodyPr>
          <a:lstStyle/>
          <a:p>
            <a:pPr algn="l">
              <a:lnSpc>
                <a:spcPct val="135000"/>
              </a:lnSpc>
            </a:pPr>
            <a:r>
              <a:rPr sz="950" b="0" i="0">
                <a:solidFill>
                  <a:srgbClr val="565C63"/>
                </a:solidFill>
                <a:latin typeface="Arial"/>
              </a:rPr>
              <a:t>Caption the image: what it shows and where it came from.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11417"/>
        </a:solidFill>
        <a:effectLst/>
      </p:bgPr>
    </p:bg>
    <p:spTree>
      <p:nvGrpSpPr>
        <p:cNvPr id="1" name=""/>
        <p:cNvGrpSpPr/>
        <p:nvPr/>
      </p:nvGrpSpPr>
      <p:grpSpPr/>
      <p:sp>
        <p:nvSpPr>
          <p:cNvPr id="2" name="Rectangle 1"/>
          <p:cNvSpPr/>
          <p:nvPr/>
        </p:nvSpPr>
        <p:spPr>
          <a:xfrm>
            <a:off x="0" y="6547104"/>
            <a:ext cx="12191969" cy="310896"/>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286000"/>
            <a:ext cx="8680673" cy="2194560"/>
          </a:xfrm>
          <a:prstGeom prst="rect">
            <a:avLst/>
          </a:prstGeom>
          <a:noFill/>
        </p:spPr>
        <p:txBody>
          <a:bodyPr wrap="square" anchor="t" lIns="0" rIns="0" tIns="0" bIns="0">
            <a:spAutoFit/>
          </a:bodyPr>
          <a:lstStyle/>
          <a:p>
            <a:pPr algn="l">
              <a:lnSpc>
                <a:spcPct val="95000"/>
              </a:lnSpc>
              <a:spcAft>
                <a:spcPts val="600"/>
              </a:spcAft>
            </a:pPr>
            <a:r>
              <a:rPr sz="8400" b="1" i="0">
                <a:solidFill>
                  <a:srgbClr val="0F7B4F"/>
                </a:solidFill>
                <a:latin typeface="Arial"/>
              </a:rPr>
              <a:t>03</a:t>
            </a:r>
          </a:p>
          <a:p>
            <a:pPr>
              <a:lnSpc>
                <a:spcPct val="115000"/>
              </a:lnSpc>
              <a:spcAft>
                <a:spcPts val="1200"/>
              </a:spcAft>
            </a:pPr>
            <a:r>
              <a:rPr sz="3700" b="1" i="0" spc="-60">
                <a:solidFill>
                  <a:srgbClr val="FFFFFF"/>
                </a:solidFill>
                <a:latin typeface="Arial"/>
              </a:rPr>
              <a:t>LAUNCH WEEK</a:t>
            </a:r>
          </a:p>
          <a:p>
            <a:pPr>
              <a:lnSpc>
                <a:spcPct val="135000"/>
              </a:lnSpc>
            </a:pPr>
            <a:r>
              <a:rPr sz="1500" b="0" i="0">
                <a:solidFill>
                  <a:srgbClr val="FFFFFF"/>
                </a:solidFill>
                <a:latin typeface="Arial"/>
              </a:rPr>
              <a:t>Hour by hour, with names attached.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1F1F1"/>
        </a:solidFill>
        <a:effectLst/>
      </p:bgPr>
    </p:bg>
    <p:spTree>
      <p:nvGrpSpPr>
        <p:cNvPr id="1" name=""/>
        <p:cNvGrpSpPr/>
        <p:nvPr/>
      </p:nvGrpSpPr>
      <p:grpSpPr/>
      <p:sp>
        <p:nvSpPr>
          <p:cNvPr id="2" name="Rectangle 1"/>
          <p:cNvSpPr/>
          <p:nvPr/>
        </p:nvSpPr>
        <p:spPr>
          <a:xfrm>
            <a:off x="0" y="0"/>
            <a:ext cx="310896" cy="6858000"/>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15568" y="1463040"/>
            <a:ext cx="1097280" cy="1143000"/>
          </a:xfrm>
          <a:prstGeom prst="rect">
            <a:avLst/>
          </a:prstGeom>
          <a:noFill/>
        </p:spPr>
        <p:txBody>
          <a:bodyPr wrap="square" anchor="t" lIns="0" rIns="0" tIns="0" bIns="0">
            <a:spAutoFit/>
          </a:bodyPr>
          <a:lstStyle/>
          <a:p>
            <a:pPr algn="l">
              <a:lnSpc>
                <a:spcPct val="90000"/>
              </a:lnSpc>
            </a:pPr>
            <a:r>
              <a:rPr sz="8400" b="1" i="0">
                <a:solidFill>
                  <a:srgbClr val="4B9C7B"/>
                </a:solidFill>
                <a:latin typeface="Arial"/>
              </a:rPr>
              <a:t>“</a:t>
            </a:r>
          </a:p>
        </p:txBody>
      </p:sp>
      <p:sp>
        <p:nvSpPr>
          <p:cNvPr id="4" name="TextBox 3"/>
          <p:cNvSpPr txBox="1"/>
          <p:nvPr/>
        </p:nvSpPr>
        <p:spPr>
          <a:xfrm>
            <a:off x="1115568" y="2697480"/>
            <a:ext cx="9046433" cy="2377440"/>
          </a:xfrm>
          <a:prstGeom prst="rect">
            <a:avLst/>
          </a:prstGeom>
          <a:noFill/>
        </p:spPr>
        <p:txBody>
          <a:bodyPr wrap="square" anchor="t" lIns="0" rIns="0" tIns="0" bIns="0">
            <a:spAutoFit/>
          </a:bodyPr>
          <a:lstStyle/>
          <a:p>
            <a:pPr algn="l">
              <a:lnSpc>
                <a:spcPct val="128000"/>
              </a:lnSpc>
              <a:spcAft>
                <a:spcPts val="2200"/>
              </a:spcAft>
            </a:pPr>
            <a:r>
              <a:rPr sz="2900" b="0" i="0">
                <a:solidFill>
                  <a:srgbClr val="111417"/>
                </a:solidFill>
                <a:latin typeface="Arial"/>
              </a:rPr>
              <a:t>It took four clicks and a support ticket. Now it takes one and no ticket.</a:t>
            </a:r>
          </a:p>
          <a:p>
            <a:pPr>
              <a:lnSpc>
                <a:spcPct val="115000"/>
              </a:lnSpc>
            </a:pPr>
            <a:r>
              <a:rPr sz="1050" b="1" i="0" spc="180">
                <a:solidFill>
                  <a:srgbClr val="565C63"/>
                </a:solidFill>
                <a:latin typeface="Arial"/>
              </a:rPr>
              <a:t>BETA ACCOUNT, WEEK THREE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11417"/>
        </a:solidFill>
        <a:effectLst/>
      </p:bgPr>
    </p:bg>
    <p:spTree>
      <p:nvGrpSpPr>
        <p:cNvPr id="1" name=""/>
        <p:cNvGrpSpPr/>
        <p:nvPr/>
      </p:nvGrpSpPr>
      <p:grpSpPr/>
      <p:sp>
        <p:nvSpPr>
          <p:cNvPr id="2" name="Rectangle 1"/>
          <p:cNvSpPr/>
          <p:nvPr/>
        </p:nvSpPr>
        <p:spPr>
          <a:xfrm>
            <a:off x="0" y="0"/>
            <a:ext cx="12191969" cy="310896"/>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841248" y="2331720"/>
            <a:ext cx="6936252" cy="2194560"/>
          </a:xfrm>
          <a:prstGeom prst="rect">
            <a:avLst/>
          </a:prstGeom>
          <a:noFill/>
        </p:spPr>
        <p:txBody>
          <a:bodyPr wrap="square" anchor="t" lIns="0" rIns="0" tIns="0" bIns="0">
            <a:spAutoFit/>
          </a:bodyPr>
          <a:lstStyle/>
          <a:p>
            <a:pPr algn="l">
              <a:lnSpc>
                <a:spcPct val="105000"/>
              </a:lnSpc>
              <a:spcAft>
                <a:spcPts val="1400"/>
              </a:spcAft>
            </a:pPr>
            <a:r>
              <a:rPr sz="5000" b="1" i="0" spc="-60">
                <a:solidFill>
                  <a:srgbClr val="FFFFFF"/>
                </a:solidFill>
                <a:latin typeface="Arial"/>
              </a:rPr>
              <a:t>GO OR NO-GO</a:t>
            </a:r>
          </a:p>
          <a:p>
            <a:pPr>
              <a:lnSpc>
                <a:spcPct val="140000"/>
              </a:lnSpc>
            </a:pPr>
            <a:r>
              <a:rPr sz="1500" b="0" i="0">
                <a:solidFill>
                  <a:srgbClr val="FFFFFF"/>
                </a:solidFill>
                <a:latin typeface="Arial"/>
              </a:rPr>
              <a:t>State the decision you need, the time you need it by, and who says yes.</a:t>
            </a:r>
          </a:p>
        </p:txBody>
      </p:sp>
      <p:sp>
        <p:nvSpPr>
          <p:cNvPr id="4" name="TextBox 3"/>
          <p:cNvSpPr txBox="1"/>
          <p:nvPr/>
        </p:nvSpPr>
        <p:spPr>
          <a:xfrm>
            <a:off x="841248" y="5349240"/>
            <a:ext cx="10509473" cy="822960"/>
          </a:xfrm>
          <a:prstGeom prst="rect">
            <a:avLst/>
          </a:prstGeom>
          <a:noFill/>
        </p:spPr>
        <p:txBody>
          <a:bodyPr wrap="square" anchor="t" lIns="0" rIns="0" tIns="0" bIns="0">
            <a:spAutoFit/>
          </a:bodyPr>
          <a:lstStyle/>
          <a:p>
            <a:pPr algn="l">
              <a:lnSpc>
                <a:spcPct val="115000"/>
              </a:lnSpc>
            </a:pPr>
            <a:r>
              <a:rPr sz="950" b="0" i="0" spc="200">
                <a:solidFill>
                  <a:srgbClr val="FFFFFF"/>
                </a:solidFill>
                <a:latin typeface="Arial"/>
              </a:rPr>
              <a:t>YOUR.NAME@EXAMPLE.COM · +00 000 0000 · EXAMPLE.COM</a:t>
            </a:r>
          </a:p>
        </p:txBody>
      </p:sp>
      <p:sp>
        <p:nvSpPr>
          <p:cNvPr id="5" name="Rectangle 4"/>
          <p:cNvSpPr/>
          <p:nvPr/>
        </p:nvSpPr>
        <p:spPr>
          <a:xfrm>
            <a:off x="841248" y="5257800"/>
            <a:ext cx="1280160" cy="31750"/>
          </a:xfrm>
          <a:prstGeom prst="rect">
            <a:avLst/>
          </a:prstGeom>
          <a:solidFill>
            <a:srgbClr val="0F7B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theme/theme1.xml><?xml version="1.0" encoding="utf-8"?>
<a:theme xmlns:a="http://schemas.openxmlformats.org/drawingml/2006/main" name="Office Theme">
  <a:themeElements>
    <a:clrScheme name="Office">
      <a:dk1>
        <a:srgbClr val="111417"/>
      </a:dk1>
      <a:lt1>
        <a:srgbClr val="FFFFFF"/>
      </a:lt1>
      <a:dk2>
        <a:srgbClr val="111417"/>
      </a:dk2>
      <a:lt2>
        <a:srgbClr val="F2F3F4"/>
      </a:lt2>
      <a:accent1>
        <a:srgbClr val="0F7B4F"/>
      </a:accent1>
      <a:accent2>
        <a:srgbClr val="63A98D"/>
      </a:accent2>
      <a:accent3>
        <a:srgbClr val="111417"/>
      </a:accent3>
      <a:accent4>
        <a:srgbClr val="565C63"/>
      </a:accent4>
      <a:accent5>
        <a:srgbClr val="A0A1A2"/>
      </a:accent5>
      <a:accent6>
        <a:srgbClr val="D8DBDE"/>
      </a:accent6>
      <a:hlink>
        <a:srgbClr val="0F7B4F"/>
      </a:hlink>
      <a:folHlink>
        <a:srgbClr val="565C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Kinetic — CubeOffice template</dc:title>
  <dc:subject>Product launch</dc:subject>
  <dc:creator>CubeOffice</dc:creator>
  <cp:keywords>CubeOffice, template, product launch, en</cp:keywords>
  <dc:description>CubeOffice original template. Free to use, edit and redistribute, with or without attribution, for personal and commercial work.</dc:description>
  <cp:lastModifiedBy>CubeOffice</cp:lastModifiedBy>
  <cp:revision>1</cp:revision>
  <dcterms:created xsi:type="dcterms:W3CDTF">2026-01-01T00:00:00Z</dcterms:created>
  <dcterms:modified xsi:type="dcterms:W3CDTF">2026-01-01T00:00:00Z</dcterms:modified>
  <cp:category>Product launch</cp:category>
</cp:coreProperties>
</file>