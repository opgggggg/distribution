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0"/>
            <a:ext cx="1463040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8077169" y="-548640"/>
            <a:ext cx="2194560" cy="7955279"/>
          </a:xfrm>
          <a:prstGeom prst="parallelogram">
            <a:avLst>
              <a:gd name="adj" fmla="val 34000"/>
            </a:avLst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9311609" y="-548640"/>
            <a:ext cx="2194560" cy="7955279"/>
          </a:xfrm>
          <a:prstGeom prst="parallelogram">
            <a:avLst>
              <a:gd name="adj" fmla="val 34000"/>
            </a:avLst>
          </a:prstGeom>
          <a:solidFill>
            <a:srgbClr val="7BB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546049" y="-548640"/>
            <a:ext cx="2194560" cy="7955279"/>
          </a:xfrm>
          <a:prstGeom prst="parallelogram">
            <a:avLst>
              <a:gd name="adj" fmla="val 34000"/>
            </a:avLst>
          </a:prstGeom>
          <a:solidFill>
            <a:srgbClr val="BCD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084831"/>
            <a:ext cx="676656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950" b="1" i="0" spc="240">
                <a:solidFill>
                  <a:srgbClr val="FFFFFF"/>
                </a:solidFill>
                <a:latin typeface="Arial"/>
              </a:rPr>
              <a:t>产品发布 · 2.0 版</a:t>
            </a:r>
          </a:p>
          <a:p>
            <a:pPr>
              <a:lnSpc>
                <a:spcPct val="102000"/>
              </a:lnSpc>
              <a:spcAft>
                <a:spcPts val="1600"/>
              </a:spcAft>
            </a:pPr>
            <a:r>
              <a:rPr sz="5800" b="1" i="0" spc="-60">
                <a:solidFill>
                  <a:srgbClr val="FFFFFF"/>
                </a:solidFill>
                <a:latin typeface="Arial"/>
              </a:rPr>
              <a:t>大声发布</a:t>
            </a:r>
          </a:p>
          <a:p>
            <a:pPr>
              <a:lnSpc>
                <a:spcPct val="135000"/>
              </a:lnSpc>
            </a:pPr>
            <a:r>
              <a:rPr sz="1500" b="0" i="0">
                <a:solidFill>
                  <a:srgbClr val="FFFFFF"/>
                </a:solidFill>
                <a:latin typeface="Arial"/>
              </a:rPr>
              <a:t>改了什么、为谁而改，以及第一天怎么把话说出去。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687568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 spc="180">
                <a:solidFill>
                  <a:srgbClr val="FFFFFF"/>
                </a:solidFill>
                <a:latin typeface="Arial"/>
              </a:rPr>
              <a:t>团队名称 · 组织名称 · 2026 年 X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841248" y="850392"/>
            <a:ext cx="566928" cy="146304"/>
          </a:xfrm>
          <a:prstGeom prst="parallelogram">
            <a:avLst>
              <a:gd name="adj" fmla="val 50000"/>
            </a:avLst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 i="0" spc="-60">
                <a:solidFill>
                  <a:srgbClr val="111417"/>
                </a:solidFill>
                <a:latin typeface="Arial"/>
              </a:rPr>
              <a:t>本次内容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176272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368" b="1" i="0">
                <a:solidFill>
                  <a:srgbClr val="0F7B4F"/>
                </a:solidFill>
                <a:latin typeface="Arial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035808"/>
            <a:ext cx="4843256" cy="9525"/>
          </a:xfrm>
          <a:prstGeom prst="rect">
            <a:avLst/>
          </a:prstGeom>
          <a:solidFill>
            <a:srgbClr val="D8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55648" y="2139696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11417"/>
                </a:solidFill>
                <a:latin typeface="Arial"/>
              </a:rPr>
              <a:t>这一版</a:t>
            </a:r>
          </a:p>
          <a:p>
            <a:pPr>
              <a:lnSpc>
                <a:spcPct val="130000"/>
              </a:lnSpc>
            </a:pPr>
            <a:r>
              <a:rPr sz="950" b="0" i="0">
                <a:solidFill>
                  <a:srgbClr val="565C63"/>
                </a:solidFill>
                <a:latin typeface="Arial"/>
              </a:rPr>
              <a:t>盒子里到底装了什么。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383280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368" b="1" i="0">
                <a:solidFill>
                  <a:srgbClr val="0F7B4F"/>
                </a:solidFill>
                <a:latin typeface="Arial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242816"/>
            <a:ext cx="4843256" cy="9525"/>
          </a:xfrm>
          <a:prstGeom prst="rect">
            <a:avLst/>
          </a:prstGeom>
          <a:solidFill>
            <a:srgbClr val="D8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755648" y="3346704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11417"/>
                </a:solidFill>
                <a:latin typeface="Arial"/>
              </a:rPr>
              <a:t>给谁用</a:t>
            </a:r>
          </a:p>
          <a:p>
            <a:pPr>
              <a:lnSpc>
                <a:spcPct val="130000"/>
              </a:lnSpc>
            </a:pPr>
            <a:r>
              <a:rPr sz="950" b="0" i="0">
                <a:solidFill>
                  <a:srgbClr val="565C63"/>
                </a:solidFill>
                <a:latin typeface="Arial"/>
              </a:rPr>
              <a:t>谁的一天会因此不同。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590288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368" b="1" i="0">
                <a:solidFill>
                  <a:srgbClr val="0F7B4F"/>
                </a:solidFill>
                <a:latin typeface="Arial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5449823"/>
            <a:ext cx="4843256" cy="9525"/>
          </a:xfrm>
          <a:prstGeom prst="rect">
            <a:avLst/>
          </a:prstGeom>
          <a:solidFill>
            <a:srgbClr val="D8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755648" y="4553712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11417"/>
                </a:solidFill>
                <a:latin typeface="Arial"/>
              </a:rPr>
              <a:t>一句话</a:t>
            </a:r>
          </a:p>
          <a:p>
            <a:pPr>
              <a:lnSpc>
                <a:spcPct val="130000"/>
              </a:lnSpc>
            </a:pPr>
            <a:r>
              <a:rPr sz="950" b="0" i="0">
                <a:solidFill>
                  <a:srgbClr val="565C63"/>
                </a:solidFill>
                <a:latin typeface="Arial"/>
              </a:rPr>
              <a:t>一句话讲完，不用形容词。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464" y="2176272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368" b="1" i="0">
                <a:solidFill>
                  <a:srgbClr val="0F7B4F"/>
                </a:solidFill>
                <a:latin typeface="Arial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07464" y="3035808"/>
            <a:ext cx="4843256" cy="9525"/>
          </a:xfrm>
          <a:prstGeom prst="rect">
            <a:avLst/>
          </a:prstGeom>
          <a:solidFill>
            <a:srgbClr val="D8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21864" y="2139696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11417"/>
                </a:solidFill>
                <a:latin typeface="Arial"/>
              </a:rPr>
              <a:t>证据</a:t>
            </a:r>
          </a:p>
          <a:p>
            <a:pPr>
              <a:lnSpc>
                <a:spcPct val="130000"/>
              </a:lnSpc>
            </a:pPr>
            <a:r>
              <a:rPr sz="950" b="0" i="0">
                <a:solidFill>
                  <a:srgbClr val="565C63"/>
                </a:solidFill>
                <a:latin typeface="Arial"/>
              </a:rPr>
              <a:t>演示，以及背后的数字。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464" y="3383280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368" b="1" i="0">
                <a:solidFill>
                  <a:srgbClr val="0F7B4F"/>
                </a:solidFill>
                <a:latin typeface="Arial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07464" y="4242816"/>
            <a:ext cx="4843256" cy="9525"/>
          </a:xfrm>
          <a:prstGeom prst="rect">
            <a:avLst/>
          </a:prstGeom>
          <a:solidFill>
            <a:srgbClr val="D8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21864" y="3346704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11417"/>
                </a:solidFill>
                <a:latin typeface="Arial"/>
              </a:rPr>
              <a:t>发布周</a:t>
            </a:r>
          </a:p>
          <a:p>
            <a:pPr>
              <a:lnSpc>
                <a:spcPct val="130000"/>
              </a:lnSpc>
            </a:pPr>
            <a:r>
              <a:rPr sz="950" b="0" i="0">
                <a:solidFill>
                  <a:srgbClr val="565C63"/>
                </a:solidFill>
                <a:latin typeface="Arial"/>
              </a:rPr>
              <a:t>顺序、负责人、依赖项。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464" y="4590288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368" b="1" i="0">
                <a:solidFill>
                  <a:srgbClr val="0F7B4F"/>
                </a:solidFill>
                <a:latin typeface="Arial"/>
              </a:rPr>
              <a:t>06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07464" y="5449823"/>
            <a:ext cx="4843256" cy="9525"/>
          </a:xfrm>
          <a:prstGeom prst="rect">
            <a:avLst/>
          </a:prstGeom>
          <a:solidFill>
            <a:srgbClr val="D8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421864" y="4553712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11417"/>
                </a:solidFill>
                <a:latin typeface="Arial"/>
              </a:rPr>
              <a:t>发布之后</a:t>
            </a:r>
          </a:p>
          <a:p>
            <a:pPr>
              <a:lnSpc>
                <a:spcPct val="130000"/>
              </a:lnSpc>
            </a:pPr>
            <a:r>
              <a:rPr sz="950" b="0" i="0">
                <a:solidFill>
                  <a:srgbClr val="565C63"/>
                </a:solidFill>
                <a:latin typeface="Arial"/>
              </a:rPr>
              <a:t>我们盯什么，出问题怎么办。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47104"/>
            <a:ext cx="12191969" cy="310896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286000"/>
            <a:ext cx="868067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8400" b="1" i="0">
                <a:solidFill>
                  <a:srgbClr val="0F7B4F"/>
                </a:solidFill>
                <a:latin typeface="Arial"/>
              </a:rPr>
              <a:t>01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700" b="1" i="0" spc="-60">
                <a:solidFill>
                  <a:srgbClr val="FFFFFF"/>
                </a:solidFill>
                <a:latin typeface="Arial"/>
              </a:rPr>
              <a:t>这一版</a:t>
            </a:r>
          </a:p>
          <a:p>
            <a:pPr>
              <a:lnSpc>
                <a:spcPct val="135000"/>
              </a:lnSpc>
            </a:pPr>
            <a:r>
              <a:rPr sz="1500" b="0" i="0">
                <a:solidFill>
                  <a:srgbClr val="FFFFFF"/>
                </a:solidFill>
                <a:latin typeface="Arial"/>
              </a:rPr>
              <a:t>所有要发的，以及所有刻意压后的。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841248" y="850392"/>
            <a:ext cx="566928" cy="146304"/>
          </a:xfrm>
          <a:prstGeom prst="parallelogram">
            <a:avLst>
              <a:gd name="adj" fmla="val 50000"/>
            </a:avLst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20">
                <a:solidFill>
                  <a:srgbClr val="0F7B4F"/>
                </a:solidFill>
                <a:latin typeface="Arial"/>
              </a:rPr>
              <a:t>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 i="0" spc="-60">
                <a:solidFill>
                  <a:srgbClr val="111417"/>
                </a:solidFill>
                <a:latin typeface="Arial"/>
              </a:rPr>
              <a:t>一句话，不要形容词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560320"/>
            <a:ext cx="4834357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111417"/>
                </a:solidFill>
                <a:latin typeface="Arial"/>
              </a:rPr>
              <a:t>写下你希望别人原样转述的那句话。它要点明用户、场景和改变，而且念出声来仍然成立。如果需要第二句才讲得通，说明还没写好。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95645" y="2615184"/>
            <a:ext cx="9525" cy="2606040"/>
          </a:xfrm>
          <a:prstGeom prst="rect">
            <a:avLst/>
          </a:prstGeom>
          <a:solidFill>
            <a:srgbClr val="D8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7125" y="2560320"/>
            <a:ext cx="494359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7B4F"/>
                </a:solidFill>
                <a:latin typeface="Arial"/>
              </a:rPr>
              <a:t>—  </a:t>
            </a:r>
            <a:r>
              <a:rPr sz="1300">
                <a:solidFill>
                  <a:srgbClr val="565C63"/>
                </a:solidFill>
                <a:latin typeface="Arial"/>
              </a:rPr>
              <a:t>给谁：具体的那个用户，不是“市场”。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300" b="1">
                <a:solidFill>
                  <a:srgbClr val="0F7B4F"/>
                </a:solidFill>
                <a:latin typeface="Arial"/>
              </a:rPr>
              <a:t>—  </a:t>
            </a:r>
            <a:r>
              <a:rPr sz="1300">
                <a:solidFill>
                  <a:srgbClr val="565C63"/>
                </a:solidFill>
                <a:latin typeface="Arial"/>
              </a:rPr>
              <a:t>替代什么：他们从此不用再做的事。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300" b="1">
                <a:solidFill>
                  <a:srgbClr val="0F7B4F"/>
                </a:solidFill>
                <a:latin typeface="Arial"/>
              </a:rPr>
              <a:t>—  </a:t>
            </a:r>
            <a:r>
              <a:rPr sz="1300">
                <a:solidFill>
                  <a:srgbClr val="565C63"/>
                </a:solidFill>
                <a:latin typeface="Arial"/>
              </a:rPr>
              <a:t>为了什么：这周五就能量到的结果。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300" b="1">
                <a:solidFill>
                  <a:srgbClr val="0F7B4F"/>
                </a:solidFill>
                <a:latin typeface="Arial"/>
              </a:rPr>
              <a:t>—  </a:t>
            </a:r>
            <a:r>
              <a:rPr sz="1300">
                <a:solidFill>
                  <a:srgbClr val="565C63"/>
                </a:solidFill>
                <a:latin typeface="Arial"/>
              </a:rPr>
              <a:t>凭什么：一个数字或一次演示就能定音。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841248" y="850392"/>
            <a:ext cx="566928" cy="146304"/>
          </a:xfrm>
          <a:prstGeom prst="parallelogram">
            <a:avLst>
              <a:gd name="adj" fmla="val 50000"/>
            </a:avLst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20">
                <a:solidFill>
                  <a:srgbClr val="0F7B4F"/>
                </a:solidFill>
                <a:latin typeface="Arial"/>
              </a:rPr>
              <a:t>发了什么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 i="0" spc="-60">
                <a:solidFill>
                  <a:srgbClr val="111417"/>
                </a:solidFill>
                <a:latin typeface="Arial"/>
              </a:rPr>
              <a:t>三件要紧的事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560320"/>
            <a:ext cx="3247125" cy="2788920"/>
          </a:xfrm>
          <a:prstGeom prst="rect">
            <a:avLst/>
          </a:prstGeom>
          <a:solidFill>
            <a:srgbClr val="F2F3F4"/>
          </a:solidFill>
          <a:ln w="9525">
            <a:solidFill>
              <a:srgbClr val="D8DB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41248" y="256032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841248" y="2560320"/>
            <a:ext cx="3247125" cy="50292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316736" y="3218687"/>
            <a:ext cx="2296149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950" b="1" i="0" spc="160">
                <a:solidFill>
                  <a:srgbClr val="0F7B4F"/>
                </a:solidFill>
                <a:latin typeface="Arial"/>
              </a:rPr>
              <a:t>01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11417"/>
                </a:solidFill>
                <a:latin typeface="Arial"/>
              </a:rPr>
              <a:t>更快</a:t>
            </a:r>
          </a:p>
          <a:p>
            <a:pPr>
              <a:lnSpc>
                <a:spcPct val="140000"/>
              </a:lnSpc>
            </a:pPr>
            <a:r>
              <a:rPr sz="1000" b="0" i="0">
                <a:solidFill>
                  <a:srgbClr val="565C63"/>
                </a:solidFill>
                <a:latin typeface="Arial"/>
              </a:rPr>
              <a:t>原来六步的路径，现在两步。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472421" y="2560320"/>
            <a:ext cx="3247125" cy="2788920"/>
          </a:xfrm>
          <a:prstGeom prst="rect">
            <a:avLst/>
          </a:prstGeom>
          <a:solidFill>
            <a:srgbClr val="F2F3F4"/>
          </a:solidFill>
          <a:ln w="9525">
            <a:solidFill>
              <a:srgbClr val="D8DB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472421" y="256032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472421" y="2560320"/>
            <a:ext cx="3247125" cy="50292"/>
          </a:xfrm>
          <a:prstGeom prst="rect">
            <a:avLst/>
          </a:prstGeom>
          <a:solidFill>
            <a:srgbClr val="93C4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947909" y="3218687"/>
            <a:ext cx="2296149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950" b="1" i="0" spc="160">
                <a:solidFill>
                  <a:srgbClr val="0F7B4F"/>
                </a:solidFill>
                <a:latin typeface="Arial"/>
              </a:rPr>
              <a:t>02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11417"/>
                </a:solidFill>
                <a:latin typeface="Arial"/>
              </a:rPr>
              <a:t>更清楚</a:t>
            </a:r>
          </a:p>
          <a:p>
            <a:pPr>
              <a:lnSpc>
                <a:spcPct val="140000"/>
              </a:lnSpc>
            </a:pPr>
            <a:r>
              <a:rPr sz="1000" b="0" i="0">
                <a:solidFill>
                  <a:srgbClr val="565C63"/>
                </a:solidFill>
                <a:latin typeface="Arial"/>
              </a:rPr>
              <a:t>状态集中在一处，不用刷新。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3595" y="2560320"/>
            <a:ext cx="3247125" cy="2788920"/>
          </a:xfrm>
          <a:prstGeom prst="rect">
            <a:avLst/>
          </a:prstGeom>
          <a:solidFill>
            <a:srgbClr val="F2F3F4"/>
          </a:solidFill>
          <a:ln w="9525">
            <a:solidFill>
              <a:srgbClr val="D8DB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103595" y="256032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103595" y="2560320"/>
            <a:ext cx="3247125" cy="50292"/>
          </a:xfrm>
          <a:prstGeom prst="rect">
            <a:avLst/>
          </a:prstGeom>
          <a:solidFill>
            <a:srgbClr val="93C4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579083" y="3218687"/>
            <a:ext cx="2296149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950" b="1" i="0" spc="160">
                <a:solidFill>
                  <a:srgbClr val="0F7B4F"/>
                </a:solidFill>
                <a:latin typeface="Arial"/>
              </a:rPr>
              <a:t>03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11417"/>
                </a:solidFill>
                <a:latin typeface="Arial"/>
              </a:rPr>
              <a:t>更稳</a:t>
            </a:r>
          </a:p>
          <a:p>
            <a:pPr>
              <a:lnSpc>
                <a:spcPct val="140000"/>
              </a:lnSpc>
            </a:pPr>
            <a:r>
              <a:rPr sz="1000" b="0" i="0">
                <a:solidFill>
                  <a:srgbClr val="565C63"/>
                </a:solidFill>
                <a:latin typeface="Arial"/>
              </a:rPr>
              <a:t>处处可撤销，包括以前一按就无法回头的地方。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841248" y="850392"/>
            <a:ext cx="566928" cy="146304"/>
          </a:xfrm>
          <a:prstGeom prst="parallelogram">
            <a:avLst>
              <a:gd name="adj" fmla="val 50000"/>
            </a:avLst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20">
                <a:solidFill>
                  <a:srgbClr val="0F7B4F"/>
                </a:solidFill>
                <a:latin typeface="Arial"/>
              </a:rPr>
              <a:t>就绪度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 i="0" spc="-60">
                <a:solidFill>
                  <a:srgbClr val="111417"/>
                </a:solidFill>
                <a:latin typeface="Arial"/>
              </a:rPr>
              <a:t>目前的状态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800" b="1" i="0">
                <a:solidFill>
                  <a:srgbClr val="0F7B4F"/>
                </a:solidFill>
                <a:latin typeface="Arial"/>
              </a:rPr>
              <a:t>2.0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1" i="0">
                <a:solidFill>
                  <a:srgbClr val="111417"/>
                </a:solidFill>
                <a:latin typeface="Arial"/>
              </a:rPr>
              <a:t>版本号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65C63"/>
                </a:solidFill>
                <a:latin typeface="Arial"/>
              </a:rPr>
              <a:t>功能已冻结。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194296" y="2697479"/>
            <a:ext cx="9525" cy="1783080"/>
          </a:xfrm>
          <a:prstGeom prst="rect">
            <a:avLst/>
          </a:prstGeom>
          <a:solidFill>
            <a:srgbClr val="D8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468616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800" b="1" i="0">
                <a:solidFill>
                  <a:srgbClr val="111417"/>
                </a:solidFill>
                <a:latin typeface="Arial"/>
              </a:rPr>
              <a:t>94%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1" i="0">
                <a:solidFill>
                  <a:srgbClr val="111417"/>
                </a:solidFill>
                <a:latin typeface="Arial"/>
              </a:rPr>
              <a:t>测试通过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65C63"/>
                </a:solidFill>
                <a:latin typeface="Arial"/>
              </a:rPr>
              <a:t>剩余失败项已归为已知问题。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821664" y="2697479"/>
            <a:ext cx="9525" cy="1783080"/>
          </a:xfrm>
          <a:prstGeom prst="rect">
            <a:avLst/>
          </a:prstGeom>
          <a:solidFill>
            <a:srgbClr val="D8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095984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800" b="1" i="0">
                <a:solidFill>
                  <a:srgbClr val="111417"/>
                </a:solidFill>
                <a:latin typeface="Arial"/>
              </a:rPr>
              <a:t>31 个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1" i="0">
                <a:solidFill>
                  <a:srgbClr val="111417"/>
                </a:solidFill>
                <a:latin typeface="Arial"/>
              </a:rPr>
              <a:t>内测账号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65C63"/>
                </a:solidFill>
                <a:latin typeface="Arial"/>
              </a:rPr>
              <a:t>连续四周每日使用。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49033" y="2697479"/>
            <a:ext cx="9525" cy="1783080"/>
          </a:xfrm>
          <a:prstGeom prst="rect">
            <a:avLst/>
          </a:prstGeom>
          <a:solidFill>
            <a:srgbClr val="D8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23353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800" b="1" i="0">
                <a:solidFill>
                  <a:srgbClr val="111417"/>
                </a:solidFill>
                <a:latin typeface="Arial"/>
              </a:rPr>
              <a:t>0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1" i="0">
                <a:solidFill>
                  <a:srgbClr val="111417"/>
                </a:solidFill>
                <a:latin typeface="Arial"/>
              </a:rPr>
              <a:t>阻塞项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65C63"/>
                </a:solidFill>
                <a:latin typeface="Arial"/>
              </a:rPr>
              <a:t>今早已过一遍清单。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892040"/>
            <a:ext cx="10509473" cy="914400"/>
          </a:xfrm>
          <a:prstGeom prst="rect">
            <a:avLst/>
          </a:prstGeom>
          <a:solidFill>
            <a:srgbClr val="DD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98448" y="5111496"/>
            <a:ext cx="9595073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11417"/>
                </a:solidFill>
                <a:latin typeface="Arial"/>
              </a:rPr>
              <a:t>这一页要在发布当天早上更新，而不是提前一周。过时的就绪度比没有更糟。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47104"/>
            <a:ext cx="12191969" cy="310896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286000"/>
            <a:ext cx="868067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8400" b="1" i="0">
                <a:solidFill>
                  <a:srgbClr val="0F7B4F"/>
                </a:solidFill>
                <a:latin typeface="Arial"/>
              </a:rPr>
              <a:t>02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700" b="1" i="0" spc="-60">
                <a:solidFill>
                  <a:srgbClr val="FFFFFF"/>
                </a:solidFill>
                <a:latin typeface="Arial"/>
              </a:rPr>
              <a:t>怎么讲</a:t>
            </a:r>
          </a:p>
          <a:p>
            <a:pPr>
              <a:lnSpc>
                <a:spcPct val="135000"/>
              </a:lnSpc>
            </a:pPr>
            <a:r>
              <a:rPr sz="1500" b="0" i="0">
                <a:solidFill>
                  <a:srgbClr val="FFFFFF"/>
                </a:solidFill>
                <a:latin typeface="Arial"/>
              </a:rPr>
              <a:t>怎么说才能让人看一遍就懂。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841248" y="850392"/>
            <a:ext cx="566928" cy="146304"/>
          </a:xfrm>
          <a:prstGeom prst="parallelogram">
            <a:avLst>
              <a:gd name="adj" fmla="val 50000"/>
            </a:avLst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20">
                <a:solidFill>
                  <a:srgbClr val="0F7B4F"/>
                </a:solidFill>
                <a:latin typeface="Arial"/>
              </a:rPr>
              <a:t>发布周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 i="0" spc="-60">
                <a:solidFill>
                  <a:srgbClr val="111417"/>
                </a:solidFill>
                <a:latin typeface="Arial"/>
              </a:rPr>
              <a:t>顺序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611879"/>
            <a:ext cx="10509473" cy="19050"/>
          </a:xfrm>
          <a:prstGeom prst="rect">
            <a:avLst/>
          </a:prstGeom>
          <a:solidFill>
            <a:srgbClr val="D8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63524" y="3543299"/>
            <a:ext cx="173736" cy="173736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60">
                <a:solidFill>
                  <a:srgbClr val="0F7B4F"/>
                </a:solidFill>
                <a:latin typeface="Arial"/>
              </a:rPr>
              <a:t>周一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111417"/>
                </a:solidFill>
                <a:latin typeface="Arial"/>
              </a:rPr>
              <a:t>冻结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65C63"/>
                </a:solidFill>
                <a:latin typeface="Arial"/>
              </a:rPr>
              <a:t>打包出版本、写好说明，不再合并代码。</a:t>
            </a:r>
          </a:p>
        </p:txBody>
      </p:sp>
      <p:sp>
        <p:nvSpPr>
          <p:cNvPr id="9" name="Oval 8"/>
          <p:cNvSpPr/>
          <p:nvPr/>
        </p:nvSpPr>
        <p:spPr>
          <a:xfrm>
            <a:off x="2865418" y="3543299"/>
            <a:ext cx="173736" cy="173736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3142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60">
                <a:solidFill>
                  <a:srgbClr val="0F7B4F"/>
                </a:solidFill>
                <a:latin typeface="Arial"/>
              </a:rPr>
              <a:t>周二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3142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111417"/>
                </a:solidFill>
                <a:latin typeface="Arial"/>
              </a:rPr>
              <a:t>内部通气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65C63"/>
                </a:solidFill>
                <a:latin typeface="Arial"/>
              </a:rPr>
              <a:t>支持与销售拿到演示和问答稿。</a:t>
            </a:r>
          </a:p>
        </p:txBody>
      </p:sp>
      <p:sp>
        <p:nvSpPr>
          <p:cNvPr id="12" name="Oval 11"/>
          <p:cNvSpPr/>
          <p:nvPr/>
        </p:nvSpPr>
        <p:spPr>
          <a:xfrm>
            <a:off x="4967313" y="3543299"/>
            <a:ext cx="173736" cy="173736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5037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60">
                <a:solidFill>
                  <a:srgbClr val="0F7B4F"/>
                </a:solidFill>
                <a:latin typeface="Arial"/>
              </a:rPr>
              <a:t>周三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5037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111417"/>
                </a:solidFill>
                <a:latin typeface="Arial"/>
              </a:rPr>
              <a:t>上线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65C63"/>
                </a:solidFill>
                <a:latin typeface="Arial"/>
              </a:rPr>
              <a:t>灰度先 10%，再全量。</a:t>
            </a:r>
          </a:p>
        </p:txBody>
      </p:sp>
      <p:sp>
        <p:nvSpPr>
          <p:cNvPr id="15" name="Oval 14"/>
          <p:cNvSpPr/>
          <p:nvPr/>
        </p:nvSpPr>
        <p:spPr>
          <a:xfrm>
            <a:off x="7069208" y="3543299"/>
            <a:ext cx="173736" cy="1737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8DB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46932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60">
                <a:solidFill>
                  <a:srgbClr val="565C63"/>
                </a:solidFill>
                <a:latin typeface="Arial"/>
              </a:rPr>
              <a:t>周四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6932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111417"/>
                </a:solidFill>
                <a:latin typeface="Arial"/>
              </a:rPr>
              <a:t>对外讲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65C63"/>
                </a:solidFill>
                <a:latin typeface="Arial"/>
              </a:rPr>
              <a:t>发文、发信，以及那两个必须打的电话。</a:t>
            </a:r>
          </a:p>
        </p:txBody>
      </p:sp>
      <p:sp>
        <p:nvSpPr>
          <p:cNvPr id="18" name="Oval 17"/>
          <p:cNvSpPr/>
          <p:nvPr/>
        </p:nvSpPr>
        <p:spPr>
          <a:xfrm>
            <a:off x="9171102" y="3543299"/>
            <a:ext cx="173736" cy="1737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8DB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48826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60">
                <a:solidFill>
                  <a:srgbClr val="565C63"/>
                </a:solidFill>
                <a:latin typeface="Arial"/>
              </a:rPr>
              <a:t>周五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8826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111417"/>
                </a:solidFill>
                <a:latin typeface="Arial"/>
              </a:rPr>
              <a:t>收反馈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65C63"/>
                </a:solidFill>
                <a:latin typeface="Arial"/>
              </a:rPr>
              <a:t>分诊、留出热修窗口，看第一波使用数据。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841248" y="850392"/>
            <a:ext cx="566928" cy="146304"/>
          </a:xfrm>
          <a:prstGeom prst="parallelogram">
            <a:avLst>
              <a:gd name="adj" fmla="val 50000"/>
            </a:avLst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20">
                <a:solidFill>
                  <a:srgbClr val="0F7B4F"/>
                </a:solidFill>
                <a:latin typeface="Arial"/>
              </a:rPr>
              <a:t>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 i="0" spc="-60">
                <a:solidFill>
                  <a:srgbClr val="111417"/>
                </a:solidFill>
                <a:latin typeface="Arial"/>
              </a:rPr>
              <a:t>谁负责什么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560320"/>
            <a:ext cx="10509473" cy="566928"/>
          </a:xfrm>
          <a:prstGeom prst="rect">
            <a:avLst/>
          </a:prstGeom>
          <a:solidFill>
            <a:srgbClr val="11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40">
                <a:solidFill>
                  <a:srgbClr val="FFFFFF"/>
                </a:solidFill>
                <a:latin typeface="Arial"/>
              </a:rPr>
              <a:t>工作项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0500" y="2560320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40">
                <a:solidFill>
                  <a:srgbClr val="FFFFFF"/>
                </a:solidFill>
                <a:latin typeface="Arial"/>
              </a:rPr>
              <a:t>负责人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2585" y="2560320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40">
                <a:solidFill>
                  <a:srgbClr val="FFFFFF"/>
                </a:solidFill>
                <a:latin typeface="Arial"/>
              </a:rPr>
              <a:t>截止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4669" y="2560320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40">
                <a:solidFill>
                  <a:srgbClr val="FFFFFF"/>
                </a:solidFill>
                <a:latin typeface="Arial"/>
              </a:rPr>
              <a:t>状态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127248"/>
            <a:ext cx="10509473" cy="566928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841248" y="3694176"/>
            <a:ext cx="10509473" cy="6350"/>
          </a:xfrm>
          <a:prstGeom prst="rect">
            <a:avLst/>
          </a:prstGeom>
          <a:solidFill>
            <a:srgbClr val="D8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97280" y="3127248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11417"/>
                </a:solidFill>
                <a:latin typeface="Arial"/>
              </a:rPr>
              <a:t>发布构建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0500" y="3127248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5C63"/>
                </a:solidFill>
                <a:latin typeface="Arial"/>
              </a:rPr>
              <a:t>研发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2585" y="3127248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5C63"/>
                </a:solidFill>
                <a:latin typeface="Arial"/>
              </a:rPr>
              <a:t>周一 09:00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94669" y="3127248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5C63"/>
                </a:solidFill>
                <a:latin typeface="Arial"/>
              </a:rPr>
              <a:t>已完成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4261104"/>
            <a:ext cx="10509473" cy="6350"/>
          </a:xfrm>
          <a:prstGeom prst="rect">
            <a:avLst/>
          </a:prstGeom>
          <a:solidFill>
            <a:srgbClr val="D8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97280" y="3694176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11417"/>
                </a:solidFill>
                <a:latin typeface="Arial"/>
              </a:rPr>
              <a:t>文档与问答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0500" y="3694176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5C63"/>
                </a:solidFill>
                <a:latin typeface="Arial"/>
              </a:rPr>
              <a:t>支持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2585" y="3694176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5C63"/>
                </a:solidFill>
                <a:latin typeface="Arial"/>
              </a:rPr>
              <a:t>周二 12:00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4669" y="3694176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5C63"/>
                </a:solidFill>
                <a:latin typeface="Arial"/>
              </a:rPr>
              <a:t>评审中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" y="4261104"/>
            <a:ext cx="10509473" cy="566928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41248" y="4828032"/>
            <a:ext cx="10509473" cy="6350"/>
          </a:xfrm>
          <a:prstGeom prst="rect">
            <a:avLst/>
          </a:prstGeom>
          <a:solidFill>
            <a:srgbClr val="D8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97280" y="4261104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11417"/>
                </a:solidFill>
                <a:latin typeface="Arial"/>
              </a:rPr>
              <a:t>对外公告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0500" y="4261104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5C63"/>
                </a:solidFill>
                <a:latin typeface="Arial"/>
              </a:rPr>
              <a:t>市场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2585" y="4261104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5C63"/>
                </a:solidFill>
                <a:latin typeface="Arial"/>
              </a:rPr>
              <a:t>周三 08:00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4669" y="4261104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5C63"/>
                </a:solidFill>
                <a:latin typeface="Arial"/>
              </a:rPr>
              <a:t>已起草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5394959"/>
            <a:ext cx="10509473" cy="6350"/>
          </a:xfrm>
          <a:prstGeom prst="rect">
            <a:avLst/>
          </a:prstGeom>
          <a:solidFill>
            <a:srgbClr val="D8D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97280" y="4828031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11417"/>
                </a:solidFill>
                <a:latin typeface="Arial"/>
              </a:rPr>
              <a:t>灰度开关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70500" y="4828031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5C63"/>
                </a:solidFill>
                <a:latin typeface="Arial"/>
              </a:rPr>
              <a:t>值班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2585" y="4828031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5C63"/>
                </a:solidFill>
                <a:latin typeface="Arial"/>
              </a:rPr>
              <a:t>周三 14:00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4669" y="4828031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5C63"/>
                </a:solidFill>
                <a:latin typeface="Arial"/>
              </a:rPr>
              <a:t>已排期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5650992"/>
            <a:ext cx="105094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65C63"/>
                </a:solidFill>
                <a:latin typeface="Arial"/>
              </a:rPr>
              <a:t>把表格换成你自己的数字。每一列只用一种单位。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841248" y="850392"/>
            <a:ext cx="566928" cy="146304"/>
          </a:xfrm>
          <a:prstGeom prst="parallelogram">
            <a:avLst>
              <a:gd name="adj" fmla="val 50000"/>
            </a:avLst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20">
                <a:solidFill>
                  <a:srgbClr val="0F7B4F"/>
                </a:solidFill>
                <a:latin typeface="Arial"/>
              </a:rPr>
              <a:t>论据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 i="0" spc="-60">
                <a:solidFill>
                  <a:srgbClr val="111417"/>
                </a:solidFill>
                <a:latin typeface="Arial"/>
              </a:rPr>
              <a:t>一张图，一个观点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560320"/>
            <a:ext cx="5464926" cy="2926080"/>
          </a:xfrm>
          <a:prstGeom prst="rect">
            <a:avLst/>
          </a:prstGeom>
          <a:solidFill>
            <a:srgbClr val="F2F3F4"/>
          </a:solidFill>
          <a:ln w="9525">
            <a:solidFill>
              <a:srgbClr val="D8DB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4229502" y="3321100"/>
            <a:ext cx="457200" cy="457200"/>
          </a:xfrm>
          <a:prstGeom prst="ellipse">
            <a:avLst/>
          </a:prstGeom>
          <a:solidFill>
            <a:srgbClr val="63A9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Triangle 6"/>
          <p:cNvSpPr/>
          <p:nvPr/>
        </p:nvSpPr>
        <p:spPr>
          <a:xfrm>
            <a:off x="1934233" y="3668572"/>
            <a:ext cx="1371600" cy="822960"/>
          </a:xfrm>
          <a:prstGeom prst="rtTriangle">
            <a:avLst/>
          </a:prstGeom>
          <a:solidFill>
            <a:srgbClr val="BCB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Triangle 7"/>
          <p:cNvSpPr/>
          <p:nvPr/>
        </p:nvSpPr>
        <p:spPr>
          <a:xfrm>
            <a:off x="3136517" y="3348532"/>
            <a:ext cx="1737360" cy="1143000"/>
          </a:xfrm>
          <a:prstGeom prst="rtTriangle">
            <a:avLst/>
          </a:prstGeom>
          <a:solidFill>
            <a:srgbClr val="949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15636" y="4491532"/>
            <a:ext cx="3716149" cy="12700"/>
          </a:xfrm>
          <a:prstGeom prst="rect">
            <a:avLst/>
          </a:prstGeom>
          <a:solidFill>
            <a:srgbClr val="7C7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8" y="4700016"/>
            <a:ext cx="54649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 spc="160">
                <a:solidFill>
                  <a:srgbClr val="565C63"/>
                </a:solidFill>
                <a:latin typeface="Arial"/>
              </a:rPr>
              <a:t>在此放入图片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37694" y="2560320"/>
            <a:ext cx="4313027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800" b="1" i="0">
                <a:solidFill>
                  <a:srgbClr val="111417"/>
                </a:solidFill>
                <a:latin typeface="Arial"/>
              </a:rPr>
              <a:t>先上演示</a:t>
            </a:r>
          </a:p>
          <a:p>
            <a:pPr>
              <a:lnSpc>
                <a:spcPct val="145000"/>
              </a:lnSpc>
              <a:spcAft>
                <a:spcPts val="1600"/>
              </a:spcAft>
            </a:pPr>
            <a:r>
              <a:rPr sz="1300" b="0" i="0">
                <a:solidFill>
                  <a:srgbClr val="565C63"/>
                </a:solidFill>
                <a:latin typeface="Arial"/>
              </a:rPr>
              <a:t>放一帧产品做新事情的画面。如果这个改动不好拍，就把改动前后并排放上，让差别自己说话。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37694" y="4617720"/>
            <a:ext cx="914400" cy="31750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037694" y="4864608"/>
            <a:ext cx="43130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565C63"/>
                </a:solidFill>
                <a:latin typeface="Arial"/>
              </a:rPr>
              <a:t>为图片写说明：它展示了什么，来源是哪里。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47104"/>
            <a:ext cx="12191969" cy="310896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286000"/>
            <a:ext cx="868067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8400" b="1" i="0">
                <a:solidFill>
                  <a:srgbClr val="0F7B4F"/>
                </a:solidFill>
                <a:latin typeface="Arial"/>
              </a:rPr>
              <a:t>03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700" b="1" i="0" spc="-60">
                <a:solidFill>
                  <a:srgbClr val="FFFFFF"/>
                </a:solidFill>
                <a:latin typeface="Arial"/>
              </a:rPr>
              <a:t>发布周</a:t>
            </a:r>
          </a:p>
          <a:p>
            <a:pPr>
              <a:lnSpc>
                <a:spcPct val="135000"/>
              </a:lnSpc>
            </a:pPr>
            <a:r>
              <a:rPr sz="1500" b="0" i="0">
                <a:solidFill>
                  <a:srgbClr val="FFFFFF"/>
                </a:solidFill>
                <a:latin typeface="Arial"/>
              </a:rPr>
              <a:t>按小时排，每一项都有名字。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15568" y="1463040"/>
            <a:ext cx="10972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400" b="1" i="0">
                <a:solidFill>
                  <a:srgbClr val="4B9C7B"/>
                </a:solidFill>
                <a:latin typeface="Arial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2697480"/>
            <a:ext cx="9046433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2200"/>
              </a:spcAft>
            </a:pPr>
            <a:r>
              <a:rPr sz="2900" b="0" i="0">
                <a:solidFill>
                  <a:srgbClr val="111417"/>
                </a:solidFill>
                <a:latin typeface="Arial"/>
              </a:rPr>
              <a:t>以前要点四次、还得提一个工单。现在一次，不用工单。</a:t>
            </a:r>
          </a:p>
          <a:p>
            <a:pPr>
              <a:lnSpc>
                <a:spcPct val="115000"/>
              </a:lnSpc>
            </a:pPr>
            <a:r>
              <a:rPr sz="1050" b="1" i="0" spc="180">
                <a:solidFill>
                  <a:srgbClr val="565C63"/>
                </a:solidFill>
                <a:latin typeface="Arial"/>
              </a:rPr>
              <a:t>内测客户 · 第三周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310896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331720"/>
            <a:ext cx="693625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5000" b="1" i="0" spc="-60">
                <a:solidFill>
                  <a:srgbClr val="FFFFFF"/>
                </a:solidFill>
                <a:latin typeface="Arial"/>
              </a:rPr>
              <a:t>发或不发</a:t>
            </a:r>
          </a:p>
          <a:p>
            <a:pPr>
              <a:lnSpc>
                <a:spcPct val="140000"/>
              </a:lnSpc>
            </a:pPr>
            <a:r>
              <a:rPr sz="1500" b="0" i="0">
                <a:solidFill>
                  <a:srgbClr val="FFFFFF"/>
                </a:solidFill>
                <a:latin typeface="Arial"/>
              </a:rPr>
              <a:t>说清你需要的决定、需要在什么时间之前拿到，以及谁点头。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5349240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 spc="200">
                <a:solidFill>
                  <a:srgbClr val="FFFFFF"/>
                </a:solidFill>
                <a:latin typeface="Arial"/>
              </a:rPr>
              <a:t>YOUR.NAME@EXAMPLE.COM · +86 000 0000 0000 · EXAMPLE.COM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5257800"/>
            <a:ext cx="1280160" cy="31750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11417"/>
      </a:dk1>
      <a:lt1>
        <a:srgbClr val="FFFFFF"/>
      </a:lt1>
      <a:dk2>
        <a:srgbClr val="111417"/>
      </a:dk2>
      <a:lt2>
        <a:srgbClr val="F2F3F4"/>
      </a:lt2>
      <a:accent1>
        <a:srgbClr val="0F7B4F"/>
      </a:accent1>
      <a:accent2>
        <a:srgbClr val="63A98D"/>
      </a:accent2>
      <a:accent3>
        <a:srgbClr val="111417"/>
      </a:accent3>
      <a:accent4>
        <a:srgbClr val="565C63"/>
      </a:accent4>
      <a:accent5>
        <a:srgbClr val="A0A1A2"/>
      </a:accent5>
      <a:accent6>
        <a:srgbClr val="D8DBDE"/>
      </a:accent6>
      <a:hlink>
        <a:srgbClr val="0F7B4F"/>
      </a:hlink>
      <a:folHlink>
        <a:srgbClr val="565C6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Kinetic — CubeOffice template</dc:title>
  <dc:subject>Product launch</dc:subject>
  <dc:creator>CubeOffice</dc:creator>
  <cp:keywords>CubeOffice, template, product launch, zh-CN</cp:keywords>
  <dc:description>CubeOffice 原创模板。可自由使用、修改和再分发，用于个人或商业用途，无需署名。</dc:description>
  <cp:lastModifiedBy>CubeOffice</cp:lastModifiedBy>
  <cp:revision>1</cp:revision>
  <dcterms:created xsi:type="dcterms:W3CDTF">2026-01-01T00:00:00Z</dcterms:created>
  <dcterms:modified xsi:type="dcterms:W3CDTF">2026-01-01T00:00:00Z</dcterms:modified>
  <cp:category>Product launch</cp:category>
</cp:coreProperties>
</file>